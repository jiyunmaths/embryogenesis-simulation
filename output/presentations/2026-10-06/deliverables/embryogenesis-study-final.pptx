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09ba2a69e004183" /><Relationship Type="http://schemas.openxmlformats.org/officeDocument/2006/relationships/extended-properties" Target="/docProps/app.xml" Id="R47bbcbb691904811" /><Relationship Type="http://schemas.openxmlformats.org/officeDocument/2006/relationships/officeDocument" Target="/ppt/presentation.xml" Id="Ra95cd5d77eea419e" /></Relationships>
</file>

<file path=ppt/presentation.xml><?xml version="1.0" encoding="utf-8"?>
<p:presentation xmlns:p="http://schemas.openxmlformats.org/presentationml/2006/main">
  <p:sldMasterIdLst>
    <p:sldMasterId xmlns:r="http://schemas.openxmlformats.org/officeDocument/2006/relationships" id="2147483648" r:id="R0d98813e2a994720"/>
  </p:sldMasterIdLst>
  <p:notesMasterIdLst>
    <p:notesMasterId xmlns:r="http://schemas.openxmlformats.org/officeDocument/2006/relationships" r:id="R74128dc3fc2643d2"/>
  </p:notesMasterIdLst>
  <p:sldIdLst>
    <p:sldId xmlns:r="http://schemas.openxmlformats.org/officeDocument/2006/relationships" id="256" r:id="R468429f57fe544c9"/>
    <p:sldId xmlns:r="http://schemas.openxmlformats.org/officeDocument/2006/relationships" id="257" r:id="R1d07e3e38d07441d"/>
    <p:sldId xmlns:r="http://schemas.openxmlformats.org/officeDocument/2006/relationships" id="258" r:id="R2e134451e14c4793"/>
    <p:sldId xmlns:r="http://schemas.openxmlformats.org/officeDocument/2006/relationships" id="259" r:id="R512bb8cecf3e45d3"/>
    <p:sldId xmlns:r="http://schemas.openxmlformats.org/officeDocument/2006/relationships" id="260" r:id="R76a38d7fc648483b"/>
    <p:sldId xmlns:r="http://schemas.openxmlformats.org/officeDocument/2006/relationships" id="261" r:id="Rb71e50be5c6942e1"/>
    <p:sldId xmlns:r="http://schemas.openxmlformats.org/officeDocument/2006/relationships" id="262" r:id="R8e91d69e4cfa42e0"/>
    <p:sldId xmlns:r="http://schemas.openxmlformats.org/officeDocument/2006/relationships" id="263" r:id="R9e0b4252e918400c"/>
    <p:sldId xmlns:r="http://schemas.openxmlformats.org/officeDocument/2006/relationships" id="264" r:id="R4bbebfcccbc04a51"/>
    <p:sldId xmlns:r="http://schemas.openxmlformats.org/officeDocument/2006/relationships" id="265" r:id="R78e4c61fd4aa4869"/>
    <p:sldId xmlns:r="http://schemas.openxmlformats.org/officeDocument/2006/relationships" id="266" r:id="R1011e5a52ebb4e3f"/>
    <p:sldId xmlns:r="http://schemas.openxmlformats.org/officeDocument/2006/relationships" id="267" r:id="Rf8de54fd2dd945e5"/>
    <p:sldId xmlns:r="http://schemas.openxmlformats.org/officeDocument/2006/relationships" id="268" r:id="R5216b2bd101448ba"/>
    <p:sldId xmlns:r="http://schemas.openxmlformats.org/officeDocument/2006/relationships" id="269" r:id="R813461cb628648f5"/>
    <p:sldId xmlns:r="http://schemas.openxmlformats.org/officeDocument/2006/relationships" id="270" r:id="Rfbc433861c4f4348"/>
    <p:sldId xmlns:r="http://schemas.openxmlformats.org/officeDocument/2006/relationships" id="271" r:id="Rca7ce567d1d54153"/>
    <p:sldId xmlns:r="http://schemas.openxmlformats.org/officeDocument/2006/relationships" id="272" r:id="R19711d82dfc84a1e"/>
    <p:sldId xmlns:r="http://schemas.openxmlformats.org/officeDocument/2006/relationships" id="273" r:id="R9c5e5c5e09504091"/>
    <p:sldId xmlns:r="http://schemas.openxmlformats.org/officeDocument/2006/relationships" id="274" r:id="R6cdde0ae4da043d2"/>
    <p:sldId xmlns:r="http://schemas.openxmlformats.org/officeDocument/2006/relationships" id="275" r:id="R1d31cc7334ca4185"/>
    <p:sldId xmlns:r="http://schemas.openxmlformats.org/officeDocument/2006/relationships" id="276" r:id="Rf0be4e77f5014098"/>
    <p:sldId xmlns:r="http://schemas.openxmlformats.org/officeDocument/2006/relationships" id="277" r:id="R84537e40262542bd"/>
    <p:sldId xmlns:r="http://schemas.openxmlformats.org/officeDocument/2006/relationships" id="278" r:id="Re28033a79b2b468c"/>
    <p:sldId xmlns:r="http://schemas.openxmlformats.org/officeDocument/2006/relationships" id="279" r:id="Rfb377d8b19c6403b"/>
    <p:sldId xmlns:r="http://schemas.openxmlformats.org/officeDocument/2006/relationships" id="280" r:id="R315e3146722f4528"/>
    <p:sldId xmlns:r="http://schemas.openxmlformats.org/officeDocument/2006/relationships" id="281" r:id="R171f3642569946c3"/>
    <p:sldId xmlns:r="http://schemas.openxmlformats.org/officeDocument/2006/relationships" id="282" r:id="R4746ba8056ec43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e59286f4e4453e" /><Relationship Type="http://schemas.openxmlformats.org/officeDocument/2006/relationships/slideMaster" Target="/ppt/slideMasters/slideMaster1.xml" Id="R0d98813e2a994720" /><Relationship Type="http://schemas.openxmlformats.org/officeDocument/2006/relationships/notesMaster" Target="/ppt/notesMasters/notesMaster1.xml" Id="R74128dc3fc2643d2" /><Relationship Type="http://schemas.openxmlformats.org/officeDocument/2006/relationships/presProps" Target="/ppt/presProps.xml" Id="R3577ef4e910e443a" /><Relationship Type="http://schemas.openxmlformats.org/officeDocument/2006/relationships/tableStyles" Target="/ppt/tableStyles.xml" Id="R1643250afef3487e" /><Relationship Type="http://schemas.openxmlformats.org/officeDocument/2006/relationships/slide" Target="/ppt/slides/slide1.xml" Id="R468429f57fe544c9" /><Relationship Type="http://schemas.openxmlformats.org/officeDocument/2006/relationships/slide" Target="/ppt/slides/slide2.xml" Id="R1d07e3e38d07441d" /><Relationship Type="http://schemas.openxmlformats.org/officeDocument/2006/relationships/slide" Target="/ppt/slides/slide3.xml" Id="R2e134451e14c4793" /><Relationship Type="http://schemas.openxmlformats.org/officeDocument/2006/relationships/slide" Target="/ppt/slides/slide4.xml" Id="R512bb8cecf3e45d3" /><Relationship Type="http://schemas.openxmlformats.org/officeDocument/2006/relationships/slide" Target="/ppt/slides/slide5.xml" Id="R76a38d7fc648483b" /><Relationship Type="http://schemas.openxmlformats.org/officeDocument/2006/relationships/slide" Target="/ppt/slides/slide6.xml" Id="Rb71e50be5c6942e1" /><Relationship Type="http://schemas.openxmlformats.org/officeDocument/2006/relationships/slide" Target="/ppt/slides/slide7.xml" Id="R8e91d69e4cfa42e0" /><Relationship Type="http://schemas.openxmlformats.org/officeDocument/2006/relationships/slide" Target="/ppt/slides/slide8.xml" Id="R9e0b4252e918400c" /><Relationship Type="http://schemas.openxmlformats.org/officeDocument/2006/relationships/slide" Target="/ppt/slides/slide9.xml" Id="R4bbebfcccbc04a51" /><Relationship Type="http://schemas.openxmlformats.org/officeDocument/2006/relationships/slide" Target="/ppt/slides/slide10.xml" Id="R78e4c61fd4aa4869" /><Relationship Type="http://schemas.openxmlformats.org/officeDocument/2006/relationships/slide" Target="/ppt/slides/slide11.xml" Id="R1011e5a52ebb4e3f" /><Relationship Type="http://schemas.openxmlformats.org/officeDocument/2006/relationships/slide" Target="/ppt/slides/slide12.xml" Id="Rf8de54fd2dd945e5" /><Relationship Type="http://schemas.openxmlformats.org/officeDocument/2006/relationships/slide" Target="/ppt/slides/slide13.xml" Id="R5216b2bd101448ba" /><Relationship Type="http://schemas.openxmlformats.org/officeDocument/2006/relationships/slide" Target="/ppt/slides/slide14.xml" Id="R813461cb628648f5" /><Relationship Type="http://schemas.openxmlformats.org/officeDocument/2006/relationships/slide" Target="/ppt/slides/slide15.xml" Id="Rfbc433861c4f4348" /><Relationship Type="http://schemas.openxmlformats.org/officeDocument/2006/relationships/slide" Target="/ppt/slides/slide16.xml" Id="Rca7ce567d1d54153" /><Relationship Type="http://schemas.openxmlformats.org/officeDocument/2006/relationships/slide" Target="/ppt/slides/slide17.xml" Id="R19711d82dfc84a1e" /><Relationship Type="http://schemas.openxmlformats.org/officeDocument/2006/relationships/slide" Target="/ppt/slides/slide18.xml" Id="R9c5e5c5e09504091" /><Relationship Type="http://schemas.openxmlformats.org/officeDocument/2006/relationships/slide" Target="/ppt/slides/slide19.xml" Id="R6cdde0ae4da043d2" /><Relationship Type="http://schemas.openxmlformats.org/officeDocument/2006/relationships/slide" Target="/ppt/slides/slide20.xml" Id="R1d31cc7334ca4185" /><Relationship Type="http://schemas.openxmlformats.org/officeDocument/2006/relationships/slide" Target="/ppt/slides/slide21.xml" Id="Rf0be4e77f5014098" /><Relationship Type="http://schemas.openxmlformats.org/officeDocument/2006/relationships/slide" Target="/ppt/slides/slide22.xml" Id="R84537e40262542bd" /><Relationship Type="http://schemas.openxmlformats.org/officeDocument/2006/relationships/slide" Target="/ppt/slides/slide23.xml" Id="Re28033a79b2b468c" /><Relationship Type="http://schemas.openxmlformats.org/officeDocument/2006/relationships/slide" Target="/ppt/slides/slide24.xml" Id="Rfb377d8b19c6403b" /><Relationship Type="http://schemas.openxmlformats.org/officeDocument/2006/relationships/slide" Target="/ppt/slides/slide25.xml" Id="R315e3146722f4528" /><Relationship Type="http://schemas.openxmlformats.org/officeDocument/2006/relationships/slide" Target="/ppt/slides/slide26.xml" Id="R171f3642569946c3" /><Relationship Type="http://schemas.openxmlformats.org/officeDocument/2006/relationships/slide" Target="/ppt/slides/slide27.xml" Id="R4746ba8056ec43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e94a87b3d54e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934099324840e0" /><Relationship Type="http://schemas.openxmlformats.org/officeDocument/2006/relationships/notesMaster" Target="/ppt/notesMasters/notesMaster1.xml" Id="R6e453b8713ab4a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7b93c25a674467" /><Relationship Type="http://schemas.openxmlformats.org/officeDocument/2006/relationships/notesMaster" Target="/ppt/notesMasters/notesMaster1.xml" Id="R726eefd6e1d449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afcd9589ef43e0" /><Relationship Type="http://schemas.openxmlformats.org/officeDocument/2006/relationships/notesMaster" Target="/ppt/notesMasters/notesMaster1.xml" Id="Rb127eb82713f4b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6aaa9e9892474b" /><Relationship Type="http://schemas.openxmlformats.org/officeDocument/2006/relationships/notesMaster" Target="/ppt/notesMasters/notesMaster1.xml" Id="Rc076ca67f0fe4f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3e28072f6b4200" /><Relationship Type="http://schemas.openxmlformats.org/officeDocument/2006/relationships/notesMaster" Target="/ppt/notesMasters/notesMaster1.xml" Id="Rc5da8a04d16f40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fccc4432f34339" /><Relationship Type="http://schemas.openxmlformats.org/officeDocument/2006/relationships/notesMaster" Target="/ppt/notesMasters/notesMaster1.xml" Id="R8378329434f740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1f0d3ef30542e5" /><Relationship Type="http://schemas.openxmlformats.org/officeDocument/2006/relationships/notesMaster" Target="/ppt/notesMasters/notesMaster1.xml" Id="Rf89c062d910c45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c43d3da4754964" /><Relationship Type="http://schemas.openxmlformats.org/officeDocument/2006/relationships/notesMaster" Target="/ppt/notesMasters/notesMaster1.xml" Id="R5803626518364f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6f07e96e0a4fdd" /><Relationship Type="http://schemas.openxmlformats.org/officeDocument/2006/relationships/notesMaster" Target="/ppt/notesMasters/notesMaster1.xml" Id="R630c822feea245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ee9f53d9374610" /><Relationship Type="http://schemas.openxmlformats.org/officeDocument/2006/relationships/notesMaster" Target="/ppt/notesMasters/notesMaster1.xml" Id="R04efba4f9e7d4d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47fa565ddd408c" /><Relationship Type="http://schemas.openxmlformats.org/officeDocument/2006/relationships/notesMaster" Target="/ppt/notesMasters/notesMaster1.xml" Id="R72246129b7cb45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c980fd20aa4ca6" /><Relationship Type="http://schemas.openxmlformats.org/officeDocument/2006/relationships/notesMaster" Target="/ppt/notesMasters/notesMaster1.xml" Id="Red8374a357c245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bc0e094d5d447b" /><Relationship Type="http://schemas.openxmlformats.org/officeDocument/2006/relationships/notesMaster" Target="/ppt/notesMasters/notesMaster1.xml" Id="R277532a43d7949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d56804263d49a0" /><Relationship Type="http://schemas.openxmlformats.org/officeDocument/2006/relationships/notesMaster" Target="/ppt/notesMasters/notesMaster1.xml" Id="R255479d74eeb48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5c78f97e8e4c3a" /><Relationship Type="http://schemas.openxmlformats.org/officeDocument/2006/relationships/notesMaster" Target="/ppt/notesMasters/notesMaster1.xml" Id="R1babafc3bda945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a690d82e2443a5" /><Relationship Type="http://schemas.openxmlformats.org/officeDocument/2006/relationships/notesMaster" Target="/ppt/notesMasters/notesMaster1.xml" Id="R02d92cf238be40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19a9bac1584895" /><Relationship Type="http://schemas.openxmlformats.org/officeDocument/2006/relationships/notesMaster" Target="/ppt/notesMasters/notesMaster1.xml" Id="Rc1b943c666034c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ede52b666e1440a" /><Relationship Type="http://schemas.openxmlformats.org/officeDocument/2006/relationships/notesMaster" Target="/ppt/notesMasters/notesMaster1.xml" Id="R85a51349b2ac42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1b2232f898a481d" /><Relationship Type="http://schemas.openxmlformats.org/officeDocument/2006/relationships/notesMaster" Target="/ppt/notesMasters/notesMaster1.xml" Id="Rf4b0acb0691d43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76984fa90947d3" /><Relationship Type="http://schemas.openxmlformats.org/officeDocument/2006/relationships/notesMaster" Target="/ppt/notesMasters/notesMaster1.xml" Id="Rd7ae87dbdfa24f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7806cd8dc740e2" /><Relationship Type="http://schemas.openxmlformats.org/officeDocument/2006/relationships/notesMaster" Target="/ppt/notesMasters/notesMaster1.xml" Id="Re4895de5198743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be2e77ce2d54548" /><Relationship Type="http://schemas.openxmlformats.org/officeDocument/2006/relationships/notesMaster" Target="/ppt/notesMasters/notesMaster1.xml" Id="R29f8f28ed09447d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ef7b4cbe11b4e87" /><Relationship Type="http://schemas.openxmlformats.org/officeDocument/2006/relationships/notesMaster" Target="/ppt/notesMasters/notesMaster1.xml" Id="R10e03dc1ff9f430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82e89863884d44" /><Relationship Type="http://schemas.openxmlformats.org/officeDocument/2006/relationships/notesMaster" Target="/ppt/notesMasters/notesMaster1.xml" Id="Rd0605da57c4f43e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c207f85a99c4fd2" /><Relationship Type="http://schemas.openxmlformats.org/officeDocument/2006/relationships/notesMaster" Target="/ppt/notesMasters/notesMaster1.xml" Id="R219d184b9346482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f21b5b8b64643d2" /><Relationship Type="http://schemas.openxmlformats.org/officeDocument/2006/relationships/notesMaster" Target="/ppt/notesMasters/notesMaster1.xml" Id="R1d0398878fd240d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6f73d8c350b4dea" /><Relationship Type="http://schemas.openxmlformats.org/officeDocument/2006/relationships/notesMaster" Target="/ppt/notesMasters/notesMaster1.xml" Id="Raf933e4c47b843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generic computational study asks how chemical feedback interacts with a developing cell aggregate. The cover uses AI-generated conceptual artwork. All quantitative results and the developmental cell surfaces inside the talk come from the project. The evidence snapshot is 2026-10-05 21:33 EDT (2026-10-06 01:33 UTC). No organism-specific calibration or proof of biological cell identity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Conductance-preserving controls restore initiation at both polarity contrasts in three existing histories. The matched evolving controls show polarity-specific suppression in history 9 only. Developed patterns survive in all ten completed maintenance paths. Two full histories are complete at both contrasts and timesteps. History 8 is complete only at zero contrast at this snapshot.</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 outputs/phase-carry-maintenance/protocol.json; original completed history/result files and pairs/*/full-refinement.json; endpoint/assay/result.json. Ten completed paths at the stated snapshot. Read-only review outputs/phase-carry-maintenance-review/2026-10-06T010106Z/assessment.json and closeout-status.json.</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mechanistic sufficiency of a generic model, rather than proving a universal origin of life or reproducing one species. A loss of chemical permutation symmetry differs from whole-aggregate geometric symmetry breaking.</a:t>
            </a:r>
          </a:p>
          <a:p xmlns:a="http://schemas.openxmlformats.org/drawingml/2006/main">
            <a:r>
              <a:t/>
            </a:r>
          </a:p>
          <a:p xmlns:a="http://schemas.openxmlformats.org/drawingml/2006/main">
            <a:r>
              <a:t>Sources: README.md; docs/results_ledger.md; manuscript/sections.md</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Gierer A, Meinhardt H (1972). A theory of biological pattern formation. Kybernetik 12, 30–39. https://doi.org/10.1007/BF00289234</a:t>
            </a:r>
          </a:p>
          <a:p xmlns:a="http://schemas.openxmlformats.org/drawingml/2006/main">
            <a:r>
              <a:t>Sekine R, Shibata T, Ebisuya M (2018). Synthetic mammalian pattern formation driven by differential diffusivity of Nodal and Lefty. Nature Communications 9, 5456. https://doi.org/10.1038/s41467-018-07847-x</a:t>
            </a:r>
          </a:p>
          <a:p xmlns:a="http://schemas.openxmlformats.org/drawingml/2006/main">
            <a:r>
              <a:t>Maître JL et al. (2016). Asymmetric division of contractile domains couples cell positioning and fate specification. Nature 536, 344–348. https://doi.org/10.1038/nature18958</a:t>
            </a:r>
          </a:p>
          <a:p xmlns:a="http://schemas.openxmlformats.org/drawingml/2006/main">
            <a:r>
              <a:t>These primary studies motivate asking whether chemical amplification can start, whether mechanics changes communication during that opportunity, and whether a developed state survives the resulting context. Nodal/Lefty and mouse contractility provide component-level evidence. They do not validate our exact Gierer–Meinhardt, phase-field and polarity constitutive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Chemical state is the continuous vector (a_i,b_i). A differentiated chemical state is a persistent difference, not a threshold-assigned lineage label. Polarity is a vector pointing toward a preferential exposed/apical surface, with magnitude for strength. Identity remains a proposed operational phenotype combining chemical and mechanical attributes with persistence, response and inheritance tests. The current simulator has no autonomous fate-memory switch.</a:t>
            </a:r>
          </a:p>
          <a:p xmlns:a="http://schemas.openxmlformats.org/drawingml/2006/main">
            <a:r>
              <a:t/>
            </a:r>
          </a:p>
          <a:p xmlns:a="http://schemas.openxmlformats.org/drawingml/2006/main">
            <a:r>
              <a:t>Sources: README.md definitions; manuscript/sections.md definitions; docs/attribute_development.md</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Reaction terms are R_a=a²/b−a and R_b=β(a²−b). The activator increases its own production and promotes inhibitor production. The inhibitor reduces activator production. The positive uniform equilibrium is a=b=1. Transport uses Δ_V and measured volumes. Negative concentration-dilution terms correspond to conservative mechanical amount conversion. β controls inhibitor reaction speed. The current controls use β=2, D_a=0.02 and D_b=0.55, ratio 27.5, rather than the general default D_b=0.4. All quantities are nondimensional and have no one-to-one mapped gene.</a:t>
            </a:r>
          </a:p>
          <a:p xmlns:a="http://schemas.openxmlformats.org/drawingml/2006/main">
            <a:r>
              <a:t/>
            </a:r>
          </a:p>
          <a:p xmlns:a="http://schemas.openxmlformats.org/drawingml/2006/main">
            <a:r>
              <a:t>Sources: README.md; embryo/attribute_development.py and embryo/signaling.py; Gierer &amp; Meinhardt (1972), https://doi.org/10.1007/BF00289234</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 is symmetric and nonnegative, K=diag(G1)−G, M=diag(V). Δ_V=−M⁻¹K. The exchange equation d(V_i c_i)/dt=V_i R_c+D_cΣ_jg_ij(c_j−c_i) makes the cancellation of pair fluxes explicit. Ahat_ij=6√2 W_ij/ε for planar-interface calibration, W_ij=∫φ_i(1−φ_i)φ_j(1−φ_j)dx, and ℓ_ij is centroid separation. Numerical diffusion with true finite-volume faces has second-order benchmark behavior. Phase-field overlap is an approximate geometric closure and has not passed all curved, gapped or skew-interface tests. The old random-walk chemical operator has refinement-dependent diffusivity and is no longer the live chemical transport method. Polarity orientation averaging remains a distinct constitutive rule.</a:t>
            </a:r>
          </a:p>
          <a:p xmlns:a="http://schemas.openxmlformats.org/drawingml/2006/main">
            <a:r>
              <a:t/>
            </a:r>
          </a:p>
          <a:p xmlns:a="http://schemas.openxmlformats.org/drawingml/2006/main">
            <a:r>
              <a:t>Sources: embryo/transport.py; README.md; docs/geometric_transport.md; docs/polarity_conductance_controls_assessment.md</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phase field φ_i is approximately one inside cell i and zero outside. V_i=∫h(φ_i)dV with h=φ²(3−2φ). The smooth interpolation avoids endpoint sensitivity. q=φ²(1−φ)² penalizes mixed interior/exterior values. The gradient term regularizes the transition into a finite-width boundary. Baseline energy sums surface energy, preferred-volume penalties, overlap repulsion and interface adhesion. Mechanical updates use local phase-field relaxation. Because coefficients, target volumes, division and chemistry are active, the full coupled process is not simply passive minimization of a fixed global energy. No measured embryo force calibration is claimed.</a:t>
            </a:r>
          </a:p>
          <a:p xmlns:a="http://schemas.openxmlformats.org/drawingml/2006/main">
            <a:r>
              <a:t/>
            </a:r>
          </a:p>
          <a:p xmlns:a="http://schemas.openxmlformats.org/drawingml/2006/main">
            <a:r>
              <a:t>Sources: README.md baseline energy; docs/model.md; embryo/attribute_development.py</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r_i=tanh(a_i−1), γ_i^0=γ0(1+cγ r_i), and A_ij=A0(1+cA r_i r_j). χ modulates γ_i(x)=γ_i^0[1−χ p_i·rhat_i(x)]. Tested cγ=0.25, cA=0.35, χ=0 or 0.35. Positive χ softens the apical side and stiffens the opposite side. The p dynamics integrate the free-cortex cue, graph orientation averaging and nonlinear damping, with chemistry modulating cue gain through 2a/(1+a). Setting χ=0 removes directional tension action but retains polarity dynamics and activity-dependent tension/adhesion. Thus this is not a total polarity deletion or removal of all mechanical feedback. The apical vector is local to a cell, not a global embryo axis.</a:t>
            </a:r>
          </a:p>
          <a:p xmlns:a="http://schemas.openxmlformats.org/drawingml/2006/main">
            <a:r>
              <a:t/>
            </a:r>
          </a:p>
          <a:p xmlns:a="http://schemas.openxmlformats.org/drawingml/2006/main">
            <a:r>
              <a:t>Sources: README.md polarity equations; embryo/attribute_development.py; docs/polarity_conductance_controls.md</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original figure’s 3D developmental panel is shown. It contains true phase-field surfaces from one paired developmental history. The top branch keeps material coefficients constant and the bottom includes full coupling with polarity. Hue is activator concentration, not a cell-fate label. This original-method zygote result is illustrative and remains pending full carry developmental and spatial qualification. It should not be counted as three carry histories or as proof of biological identity. Cropping changes presentation framing only.</a:t>
            </a:r>
          </a:p>
          <a:p xmlns:a="http://schemas.openxmlformats.org/drawingml/2006/main">
            <a:r>
              <a:t/>
            </a:r>
          </a:p>
          <a:p xmlns:a="http://schemas.openxmlformats.org/drawingml/2006/main">
            <a:r>
              <a:t>Sources: output/figures/emergent-chemical-states.png; output/figures/emergent-chemical-states-provenance.json; manuscript/visualize_emergent_states.py</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formation factorial crosses χ=0/0.35 and evolving/fixed conductances from near-uniform chemistry in histories 7,8,9, at Δt=0.00375 and 0.001875. Fixed transport keeps G(0) while M(t), geometry, polarity, concentration dilution and mechanical feedback continue to evolve. The new maintenance test starts with developed chemical states on corresponding mature geometries and retains evolving transport. Histories are existing developmental histories inherited from old-method preparation. Neither reused paths nor timesteps provide additional independent histories. Carry mechanics preserves small float32 phase-field updates in a float64 residual. GPU uses resident PyTorch arrays/matrix work and custom CUDA mechanics, geometry and polarity.</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 outputs/phase-carry-maintenance/protocol.json; original completed history/result files and pairs/*/full-refinement.json; endpoint/assay/result.json. Ten completed paths at the stated snapshot. Read-only review outputs/phase-carry-maintenance-review/2026-10-06T010106Z/assessment.json and closeout-status.json.</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Fine-timestep final S values are rounded for display. Formation requires S&gt;0.1 throughout elapsed 216–240, not just at the last observation. History 9 forms at χ=0 and fails at χ=0.35. Histories 7 and 8 fail at both contrasts, demonstrating a shared moving-context restriction that cannot be attributed specifically to χ from these comparisons. Both timesteps agree on these outcomes. This fraction describes the three tested histories, not a population estimate.</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 shows fine-timestep χ=0.35 fixed-conductance paths for histories 7,8,9 and history 9 evolving contacts for comparison. Each fixed path satisfies the final 216–240 window. The χ=0 fixed controls also form, with onset differences less than 0.02 model units from the χ=0.35 fixed branch. G(0) is held fixed but M(t) is current. No geometry freeze, removal of dilution or frozen reservoir is implied. Rescue supports a conductance-mediated contribution. It does not establish unique mediation or a general physical fixed-network closure.</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Snapshot spectra use eigenvalues of M^(-1/2)KM^(-1/2), with growth from J−λ diag(D_a,D_b), J=[[1,−1],[2β,−β]]. For β=2, D_a=0.02, D_b=0.55, the continuous unstable band is 4.3250286248&lt;λ&lt;42.0386077388. Only finite graph modes count. Evolving history 9 crosses zero at 136.96753153 with χ=0 and 46.20620713 with χ=0.35. Fixed branches retain two unstable spatial modes at each saved observation. Snapshot growth is about uniform chemistry on the chemical operator and is not a full stability calculation of the evolving coupled system.</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fine-level developed-start curves run from t=150 to390 with live conservative conductances, dilution, polarity and chemistry–mechanics coupling. All ten completed paths retain S&gt;0.1 at every saved observation, including all five completed full coarse/fine pairs. Histories 7/9 are complete at both contrasts. History 8 χ=0 is complete; χ=0.35 is pending at the snapshot, so do not claim fully completed 3/3 maintenance or 12/12 paths. Sampled no-loss does not prove indefinite persistence or absence of unsampled short fluctuations.</a:t>
            </a:r>
          </a:p>
          <a:p xmlns:a="http://schemas.openxmlformats.org/drawingml/2006/main">
            <a:r>
              <a:t/>
            </a:r>
          </a:p>
          <a:p xmlns:a="http://schemas.openxmlformats.org/drawingml/2006/main">
            <a:r>
              <a:t>Sources: outputs/phase-carry-maintenance/protocol.json; original completed history/result files and pairs/*/full-refinement.json; endpoint/assay/result.json. Ten completed paths at the stated snapshot. Read-only review outputs/phase-carry-maintenance-review/2026-10-06T010106Z/assessment.json and closeout-status.json.</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curves have the same mature starting mechanical context and χ=0.35, ratio27.5, mature duration240 and fine dt. Chemical initial conditions differ: near-uniform versus the developed reference state. Chemistry couples to mechanics, so subsequent geometries can diverge and this comparison alone is not bistability on one fixed geometry. The endpoint assay on a single frozen operator separately tests local uniform/patterned coexistence. Fine final S developed=1.5645418753451565 and near-uniform=1.3631665465767617e−8.</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 outputs/phase-carry-maintenance/protocol.json; original completed history/result files and pairs/*/full-refinement.json; endpoint/assay/result.json. Ten completed paths at the stated snapshot. Read-only review outputs/phase-carry-maintenance-review/2026-10-06T010106Z/assessment.json and closeout-status.json.</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history9 fine χ=0.35 developed-start endpoint. Frozen uniform Jacobian maximum real eigenvalue −0.2414823283. Pattern-control Jacobian maximum real eigenvalue −0.5884343950. DOP853 and Radau independently agree. Pattern control and two small patterned perturbations settle to a pattern with S≈1.5654464. Two near-uniform starts settle near(1,1). All ten completed endpoint assays support local coexistence at this snapshot. Finite sampled basin tests and chemical-only Jacobians on frozen geometry do not prove global bistability or stability of the full moving mechanochemical system.</a:t>
            </a:r>
          </a:p>
          <a:p xmlns:a="http://schemas.openxmlformats.org/drawingml/2006/main">
            <a:r>
              <a:t/>
            </a:r>
          </a:p>
          <a:p xmlns:a="http://schemas.openxmlformats.org/drawingml/2006/main">
            <a:r>
              <a:t>Sources: outputs/phase-carry-maintenance/protocol.json; original completed history/result files and pairs/*/full-refinement.json; endpoint/assay/result.json. Ten completed paths at the stated snapshot. Read-only review outputs/phase-carry-maintenance-review/2026-10-06T010106Z/assessment.json and closeout-status.json.</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Carry retains a float64 residual beneath visible float32 phase fields. It corrects update rounding rather than changing the target physical equations. The prior no-carry history9 formation refinement discrepancy was0.03750 and failed the unchanged0.01 criterion. Carry adjacent timestep errors were0.000410 and0.000205 with ratio1.998. The completed conductance controls have all12 full pairs passing with max0.000409631. All five completed new maintenance full pairs pass, maximum log concentration error1.444285939e−5 versus0.01. All numerical gates and physical checks remain as prespecified. First-order overall splitting, endpoint-independent DOP853/Radau checks and mature GPU validation do not substitute for full zygote spatial convergence or geometric conductance closure.</a:t>
            </a:r>
          </a:p>
          <a:p xmlns:a="http://schemas.openxmlformats.org/drawingml/2006/main">
            <a:r>
              <a:t/>
            </a:r>
          </a:p>
          <a:p xmlns:a="http://schemas.openxmlformats.org/drawingml/2006/main">
            <a:r>
              <a:t>Sources: docs/phase_carry_polarity_assessment.md; outputs/phase-carry-convergence; outputs/phase-carry-maintenance/implementation-verification.json; outputs/phase-carry-maintenance/protocol.json; original completed history/result files and pairs/*/full-refinement.json; endpoint/assay/result.json. Ten completed paths at the stated snapshot. Read-only review outputs/phase-carry-maintenance-review/2026-10-06T010106Z/assessment.json and closeout-status.json.</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reports qualitative observations from original-method moving paths or frozen assays with states inherited from those paths. They are pending carry revalidation and should not be pooled as qualified current carry identity claims. Exchanges showed reorganization and donor-nearer responses in the tested histories. Neighbor challenges changed responses. Isolation removed differences, whereas communicating contexts could support distinct states. These observations motivate network-supported context sensitivity, not autonomous fate identity. Repeated challenges are nested within histories. Do not carry old response amplitudes, onset times or the262-fold moving/frozen ratio forward without re-derivation.</a:t>
            </a:r>
          </a:p>
          <a:p xmlns:a="http://schemas.openxmlformats.org/drawingml/2006/main">
            <a:r>
              <a:t/>
            </a:r>
          </a:p>
          <a:p xmlns:a="http://schemas.openxmlformats.org/drawingml/2006/main">
            <a:r>
              <a:t>Sources: docs/results_ledger.md; manuscript/sections.md; earlier exchange, neighbor-context and isolation assessments</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qualified evidence concerns mature chemical initiation and maintenance. A general phase diagram, multiple independent developmental origins, fresh carry zygote development, oxygen/nutrient limitation, biological calibration and true inherited identity remain open. The study assumes sufficient nutrients and oxygen; cell growth/division do not depend on resource variables. Current accepted data do not demonstrate activator-inhibitor-caused global shape symmetry breaking, cavity formation or an identified mouse lineage mechanism.</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 outputs/phase-carry-maintenance/protocol.json; original completed history/result files and pairs/*/full-refinement.json; endpoint/assay/result.json. Ten completed paths at the stated snapshot. Read-only review outputs/phase-carry-maintenance-review/2026-10-06T010106Z/assessment.json and closeout-status.json. README.md assumptions and docs/results_ledger.md</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finish and review the history8 positive-contrast maintenance pair, keeping original gates. Then carry-revalidate state exchange and neighbor challenges on qualified developed states, prespecifying response similarity and amplitudes. Separate donor state from recipient communication context with matched starts, chemical/mass accounting and moving mechanics. Longer term test inheritance through division on a qualified development backend, spatial transport accuracy and robustness across genuinely independent histories. A wet-lab-inspired prediction is that preserving or restoring communication during a formation window could allow initiation, whereas an established state could be less sensitive to the same later mechanical intervention. This is a model prediction, not reported wet-lab confirmation.</a:t>
            </a:r>
          </a:p>
          <a:p xmlns:a="http://schemas.openxmlformats.org/drawingml/2006/main">
            <a:r>
              <a:t/>
            </a:r>
          </a:p>
          <a:p xmlns:a="http://schemas.openxmlformats.org/drawingml/2006/main">
            <a:r>
              <a:t>Sources: docs/plan.md; docs/phase_carry_maintenance.md; docs/results_ledger.md</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Concluding interpretation: polarity-dependent mechanical remodeling can restrict the chemical growth opportunity, with a conductance intervention supporting one causal contribution. Existing finite-amplitude chemical organization can remain after the instantaneous uniform growth opportunity closes. This conclusion is conditional on the tested parameters, three existing histories, mature prepared states and current numerical qualification. Cellular identity and whole-embryo shape causality remain future questions.</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 outputs/phase-carry-maintenance/protocol.json; original completed history/result files and pairs/*/full-refinement.json; endpoint/assay/result.json. Ten completed paths at the stated snapshot. Read-only review outputs/phase-carry-maintenance-review/2026-10-06T010106Z/assessment.json and closeout-status.json.</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baseline: E=Σ_i∫γ_i(x)[ε²/2|∇φ_i|²+q(φ_i)]dx +Σ_i K_V/(2V_i^target)(V_i−V_i^target)² +(R/2)Σ_(i&lt;j)∫φ_i²φ_j²dx −Σ_(i&lt;j)A_ij∫q(φ_i)q(φ_j)dx. During a mechanical update activity, polarity, target volumes and centroid fields are held as coefficients. The force includes ε²∇·(γ_i∇φ_i)−γ_i q′(φ_i) plus the volume/overlap/adhesion terms, retaining spatial γ gradients. ε sets diffuse interface scale, K_V volume stiffness, R overlap strength, A_ij contact attraction, γ_i interface tension and V_i^target growth/division target. Active feedback means the whole trajectory is not a fixed-energy gradient flow.</a:t>
            </a:r>
          </a:p>
          <a:p xmlns:a="http://schemas.openxmlformats.org/drawingml/2006/main">
            <a:r>
              <a:t/>
            </a:r>
          </a:p>
          <a:p xmlns:a="http://schemas.openxmlformats.org/drawingml/2006/main">
            <a:r>
              <a:t>Sources: README.md energy equations; docs/model.md; embryo/attribute_development.py</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volume-symmetrized graph to compute λ, since Δ_V itself is generally asymmetric under the Euclidean inner product. Uniform kinetics are stable for β2. Modal growth is the largest real eigenvalue of J−λD, with λ≥0. For β2 and ratio27.5 the unstable band is(4.3250,42.0386). Increasing cell count or mechanically changing contact capacities can move discrete modes across this band. The nonautonomous time dependence requires additional analysis beyond snapshot eigenvalues. This slide gives the diagnostic, not a proof of full moving-system stability.</a:t>
            </a:r>
          </a:p>
          <a:p xmlns:a="http://schemas.openxmlformats.org/drawingml/2006/main">
            <a:r>
              <a:t/>
            </a:r>
          </a:p>
          <a:p xmlns:a="http://schemas.openxmlformats.org/drawingml/2006/main">
            <a:r>
              <a:t>Sources: docs/polarity_conductance_controls_assessment.md; outputs/polarity-conductance-controls/protocol.json and summary.json; outputs/polarity-conductance-controls-review/2026-10-05T170941Z/assessment.json. Source hashes and plotted data are preserved in the private presentation data snapshot. Nakao H, Mikhailov AS (2010). Turing patterns in network-organized activator-inhibitor systems. Nature Physics6,544–550. https://doi.org/10.1038/nphys1651; https://arxiv.org/abs/1005.1986</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begins with one phase-field cell on CPU. Division normals follow the longest resolved cell axis, with appropriate safeguards for nearly degenerate axes. Progressive equatorial constriction precedes mechanically gated abscission. Occupancy and chemical amount partitioning account for daughter volumes. The cleavage sequence has no growth between divisions and does not depend on nutrient limitation. The mature GPU backend keeps PyTorch arrays and chemical matrix operations resident and uses custom CUDA for mechanics and spatial geometry/polarity. Field products may be float32; chemistry, transport, force and geometry accumulation use float64. Carry stores a float64 phase residual. The chemistry integrator is SSPRK2 with positive substeps on a frozen graph. Overall mechanics–chemistry splitting remains first order. GPU development/division is not scientifically qualified.</a:t>
            </a:r>
          </a:p>
          <a:p xmlns:a="http://schemas.openxmlformats.org/drawingml/2006/main">
            <a:r>
              <a:t/>
            </a:r>
          </a:p>
          <a:p xmlns:a="http://schemas.openxmlformats.org/drawingml/2006/main">
            <a:r>
              <a:t>Sources: README.md; docs/cytokinesis.md; docs/model.md#resident-gpu-backend-validation; embryo/model.py; embryo/attribute_development.py</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Sekine R, Shibata T, Ebisuya M (2018). Synthetic mammalian pattern formation driven by differential diffusivity of Nodal and Lefty. Nature Communications9,5456. https://doi.org/10.1038/s41467-018-07847-x</a:t>
            </a:r>
          </a:p>
          <a:p xmlns:a="http://schemas.openxmlformats.org/drawingml/2006/main">
            <a:r>
              <a:t>[2] Maître JL et al. (2016). Asymmetric division of contractile domains couples cell positioning and fate specification. Nature536,344–348. https://doi.org/10.1038/nature18958</a:t>
            </a:r>
          </a:p>
          <a:p xmlns:a="http://schemas.openxmlformats.org/drawingml/2006/main">
            <a:r>
              <a:t>[3] Korotkevich E et al. (2017). The Apical Domain Is Required and Sufficient for the First Lineage Segregation in the Mouse Embryo. Developmental Cell40,235–247.e7. https://doi.org/10.1016/j.devcel.2017.01.006</a:t>
            </a:r>
          </a:p>
          <a:p xmlns:a="http://schemas.openxmlformats.org/drawingml/2006/main">
            <a:r>
              <a:t>Turing AM (1952). The chemical basis of morphogenesis. https://doi.org/10.1098/rstb.1952.0012</a:t>
            </a:r>
          </a:p>
          <a:p xmlns:a="http://schemas.openxmlformats.org/drawingml/2006/main">
            <a:r>
              <a:t>Gierer A, Meinhardt H (1972). A theory of biological pattern formation. https://doi.org/10.1007/BF00289234</a:t>
            </a:r>
          </a:p>
          <a:p xmlns:a="http://schemas.openxmlformats.org/drawingml/2006/main">
            <a:r>
              <a:t>Nakao H, Mikhailov AS (2010). Turing patterns in network-organized activator-inhibitor systems. https://doi.org/10.1038/nphys1651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Carry conductance protocol SHA-256 bc6b748601c96c357c47d12a6a77912fd0613b4b7eb3f448505bb7d8e1899934. Maintenance protocol SHA-2563a293494c46c6fbe12a540c9ce2109c3c1f488494206af0fbbe0c836975db573. The presentation captures10 maintenance paths only. Current deck data verifies62 referenced original files by SHA-256, recomputes log-activator SD and every saved plotted trajectory spectrum, and preserves exact data in embedded native chart workbook snapshots. Different panels may represent numerical paths nested within one of the three developmental histories. Repository and original scientific records are unchanged by presentation generation.</a:t>
            </a:r>
          </a:p>
          <a:p xmlns:a="http://schemas.openxmlformats.org/drawingml/2006/main">
            <a:r>
              <a:t/>
            </a:r>
          </a:p>
          <a:p xmlns:a="http://schemas.openxmlformats.org/drawingml/2006/main">
            <a:r>
              <a:t>Sources: README.md; docs/results_ledger.md; docs/polarity_conductance_controls_assessment.md; docs/moving_initiation_controls_assessment.md; docs/phase_carry_maintenance.md; outputs/phase-carry-maintenance-review/2026-10-06T010106Z/assessment.json</a:t>
            </a:r>
          </a:p>
          <a:p xmlns:a="http://schemas.openxmlformats.org/drawingml/2006/main">
            <a:r>
              <a:t>Evidence snapshot: 2026-10-05 21:33 EDT (2026-10-06 01:33 UTC). Quantitative plots sample saved observations every 3 model units and round chart coordinates to 12 significant digits for spreadsheet compatibility. Statistics use the unrounded data. Study-level inference uses developmental histories, not the nested paths as independent 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b1e05b2ff243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c34972f38e4585" /><Relationship Type="http://schemas.openxmlformats.org/officeDocument/2006/relationships/slideLayout" Target="/ppt/slideLayouts/slideLayout1.xml" Id="Re23ecec604b54a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3ecec604b54a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5cc53431f44403" /><Relationship Type="http://schemas.openxmlformats.org/officeDocument/2006/relationships/image" Target="/ppt/media/image.png" Id="Re43bab6cf1544d60" /><Relationship Type="http://schemas.openxmlformats.org/officeDocument/2006/relationships/notesSlide" Target="/ppt/notesSlides/notesSlide1.xml" Id="Rff966a3d42fd41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6b9e1ab47f4a72" /><Relationship Type="http://schemas.openxmlformats.org/officeDocument/2006/relationships/notesSlide" Target="/ppt/notesSlides/notesSlide2.xml" Id="R23fa3884c1fd48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1789ac61234d76" /><Relationship Type="http://schemas.openxmlformats.org/officeDocument/2006/relationships/notesSlide" Target="/ppt/notesSlides/notesSlide3.xml" Id="Rde15b876ee204b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061e5fae0e4f8a" /><Relationship Type="http://schemas.openxmlformats.org/officeDocument/2006/relationships/notesSlide" Target="/ppt/notesSlides/notesSlide4.xml" Id="Rad727fbad00d4f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8e491975c24bbc" /><Relationship Type="http://schemas.openxmlformats.org/officeDocument/2006/relationships/notesSlide" Target="/ppt/notesSlides/notesSlide5.xml" Id="Rdd35b8027c5e4b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3a6c6384ac4f8d" /><Relationship Type="http://schemas.openxmlformats.org/officeDocument/2006/relationships/notesSlide" Target="/ppt/notesSlides/notesSlide6.xml" Id="R304045670cac4c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58b3f234bd4e51" /><Relationship Type="http://schemas.openxmlformats.org/officeDocument/2006/relationships/notesSlide" Target="/ppt/notesSlides/notesSlide7.xml" Id="R82f133fc87a247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207e10fbe7483a" /><Relationship Type="http://schemas.openxmlformats.org/officeDocument/2006/relationships/notesSlide" Target="/ppt/notesSlides/notesSlide8.xml" Id="R351b3f4ef82240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4820c4ddeb41f2" /><Relationship Type="http://schemas.openxmlformats.org/officeDocument/2006/relationships/notesSlide" Target="/ppt/notesSlides/notesSlide9.xml" Id="Rdc13583e368843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85ee692e1a4032" /><Relationship Type="http://schemas.openxmlformats.org/officeDocument/2006/relationships/image" Target="/ppt/media/image2.png" Id="R0f489efa767f4ab6" /><Relationship Type="http://schemas.openxmlformats.org/officeDocument/2006/relationships/notesSlide" Target="/ppt/notesSlides/notesSlide10.xml" Id="R9c0ca639cb4a4d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882444211a40cb" /><Relationship Type="http://schemas.openxmlformats.org/officeDocument/2006/relationships/notesSlide" Target="/ppt/notesSlides/notesSlide11.xml" Id="R39f56be433944d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3d809cc4d144195" /><Relationship Type="http://schemas.openxmlformats.org/officeDocument/2006/relationships/notesSlide" Target="/ppt/notesSlides/notesSlide12.xml" Id="R89736f1c1d0f4a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d9ab1c3b6584c7f" /><Relationship Type="http://schemas.openxmlformats.org/officeDocument/2006/relationships/chart" Target="/ppt/slides/charts/chart1.xml" Id="R037c13e829ab40d6" /><Relationship Type="http://schemas.openxmlformats.org/officeDocument/2006/relationships/notesSlide" Target="/ppt/notesSlides/notesSlide13.xml" Id="R6bf73274c6b046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e1fbc75d074600" /><Relationship Type="http://schemas.openxmlformats.org/officeDocument/2006/relationships/chart" Target="/ppt/slides/charts/chart2.xml" Id="Rbd6370c0b0574790" /><Relationship Type="http://schemas.openxmlformats.org/officeDocument/2006/relationships/notesSlide" Target="/ppt/notesSlides/notesSlide14.xml" Id="Refdb3f314b6943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edf8fee0f84425" /><Relationship Type="http://schemas.openxmlformats.org/officeDocument/2006/relationships/chart" Target="/ppt/slides/charts/chart3.xml" Id="R9f54aa2de94543da" /><Relationship Type="http://schemas.openxmlformats.org/officeDocument/2006/relationships/notesSlide" Target="/ppt/notesSlides/notesSlide15.xml" Id="R279e9d98351a48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5e18c261e84cf5" /><Relationship Type="http://schemas.openxmlformats.org/officeDocument/2006/relationships/chart" Target="/ppt/slides/charts/chart4.xml" Id="R8f4dc1cfed1e46cd" /><Relationship Type="http://schemas.openxmlformats.org/officeDocument/2006/relationships/notesSlide" Target="/ppt/notesSlides/notesSlide16.xml" Id="R94be3947ecb04c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a12f75ae3e14a85" /><Relationship Type="http://schemas.openxmlformats.org/officeDocument/2006/relationships/notesSlide" Target="/ppt/notesSlides/notesSlide17.xml" Id="R0ef9b2a96a8845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4e2bd9714784caa" /><Relationship Type="http://schemas.openxmlformats.org/officeDocument/2006/relationships/notesSlide" Target="/ppt/notesSlides/notesSlide18.xml" Id="R6918ebdb2be642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5758f39a41340ec" /><Relationship Type="http://schemas.openxmlformats.org/officeDocument/2006/relationships/notesSlide" Target="/ppt/notesSlides/notesSlide19.xml" Id="R01788af2bbbf49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1f125441a954dbc" /><Relationship Type="http://schemas.openxmlformats.org/officeDocument/2006/relationships/notesSlide" Target="/ppt/notesSlides/notesSlide20.xml" Id="Ref26ad469d2d43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f617fc5711d4138" /><Relationship Type="http://schemas.openxmlformats.org/officeDocument/2006/relationships/notesSlide" Target="/ppt/notesSlides/notesSlide21.xml" Id="R461d3c95b07947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a8c270f158640d7" /><Relationship Type="http://schemas.openxmlformats.org/officeDocument/2006/relationships/notesSlide" Target="/ppt/notesSlides/notesSlide22.xml" Id="R10083dba495c432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edd507fe29b477a" /><Relationship Type="http://schemas.openxmlformats.org/officeDocument/2006/relationships/notesSlide" Target="/ppt/notesSlides/notesSlide23.xml" Id="R1ce3e945c1f74bc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2c47502b8444c8a" /><Relationship Type="http://schemas.openxmlformats.org/officeDocument/2006/relationships/notesSlide" Target="/ppt/notesSlides/notesSlide24.xml" Id="R2334aa80323e4f7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d8affafa6134a52" /><Relationship Type="http://schemas.openxmlformats.org/officeDocument/2006/relationships/notesSlide" Target="/ppt/notesSlides/notesSlide25.xml" Id="Rf2d8f6dae2a5426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5625c820e12415f" /><Relationship Type="http://schemas.openxmlformats.org/officeDocument/2006/relationships/notesSlide" Target="/ppt/notesSlides/notesSlide26.xml" Id="Rc8d0f8e0f8524b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227f3bfbd224440" /><Relationship Type="http://schemas.openxmlformats.org/officeDocument/2006/relationships/notesSlide" Target="/ppt/notesSlides/notesSlide27.xml" Id="R58249827b8be4fb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0">
                <a:solidFill>
                  <a:srgbClr val="172D3C"/>
                </a:solidFill>
                <a:latin typeface="DejaVu Sans"/>
                <a:ea typeface="DejaVu Sans"/>
                <a:cs typeface="DejaVu Sans"/>
              </a:rPr>
              <a:t>Chemical contrast with preserved exchange capacities</a:t>
            </a:r>
          </a:p>
        </c:rich>
      </c:tx>
      <c:overlay val="0"/>
      <c:txPr>
        <a:bodyPr xmlns:a="http://schemas.openxmlformats.org/drawingml/2006/main" anchorCtr="1"/>
        <a:lstStyle xmlns:a="http://schemas.openxmlformats.org/drawingml/2006/main"/>
        <a:p xmlns:a="http://schemas.openxmlformats.org/drawingml/2006/main">
          <a:pPr>
            <a:defRPr sz="2025" b="0">
              <a:solidFill>
                <a:srgbClr val="172D3C"/>
              </a:solidFill>
              <a:latin typeface="DejaVu Sans"/>
              <a:ea typeface="DejaVu Sans"/>
              <a:cs typeface="DejaVu Sans"/>
            </a:defRPr>
          </a:pPr>
        </a:p>
      </c:txPr>
    </c:title>
    <c:plotArea>
      <c:scatterChart>
        <c:scatterStyle val="line"/>
        <c:ser>
          <c:idx val="0"/>
          <c:order val="0"/>
          <c:tx>
            <c:v>Fixed G, history 7</c:v>
          </c:tx>
          <c:spPr>
            <a:ln xmlns:a="http://schemas.openxmlformats.org/drawingml/2006/main" w="28575">
              <a:solidFill>
                <a:srgbClr val="007F86"/>
              </a:solidFill>
              <a:prstDash val="solid"/>
            </a:ln>
          </c:spPr>
          <c:marker>
            <c:symbol val="none"/>
          </c:marker>
          <c:xVal>
            <c:numRef>
              <c:f>'Chart Data'!$A$2:$A$82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Data'!$B$2:$B$82</c:f>
              <c:numCache>
                <c:formatCode>0.000000</c:formatCode>
                <c:ptCount val="81"/>
                <c:pt idx="0">
                  <c:v>0.000622077818716</c:v>
                </c:pt>
                <c:pt idx="1">
                  <c:v>0.00118433421734</c:v>
                </c:pt>
                <c:pt idx="2">
                  <c:v>0.00128099044533</c:v>
                </c:pt>
                <c:pt idx="3">
                  <c:v>0.00141072972769</c:v>
                </c:pt>
                <c:pt idx="4">
                  <c:v>0.00155992404929</c:v>
                </c:pt>
                <c:pt idx="5">
                  <c:v>0.00172937487479</c:v>
                </c:pt>
                <c:pt idx="6">
                  <c:v>0.00192053795892</c:v>
                </c:pt>
                <c:pt idx="7">
                  <c:v>0.00213530235348</c:v>
                </c:pt>
                <c:pt idx="8">
                  <c:v>0.00237595263275</c:v>
                </c:pt>
                <c:pt idx="9">
                  <c:v>0.00264515624502</c:v>
                </c:pt>
                <c:pt idx="10">
                  <c:v>0.0029459752936</c:v>
                </c:pt>
                <c:pt idx="11">
                  <c:v>0.00328188370618</c:v>
                </c:pt>
                <c:pt idx="12">
                  <c:v>0.00365680424293</c:v>
                </c:pt>
                <c:pt idx="13">
                  <c:v>0.00407514849247</c:v>
                </c:pt>
                <c:pt idx="14">
                  <c:v>0.00454186417796</c:v>
                </c:pt>
                <c:pt idx="15">
                  <c:v>0.00506250025732</c:v>
                </c:pt>
                <c:pt idx="16">
                  <c:v>0.00564327848103</c:v>
                </c:pt>
                <c:pt idx="17">
                  <c:v>0.00629117012295</c:v>
                </c:pt>
                <c:pt idx="18">
                  <c:v>0.00701400281702</c:v>
                </c:pt>
                <c:pt idx="19">
                  <c:v>0.00782056780463</c:v>
                </c:pt>
                <c:pt idx="20">
                  <c:v>0.00872075907733</c:v>
                </c:pt>
                <c:pt idx="21">
                  <c:v>0.0097257351942</c:v>
                </c:pt>
                <c:pt idx="22">
                  <c:v>0.0108481122815</c:v>
                </c:pt>
                <c:pt idx="23">
                  <c:v>0.0121022071374</c:v>
                </c:pt>
                <c:pt idx="24">
                  <c:v>0.0135043284968</c:v>
                </c:pt>
                <c:pt idx="25">
                  <c:v>0.015073155219</c:v>
                </c:pt>
                <c:pt idx="26">
                  <c:v>0.0168302116903</c:v>
                </c:pt>
                <c:pt idx="27">
                  <c:v>0.0188004859895</c:v>
                </c:pt>
                <c:pt idx="28">
                  <c:v>0.021013249881</c:v>
                </c:pt>
                <c:pt idx="29">
                  <c:v>0.0235031639399</c:v>
                </c:pt>
                <c:pt idx="30">
                  <c:v>0.0263117901752</c:v>
                </c:pt>
                <c:pt idx="31">
                  <c:v>0.0294897157275</c:v>
                </c:pt>
                <c:pt idx="32">
                  <c:v>0.0330995891283</c:v>
                </c:pt>
                <c:pt idx="33">
                  <c:v>0.0372205749347</c:v>
                </c:pt>
                <c:pt idx="34">
                  <c:v>0.0419550675487</c:v>
                </c:pt>
                <c:pt idx="35">
                  <c:v>0.0474391390595</c:v>
                </c:pt>
                <c:pt idx="36">
                  <c:v>0.0538593848369</c:v>
                </c:pt>
                <c:pt idx="37">
                  <c:v>0.0614813304962</c:v>
                </c:pt>
                <c:pt idx="38">
                  <c:v>0.070699893027</c:v>
                </c:pt>
                <c:pt idx="39">
                  <c:v>0.0821350391162</c:v>
                </c:pt>
                <c:pt idx="40">
                  <c:v>0.096828508569</c:v>
                </c:pt>
                <c:pt idx="41">
                  <c:v>0.116692732481</c:v>
                </c:pt>
                <c:pt idx="42">
                  <c:v>0.145684876551</c:v>
                </c:pt>
                <c:pt idx="43">
                  <c:v>0.193476661314</c:v>
                </c:pt>
                <c:pt idx="44">
                  <c:v>0.289385670379</c:v>
                </c:pt>
                <c:pt idx="45">
                  <c:v>0.523885566556</c:v>
                </c:pt>
                <c:pt idx="46">
                  <c:v>0.90921997308</c:v>
                </c:pt>
                <c:pt idx="47">
                  <c:v>1.13523725189</c:v>
                </c:pt>
                <c:pt idx="48">
                  <c:v>1.18067071234</c:v>
                </c:pt>
                <c:pt idx="49">
                  <c:v>1.18567316949</c:v>
                </c:pt>
                <c:pt idx="50">
                  <c:v>1.18612631222</c:v>
                </c:pt>
                <c:pt idx="51">
                  <c:v>1.18612369582</c:v>
                </c:pt>
                <c:pt idx="52">
                  <c:v>1.18607425354</c:v>
                </c:pt>
                <c:pt idx="53">
                  <c:v>1.18601835455</c:v>
                </c:pt>
                <c:pt idx="54">
                  <c:v>1.18595997278</c:v>
                </c:pt>
                <c:pt idx="55">
                  <c:v>1.18589943768</c:v>
                </c:pt>
                <c:pt idx="56">
                  <c:v>1.18583663323</c:v>
                </c:pt>
                <c:pt idx="57">
                  <c:v>1.18577131845</c:v>
                </c:pt>
                <c:pt idx="58">
                  <c:v>1.18570315815</c:v>
                </c:pt>
                <c:pt idx="59">
                  <c:v>1.18563171146</c:v>
                </c:pt>
                <c:pt idx="60">
                  <c:v>1.18555642201</c:v>
                </c:pt>
                <c:pt idx="61">
                  <c:v>1.18547659252</c:v>
                </c:pt>
                <c:pt idx="62">
                  <c:v>1.18539135168</c:v>
                </c:pt>
                <c:pt idx="63">
                  <c:v>1.18529960897</c:v>
                </c:pt>
                <c:pt idx="64">
                  <c:v>1.18519998407</c:v>
                </c:pt>
                <c:pt idx="65">
                  <c:v>1.18509071182</c:v>
                </c:pt>
                <c:pt idx="66">
                  <c:v>1.18496949999</c:v>
                </c:pt>
                <c:pt idx="67">
                  <c:v>1.1848333317</c:v>
                </c:pt>
                <c:pt idx="68">
                  <c:v>1.18467814487</c:v>
                </c:pt>
                <c:pt idx="69">
                  <c:v>1.18449836636</c:v>
                </c:pt>
                <c:pt idx="70">
                  <c:v>1.18428616942</c:v>
                </c:pt>
                <c:pt idx="71">
                  <c:v>1.18403029345</c:v>
                </c:pt>
                <c:pt idx="72">
                  <c:v>1.1837141893</c:v>
                </c:pt>
                <c:pt idx="73">
                  <c:v>1.18331335232</c:v>
                </c:pt>
                <c:pt idx="74">
                  <c:v>1.1827931254</c:v>
                </c:pt>
                <c:pt idx="75">
                  <c:v>1.18211924189</c:v>
                </c:pt>
                <c:pt idx="76">
                  <c:v>1.18138002979</c:v>
                </c:pt>
                <c:pt idx="77">
                  <c:v>1.18197543037</c:v>
                </c:pt>
                <c:pt idx="78">
                  <c:v>1.19882359029</c:v>
                </c:pt>
                <c:pt idx="79">
                  <c:v>1.28659319669</c:v>
                </c:pt>
                <c:pt idx="80">
                  <c:v>1.37388210746</c:v>
                </c:pt>
              </c:numCache>
            </c:numRef>
          </c:yVal>
        </c:ser>
        <c:ser>
          <c:idx val="1"/>
          <c:order val="1"/>
          <c:tx>
            <c:v>Fixed G, history 8</c:v>
          </c:tx>
          <c:spPr>
            <a:ln xmlns:a="http://schemas.openxmlformats.org/drawingml/2006/main" w="28575">
              <a:solidFill>
                <a:srgbClr val="3258A2"/>
              </a:solidFill>
              <a:prstDash val="solid"/>
            </a:ln>
          </c:spPr>
          <c:marker>
            <c:symbol val="none"/>
          </c:marker>
          <c:xVal>
            <c:numRef>
              <c:f>'Chart Data'!$C$2:$C$82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Data'!$D$2:$D$82</c:f>
              <c:numCache>
                <c:formatCode>0.000000</c:formatCode>
                <c:ptCount val="81"/>
                <c:pt idx="0">
                  <c:v>0.00114270218093</c:v>
                </c:pt>
                <c:pt idx="1">
                  <c:v>0.0010081942446</c:v>
                </c:pt>
                <c:pt idx="2">
                  <c:v>0.00101353674554</c:v>
                </c:pt>
                <c:pt idx="3">
                  <c:v>0.0010783328372</c:v>
                </c:pt>
                <c:pt idx="4">
                  <c:v>0.00116154921501</c:v>
                </c:pt>
                <c:pt idx="5">
                  <c:v>0.00125975775939</c:v>
                </c:pt>
                <c:pt idx="6">
                  <c:v>0.00137271490273</c:v>
                </c:pt>
                <c:pt idx="7">
                  <c:v>0.00150101853141</c:v>
                </c:pt>
                <c:pt idx="8">
                  <c:v>0.00164570170347</c:v>
                </c:pt>
                <c:pt idx="9">
                  <c:v>0.0018081235002</c:v>
                </c:pt>
                <c:pt idx="10">
                  <c:v>0.0019899387042</c:v>
                </c:pt>
                <c:pt idx="11">
                  <c:v>0.00219308289313</c:v>
                </c:pt>
                <c:pt idx="12">
                  <c:v>0.00241977336926</c:v>
                </c:pt>
                <c:pt idx="13">
                  <c:v>0.00267252498936</c:v>
                </c:pt>
                <c:pt idx="14">
                  <c:v>0.00295417159633</c:v>
                </c:pt>
                <c:pt idx="15">
                  <c:v>0.00326788994999</c:v>
                </c:pt>
                <c:pt idx="16">
                  <c:v>0.00361724844179</c:v>
                </c:pt>
                <c:pt idx="17">
                  <c:v>0.00400623879841</c:v>
                </c:pt>
                <c:pt idx="18">
                  <c:v>0.00443933505683</c:v>
                </c:pt>
                <c:pt idx="19">
                  <c:v>0.0049215550158</c:v>
                </c:pt>
                <c:pt idx="20">
                  <c:v>0.005458529681</c:v>
                </c:pt>
                <c:pt idx="21">
                  <c:v>0.00605659288614</c:v>
                </c:pt>
                <c:pt idx="22">
                  <c:v>0.00672287646138</c:v>
                </c:pt>
                <c:pt idx="23">
                  <c:v>0.00746544085539</c:v>
                </c:pt>
                <c:pt idx="24">
                  <c:v>0.00829340625228</c:v>
                </c:pt>
                <c:pt idx="25">
                  <c:v>0.00921715114574</c:v>
                </c:pt>
                <c:pt idx="26">
                  <c:v>0.0102485149488</c:v>
                </c:pt>
                <c:pt idx="27">
                  <c:v>0.0114010891131</c:v>
                </c:pt>
                <c:pt idx="28">
                  <c:v>0.0126905630452</c:v>
                </c:pt>
                <c:pt idx="29">
                  <c:v>0.0141351845055</c:v>
                </c:pt>
                <c:pt idx="30">
                  <c:v>0.0157563672854</c:v>
                </c:pt>
                <c:pt idx="31">
                  <c:v>0.0175794971388</c:v>
                </c:pt>
                <c:pt idx="32">
                  <c:v>0.0196350558333</c:v>
                </c:pt>
                <c:pt idx="33">
                  <c:v>0.0219601811558</c:v>
                </c:pt>
                <c:pt idx="34">
                  <c:v>0.0246009336244</c:v>
                </c:pt>
                <c:pt idx="35">
                  <c:v>0.0276156583237</c:v>
                </c:pt>
                <c:pt idx="36">
                  <c:v>0.0310801354553</c:v>
                </c:pt>
                <c:pt idx="37">
                  <c:v>0.035095829656</c:v>
                </c:pt>
                <c:pt idx="38">
                  <c:v>0.0398036608945</c:v>
                </c:pt>
                <c:pt idx="39">
                  <c:v>0.045408396812</c:v>
                </c:pt>
                <c:pt idx="40">
                  <c:v>0.0522248640083</c:v>
                </c:pt>
                <c:pt idx="41">
                  <c:v>0.0607734283573</c:v>
                </c:pt>
                <c:pt idx="42">
                  <c:v>0.0720000219939</c:v>
                </c:pt>
                <c:pt idx="43">
                  <c:v>0.087860099659</c:v>
                </c:pt>
                <c:pt idx="44">
                  <c:v>0.113175724247</c:v>
                </c:pt>
                <c:pt idx="45">
                  <c:v>0.162857920722</c:v>
                </c:pt>
                <c:pt idx="46">
                  <c:v>0.287796148354</c:v>
                </c:pt>
                <c:pt idx="47">
                  <c:v>0.515259319996</c:v>
                </c:pt>
                <c:pt idx="48">
                  <c:v>0.62626294122</c:v>
                </c:pt>
                <c:pt idx="49">
                  <c:v>0.647358079695</c:v>
                </c:pt>
                <c:pt idx="50">
                  <c:v>0.666670379134</c:v>
                </c:pt>
                <c:pt idx="51">
                  <c:v>0.74369713364</c:v>
                </c:pt>
                <c:pt idx="52">
                  <c:v>0.89642217562</c:v>
                </c:pt>
                <c:pt idx="53">
                  <c:v>1.0742182445</c:v>
                </c:pt>
                <c:pt idx="54">
                  <c:v>1.17325705668</c:v>
                </c:pt>
                <c:pt idx="55">
                  <c:v>1.18879710589</c:v>
                </c:pt>
                <c:pt idx="56">
                  <c:v>1.19030159992</c:v>
                </c:pt>
                <c:pt idx="57">
                  <c:v>1.19034588608</c:v>
                </c:pt>
                <c:pt idx="58">
                  <c:v>1.19024011588</c:v>
                </c:pt>
                <c:pt idx="59">
                  <c:v>1.19011022076</c:v>
                </c:pt>
                <c:pt idx="60">
                  <c:v>1.18996652368</c:v>
                </c:pt>
                <c:pt idx="61">
                  <c:v>1.18980740342</c:v>
                </c:pt>
                <c:pt idx="62">
                  <c:v>1.18962912072</c:v>
                </c:pt>
                <c:pt idx="63">
                  <c:v>1.18942632285</c:v>
                </c:pt>
                <c:pt idx="64">
                  <c:v>1.18919141953</c:v>
                </c:pt>
                <c:pt idx="65">
                  <c:v>1.18891345675</c:v>
                </c:pt>
                <c:pt idx="66">
                  <c:v>1.1885763017</c:v>
                </c:pt>
                <c:pt idx="67">
                  <c:v>1.18815592295</c:v>
                </c:pt>
                <c:pt idx="68">
                  <c:v>1.1876175866</c:v>
                </c:pt>
                <c:pt idx="69">
                  <c:v>1.18692243058</c:v>
                </c:pt>
                <c:pt idx="70">
                  <c:v>1.18612304181</c:v>
                </c:pt>
                <c:pt idx="71">
                  <c:v>1.18632886512</c:v>
                </c:pt>
                <c:pt idx="72">
                  <c:v>1.19972249536</c:v>
                </c:pt>
                <c:pt idx="73">
                  <c:v>1.26931315388</c:v>
                </c:pt>
                <c:pt idx="74">
                  <c:v>1.35607046039</c:v>
                </c:pt>
                <c:pt idx="75">
                  <c:v>1.3917011297</c:v>
                </c:pt>
                <c:pt idx="76">
                  <c:v>1.39663176877</c:v>
                </c:pt>
                <c:pt idx="77">
                  <c:v>1.39712132302</c:v>
                </c:pt>
                <c:pt idx="78">
                  <c:v>1.39716798575</c:v>
                </c:pt>
                <c:pt idx="79">
                  <c:v>1.39717246266</c:v>
                </c:pt>
                <c:pt idx="80">
                  <c:v>1.3971729183</c:v>
                </c:pt>
              </c:numCache>
            </c:numRef>
          </c:yVal>
        </c:ser>
        <c:ser>
          <c:idx val="2"/>
          <c:order val="2"/>
          <c:tx>
            <c:v>Fixed G, history 9</c:v>
          </c:tx>
          <c:spPr>
            <a:ln xmlns:a="http://schemas.openxmlformats.org/drawingml/2006/main" w="28575">
              <a:solidFill>
                <a:srgbClr val="7B4A98"/>
              </a:solidFill>
              <a:prstDash val="solid"/>
            </a:ln>
          </c:spPr>
          <c:marker>
            <c:symbol val="none"/>
          </c:marker>
          <c:xVal>
            <c:numRef>
              <c:f>'Chart Data'!$E$2:$E$82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Data'!$F$2:$F$82</c:f>
              <c:numCache>
                <c:formatCode>0.000000</c:formatCode>
                <c:ptCount val="81"/>
                <c:pt idx="0">
                  <c:v>0.00110790546294</c:v>
                </c:pt>
                <c:pt idx="1">
                  <c:v>0.0018505383539</c:v>
                </c:pt>
                <c:pt idx="2">
                  <c:v>0.00202848583368</c:v>
                </c:pt>
                <c:pt idx="3">
                  <c:v>0.00233695075012</c:v>
                </c:pt>
                <c:pt idx="4">
                  <c:v>0.00275995062943</c:v>
                </c:pt>
                <c:pt idx="5">
                  <c:v>0.00331359463127</c:v>
                </c:pt>
                <c:pt idx="6">
                  <c:v>0.00402680927534</c:v>
                </c:pt>
                <c:pt idx="7">
                  <c:v>0.00494009782338</c:v>
                </c:pt>
                <c:pt idx="8">
                  <c:v>0.00610755211507</c:v>
                </c:pt>
                <c:pt idx="9">
                  <c:v>0.00760036461342</c:v>
                </c:pt>
                <c:pt idx="10">
                  <c:v>0.00951186791372</c:v>
                </c:pt>
                <c:pt idx="11">
                  <c:v>0.0119647108022</c:v>
                </c:pt>
                <c:pt idx="12">
                  <c:v>0.015121369998</c:v>
                </c:pt>
                <c:pt idx="13">
                  <c:v>0.0192001793829</c:v>
                </c:pt>
                <c:pt idx="14">
                  <c:v>0.0245013639889</c:v>
                </c:pt>
                <c:pt idx="15">
                  <c:v>0.0314527937411</c:v>
                </c:pt>
                <c:pt idx="16">
                  <c:v>0.0406987956524</c:v>
                </c:pt>
                <c:pt idx="17">
                  <c:v>0.0532948523762</c:v>
                </c:pt>
                <c:pt idx="18">
                  <c:v>0.0712038876511</c:v>
                </c:pt>
                <c:pt idx="19">
                  <c:v>0.098825558458</c:v>
                </c:pt>
                <c:pt idx="20">
                  <c:v>0.148855087206</c:v>
                </c:pt>
                <c:pt idx="21">
                  <c:v>0.264692645902</c:v>
                </c:pt>
                <c:pt idx="22">
                  <c:v>0.485334114857</c:v>
                </c:pt>
                <c:pt idx="23">
                  <c:v>0.611466773509</c:v>
                </c:pt>
                <c:pt idx="24">
                  <c:v>0.657374017458</c:v>
                </c:pt>
                <c:pt idx="25">
                  <c:v>0.77517549845</c:v>
                </c:pt>
                <c:pt idx="26">
                  <c:v>1.00700529208</c:v>
                </c:pt>
                <c:pt idx="27">
                  <c:v>1.18686328299</c:v>
                </c:pt>
                <c:pt idx="28">
                  <c:v>1.28605059837</c:v>
                </c:pt>
                <c:pt idx="29">
                  <c:v>1.35862937988</c:v>
                </c:pt>
                <c:pt idx="30">
                  <c:v>1.44346864008</c:v>
                </c:pt>
                <c:pt idx="31">
                  <c:v>1.46799557771</c:v>
                </c:pt>
                <c:pt idx="32">
                  <c:v>1.47082889091</c:v>
                </c:pt>
                <c:pt idx="33">
                  <c:v>1.47110355101</c:v>
                </c:pt>
                <c:pt idx="34">
                  <c:v>1.47112976563</c:v>
                </c:pt>
                <c:pt idx="35">
                  <c:v>1.47113240194</c:v>
                </c:pt>
                <c:pt idx="36">
                  <c:v>1.4711327994</c:v>
                </c:pt>
                <c:pt idx="37">
                  <c:v>1.47113297885</c:v>
                </c:pt>
                <c:pt idx="38">
                  <c:v>1.47113313457</c:v>
                </c:pt>
                <c:pt idx="39">
                  <c:v>1.47113328292</c:v>
                </c:pt>
                <c:pt idx="40">
                  <c:v>1.47113342694</c:v>
                </c:pt>
                <c:pt idx="41">
                  <c:v>1.4711335662</c:v>
                </c:pt>
                <c:pt idx="42">
                  <c:v>1.47113370056</c:v>
                </c:pt>
                <c:pt idx="43">
                  <c:v>1.47113383144</c:v>
                </c:pt>
                <c:pt idx="44">
                  <c:v>1.4711339588</c:v>
                </c:pt>
                <c:pt idx="45">
                  <c:v>1.47113408263</c:v>
                </c:pt>
                <c:pt idx="46">
                  <c:v>1.47113420143</c:v>
                </c:pt>
                <c:pt idx="47">
                  <c:v>1.47113431769</c:v>
                </c:pt>
                <c:pt idx="48">
                  <c:v>1.47113443015</c:v>
                </c:pt>
                <c:pt idx="49">
                  <c:v>1.47113454</c:v>
                </c:pt>
                <c:pt idx="50">
                  <c:v>1.47113464644</c:v>
                </c:pt>
                <c:pt idx="51">
                  <c:v>1.47113474944</c:v>
                </c:pt>
                <c:pt idx="52">
                  <c:v>1.4711348504</c:v>
                </c:pt>
                <c:pt idx="53">
                  <c:v>1.47113494854</c:v>
                </c:pt>
                <c:pt idx="54">
                  <c:v>1.4711350424</c:v>
                </c:pt>
                <c:pt idx="55">
                  <c:v>1.47113513479</c:v>
                </c:pt>
                <c:pt idx="56">
                  <c:v>1.47113522458</c:v>
                </c:pt>
                <c:pt idx="57">
                  <c:v>1.47113531257</c:v>
                </c:pt>
                <c:pt idx="58">
                  <c:v>1.47113539661</c:v>
                </c:pt>
                <c:pt idx="59">
                  <c:v>1.47113547989</c:v>
                </c:pt>
                <c:pt idx="60">
                  <c:v>1.47113556027</c:v>
                </c:pt>
                <c:pt idx="61">
                  <c:v>1.47113563764</c:v>
                </c:pt>
                <c:pt idx="62">
                  <c:v>1.4711357143</c:v>
                </c:pt>
                <c:pt idx="63">
                  <c:v>1.47113578905</c:v>
                </c:pt>
                <c:pt idx="64">
                  <c:v>1.47113586106</c:v>
                </c:pt>
                <c:pt idx="65">
                  <c:v>1.47113593149</c:v>
                </c:pt>
                <c:pt idx="66">
                  <c:v>1.47113600038</c:v>
                </c:pt>
                <c:pt idx="67">
                  <c:v>1.47113606627</c:v>
                </c:pt>
                <c:pt idx="68">
                  <c:v>1.47113613188</c:v>
                </c:pt>
                <c:pt idx="69">
                  <c:v>1.47113619433</c:v>
                </c:pt>
                <c:pt idx="70">
                  <c:v>1.47113625624</c:v>
                </c:pt>
                <c:pt idx="71">
                  <c:v>1.47113631615</c:v>
                </c:pt>
                <c:pt idx="72">
                  <c:v>1.47113637503</c:v>
                </c:pt>
                <c:pt idx="73">
                  <c:v>1.47113643235</c:v>
                </c:pt>
                <c:pt idx="74">
                  <c:v>1.47113648872</c:v>
                </c:pt>
                <c:pt idx="75">
                  <c:v>1.47113654268</c:v>
                </c:pt>
                <c:pt idx="76">
                  <c:v>1.47113659679</c:v>
                </c:pt>
                <c:pt idx="77">
                  <c:v>1.47113664751</c:v>
                </c:pt>
                <c:pt idx="78">
                  <c:v>1.47113669764</c:v>
                </c:pt>
                <c:pt idx="79">
                  <c:v>1.47113674702</c:v>
                </c:pt>
                <c:pt idx="80">
                  <c:v>1.47113679494</c:v>
                </c:pt>
              </c:numCache>
            </c:numRef>
          </c:yVal>
        </c:ser>
        <c:ser>
          <c:idx val="3"/>
          <c:order val="3"/>
          <c:tx>
            <c:v>Evolving G, history 9</c:v>
          </c:tx>
          <c:spPr>
            <a:ln xmlns:a="http://schemas.openxmlformats.org/drawingml/2006/main" w="28575">
              <a:solidFill>
                <a:srgbClr val="C45D24"/>
              </a:solidFill>
              <a:prstDash val="solid"/>
            </a:ln>
          </c:spPr>
          <c:marker>
            <c:symbol val="none"/>
          </c:marker>
          <c:xVal>
            <c:numRef>
              <c:f>'Chart Data'!$G$2:$G$82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Data'!$H$2:$H$82</c:f>
              <c:numCache>
                <c:formatCode>0.000000</c:formatCode>
                <c:ptCount val="81"/>
                <c:pt idx="0">
                  <c:v>0.00110790546294</c:v>
                </c:pt>
                <c:pt idx="1">
                  <c:v>0.00185488285265</c:v>
                </c:pt>
                <c:pt idx="2">
                  <c:v>0.0020120005604</c:v>
                </c:pt>
                <c:pt idx="3">
                  <c:v>0.00224930209259</c:v>
                </c:pt>
                <c:pt idx="4">
                  <c:v>0.00252840609188</c:v>
                </c:pt>
                <c:pt idx="5">
                  <c:v>0.00283568262948</c:v>
                </c:pt>
                <c:pt idx="6">
                  <c:v>0.00316120722157</c:v>
                </c:pt>
                <c:pt idx="7">
                  <c:v>0.00349553514414</c:v>
                </c:pt>
                <c:pt idx="8">
                  <c:v>0.00382892434643</c:v>
                </c:pt>
                <c:pt idx="9">
                  <c:v>0.00415107073614</c:v>
                </c:pt>
                <c:pt idx="10">
                  <c:v>0.00445110106959</c:v>
                </c:pt>
                <c:pt idx="11">
                  <c:v>0.00471783933505</c:v>
                </c:pt>
                <c:pt idx="12">
                  <c:v>0.00494030508078</c:v>
                </c:pt>
                <c:pt idx="13">
                  <c:v>0.00510840659476</c:v>
                </c:pt>
                <c:pt idx="14">
                  <c:v>0.00521370095546</c:v>
                </c:pt>
                <c:pt idx="15">
                  <c:v>0.00525010809704</c:v>
                </c:pt>
                <c:pt idx="16">
                  <c:v>0.00521448311632</c:v>
                </c:pt>
                <c:pt idx="17">
                  <c:v>0.00510694718012</c:v>
                </c:pt>
                <c:pt idx="18">
                  <c:v>0.00493094972221</c:v>
                </c:pt>
                <c:pt idx="19">
                  <c:v>0.00469303878443</c:v>
                </c:pt>
                <c:pt idx="20">
                  <c:v>0.00440238335379</c:v>
                </c:pt>
                <c:pt idx="21">
                  <c:v>0.00407010084855</c:v>
                </c:pt>
                <c:pt idx="22">
                  <c:v>0.00370846312983</c:v>
                </c:pt>
                <c:pt idx="23">
                  <c:v>0.00333007108336</c:v>
                </c:pt>
                <c:pt idx="24">
                  <c:v>0.00294708480434</c:v>
                </c:pt>
                <c:pt idx="25">
                  <c:v>0.00257055654489</c:v>
                </c:pt>
                <c:pt idx="26">
                  <c:v>0.00220993058538</c:v>
                </c:pt>
                <c:pt idx="27">
                  <c:v>0.00187271679217</c:v>
                </c:pt>
                <c:pt idx="28">
                  <c:v>0.00156435473791</c:v>
                </c:pt>
                <c:pt idx="29">
                  <c:v>0.001288245439</c:v>
                </c:pt>
                <c:pt idx="30">
                  <c:v>0.00104590553997</c:v>
                </c:pt>
                <c:pt idx="31">
                  <c:v>0.000837238473464</c:v>
                </c:pt>
                <c:pt idx="32">
                  <c:v>0.000660845616216</c:v>
                </c:pt>
                <c:pt idx="33">
                  <c:v>0.000514370781568</c:v>
                </c:pt>
                <c:pt idx="34">
                  <c:v>0.000394829543415</c:v>
                </c:pt>
                <c:pt idx="35">
                  <c:v>0.000298905077544</c:v>
                </c:pt>
                <c:pt idx="36">
                  <c:v>0.000223190770012</c:v>
                </c:pt>
                <c:pt idx="37">
                  <c:v>0.000164386827115</c:v>
                </c:pt>
                <c:pt idx="38">
                  <c:v>0.000119436396658</c:v>
                </c:pt>
                <c:pt idx="39">
                  <c:v>8.56072429074E-05</c:v>
                </c:pt>
                <c:pt idx="40">
                  <c:v>6.05379837084E-05</c:v>
                </c:pt>
                <c:pt idx="41">
                  <c:v>4.22380389808E-05</c:v>
                </c:pt>
                <c:pt idx="42">
                  <c:v>2.90793932119E-05</c:v>
                </c:pt>
                <c:pt idx="43">
                  <c:v>1.97546997549E-05</c:v>
                </c:pt>
                <c:pt idx="44">
                  <c:v>1.32451537157E-05</c:v>
                </c:pt>
                <c:pt idx="45">
                  <c:v>8.76490113842E-06</c:v>
                </c:pt>
                <c:pt idx="46">
                  <c:v>5.72379829779E-06</c:v>
                </c:pt>
                <c:pt idx="47">
                  <c:v>3.69158407235E-06</c:v>
                </c:pt>
                <c:pt idx="48">
                  <c:v>2.34955186702E-06</c:v>
                </c:pt>
                <c:pt idx="49">
                  <c:v>1.47749470215E-06</c:v>
                </c:pt>
                <c:pt idx="50">
                  <c:v>9.18125600137E-07</c:v>
                </c:pt>
                <c:pt idx="51">
                  <c:v>5.64354051113E-07</c:v>
                </c:pt>
                <c:pt idx="52">
                  <c:v>3.43848414145E-07</c:v>
                </c:pt>
                <c:pt idx="53">
                  <c:v>2.08611800333E-07</c:v>
                </c:pt>
                <c:pt idx="54">
                  <c:v>1.27503353715E-07</c:v>
                </c:pt>
                <c:pt idx="55">
                  <c:v>7.97354670077E-08</c:v>
                </c:pt>
                <c:pt idx="56">
                  <c:v>5.37372727636E-08</c:v>
                </c:pt>
                <c:pt idx="57">
                  <c:v>3.93768227284E-08</c:v>
                </c:pt>
                <c:pt idx="58">
                  <c:v>3.28666738683E-08</c:v>
                </c:pt>
                <c:pt idx="59">
                  <c:v>2.94637765448E-08</c:v>
                </c:pt>
                <c:pt idx="60">
                  <c:v>2.83039540271E-08</c:v>
                </c:pt>
                <c:pt idx="61">
                  <c:v>2.58198130086E-08</c:v>
                </c:pt>
                <c:pt idx="62">
                  <c:v>2.50871487281E-08</c:v>
                </c:pt>
                <c:pt idx="63">
                  <c:v>2.42575874841E-08</c:v>
                </c:pt>
                <c:pt idx="64">
                  <c:v>2.33583815804E-08</c:v>
                </c:pt>
                <c:pt idx="65">
                  <c:v>2.24844373821E-08</c:v>
                </c:pt>
                <c:pt idx="66">
                  <c:v>2.18777398996E-08</c:v>
                </c:pt>
                <c:pt idx="67">
                  <c:v>2.107752511E-08</c:v>
                </c:pt>
                <c:pt idx="68">
                  <c:v>2.05324359573E-08</c:v>
                </c:pt>
                <c:pt idx="69">
                  <c:v>1.95884486343E-08</c:v>
                </c:pt>
                <c:pt idx="70">
                  <c:v>1.82183625777E-08</c:v>
                </c:pt>
                <c:pt idx="71">
                  <c:v>1.75388196227E-08</c:v>
                </c:pt>
                <c:pt idx="72">
                  <c:v>1.78117668158E-08</c:v>
                </c:pt>
                <c:pt idx="73">
                  <c:v>1.69163209838E-08</c:v>
                </c:pt>
                <c:pt idx="74">
                  <c:v>1.61172384787E-08</c:v>
                </c:pt>
                <c:pt idx="75">
                  <c:v>1.61956738631E-08</c:v>
                </c:pt>
                <c:pt idx="76">
                  <c:v>1.4717517044E-08</c:v>
                </c:pt>
                <c:pt idx="77">
                  <c:v>1.56833956189E-08</c:v>
                </c:pt>
                <c:pt idx="78">
                  <c:v>1.39012116394E-08</c:v>
                </c:pt>
                <c:pt idx="79">
                  <c:v>1.46155000775E-08</c:v>
                </c:pt>
                <c:pt idx="80">
                  <c:v>1.36316654658E-08</c:v>
                </c:pt>
              </c:numCache>
            </c:numRef>
          </c:yVal>
        </c:ser>
        <c:ser>
          <c:idx val="4"/>
          <c:order val="4"/>
          <c:tx>
            <c:v>Formation threshold</c:v>
          </c:tx>
          <c:spPr>
            <a:ln xmlns:a="http://schemas.openxmlformats.org/drawingml/2006/main" w="19050">
              <a:solidFill>
                <a:srgbClr val="8C9BA5"/>
              </a:solidFill>
              <a:prstDash val="dash"/>
            </a:ln>
          </c:spPr>
          <c:marker>
            <c:symbol val="none"/>
          </c:marker>
          <c:xVal>
            <c:numRef>
              <c:f>'Chart Data'!$I$2:$I$82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Data'!$J$2:$J$82</c:f>
              <c:numCache>
                <c:formatCode>0.000000</c:formatCode>
                <c:ptCount val="81"/>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0.1</c:v>
                </c:pt>
                <c:pt idx="70">
                  <c:v>0.1</c:v>
                </c:pt>
                <c:pt idx="71">
                  <c:v>0.1</c:v>
                </c:pt>
                <c:pt idx="72">
                  <c:v>0.1</c:v>
                </c:pt>
                <c:pt idx="73">
                  <c:v>0.1</c:v>
                </c:pt>
                <c:pt idx="74">
                  <c:v>0.1</c:v>
                </c:pt>
                <c:pt idx="75">
                  <c:v>0.1</c:v>
                </c:pt>
                <c:pt idx="76">
                  <c:v>0.1</c:v>
                </c:pt>
                <c:pt idx="77">
                  <c:v>0.1</c:v>
                </c:pt>
                <c:pt idx="78">
                  <c:v>0.1</c:v>
                </c:pt>
                <c:pt idx="79">
                  <c:v>0.1</c:v>
                </c:pt>
                <c:pt idx="80">
                  <c:v>0.1</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DDE6EB"/>
              </a:solidFill>
            </a:ln>
          </c:spPr>
        </c:majorGridlines>
        <c:title>
          <c:tx>
            <c:rich>
              <a:bodyPr xmlns:a="http://schemas.openxmlformats.org/drawingml/2006/main"/>
              <a:lstStyle xmlns:a="http://schemas.openxmlformats.org/drawingml/2006/main"/>
              <a:p xmlns:a="http://schemas.openxmlformats.org/drawingml/2006/main">
                <a:r>
                  <a:rPr sz="1650">
                    <a:solidFill>
                      <a:srgbClr val="172D3C"/>
                    </a:solidFill>
                    <a:latin typeface="DejaVu Sans"/>
                    <a:ea typeface="DejaVu Sans"/>
                    <a:cs typeface="DejaVu Sans"/>
                  </a:rPr>
                  <a:t>SD of log activator</a:t>
                </a:r>
              </a:p>
            </c:rich>
          </c:tx>
          <c:overlay val="0"/>
          <c:txPr>
            <a:bodyPr xmlns:a="http://schemas.openxmlformats.org/drawingml/2006/main" anchorCtr="1"/>
            <a:lstStyle xmlns:a="http://schemas.openxmlformats.org/drawingml/2006/main"/>
            <a:p xmlns:a="http://schemas.openxmlformats.org/drawingml/2006/main">
              <a:pPr>
                <a:defRPr sz="1650">
                  <a:solidFill>
                    <a:srgbClr val="172D3C"/>
                  </a:solidFill>
                  <a:latin typeface="DejaVu Sans"/>
                  <a:ea typeface="DejaVu Sans"/>
                  <a:cs typeface="DejaVu Sans"/>
                </a:defRPr>
              </a:pPr>
            </a:p>
          </c:txPr>
        </c:title>
        <c:numFmt formatCode="0.0"/>
        <c:majorTickMark val="none"/>
        <c:minorTickMark val="none"/>
        <c:spPr>
          <a:ln xmlns:a="http://schemas.openxmlformats.org/drawingml/2006/main" w="9525">
            <a:solidFill>
              <a:srgbClr val="DDE6EB"/>
            </a:solidFill>
          </a:ln>
        </c:spPr>
        <c:txPr>
          <a:bodyPr xmlns:a="http://schemas.openxmlformats.org/drawingml/2006/main" anchorCtr="1"/>
          <a:lstStyle xmlns:a="http://schemas.openxmlformats.org/drawingml/2006/main"/>
          <a:p xmlns:a="http://schemas.openxmlformats.org/drawingml/2006/main">
            <a:pPr>
              <a:defRPr sz="1500">
                <a:solidFill>
                  <a:srgbClr val="536978"/>
                </a:solidFill>
                <a:latin typeface="DejaVu Sans"/>
                <a:ea typeface="DejaVu Sans"/>
                <a:cs typeface="DejaVu Sans"/>
              </a:defRPr>
            </a:pPr>
          </a:p>
        </c:txPr>
        <c:crossAx val="48650112"/>
        <c:majorUnit val="0.3"/>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1650">
                    <a:solidFill>
                      <a:srgbClr val="172D3C"/>
                    </a:solidFill>
                    <a:latin typeface="DejaVu Sans"/>
                    <a:ea typeface="DejaVu Sans"/>
                    <a:cs typeface="DejaVu Sans"/>
                  </a:rPr>
                  <a:t>Elapsed model time</a:t>
                </a:r>
              </a:p>
            </c:rich>
          </c:tx>
          <c:overlay val="0"/>
          <c:txPr>
            <a:bodyPr xmlns:a="http://schemas.openxmlformats.org/drawingml/2006/main" anchorCtr="1"/>
            <a:lstStyle xmlns:a="http://schemas.openxmlformats.org/drawingml/2006/main"/>
            <a:p xmlns:a="http://schemas.openxmlformats.org/drawingml/2006/main">
              <a:pPr>
                <a:defRPr sz="1650">
                  <a:solidFill>
                    <a:srgbClr val="172D3C"/>
                  </a:solidFill>
                  <a:latin typeface="DejaVu Sans"/>
                  <a:ea typeface="DejaVu Sans"/>
                  <a:cs typeface="DejaVu Sans"/>
                </a:defRPr>
              </a:pPr>
            </a:p>
          </c:txPr>
        </c:title>
        <c:numFmt formatCode="0"/>
        <c:majorTickMark val="none"/>
        <c:minorTickMark val="none"/>
        <c:tickLblPos val="low"/>
        <c:spPr>
          <a:ln xmlns:a="http://schemas.openxmlformats.org/drawingml/2006/main" w="9525">
            <a:solidFill>
              <a:srgbClr val="DDE6EB"/>
            </a:solidFill>
          </a:ln>
        </c:spPr>
        <c:txPr>
          <a:bodyPr xmlns:a="http://schemas.openxmlformats.org/drawingml/2006/main" anchorCtr="1"/>
          <a:lstStyle xmlns:a="http://schemas.openxmlformats.org/drawingml/2006/main"/>
          <a:p xmlns:a="http://schemas.openxmlformats.org/drawingml/2006/main">
            <a:pPr>
              <a:defRPr sz="1500">
                <a:solidFill>
                  <a:srgbClr val="536978"/>
                </a:solidFill>
                <a:latin typeface="DejaVu Sans"/>
                <a:ea typeface="DejaVu Sans"/>
                <a:cs typeface="DejaVu Sans"/>
              </a:defRPr>
            </a:pPr>
          </a:p>
        </c:txPr>
        <c:crossAx val="48672768"/>
        <c:majorUnit val="6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D3C"/>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0">
                <a:solidFill>
                  <a:srgbClr val="172D3C"/>
                </a:solidFill>
                <a:latin typeface="DejaVu Sans"/>
                <a:ea typeface="DejaVu Sans"/>
                <a:cs typeface="DejaVu Sans"/>
              </a:rPr>
              <a:t>Largest instantaneous spatial growth rate, history 9</a:t>
            </a:r>
          </a:p>
        </c:rich>
      </c:tx>
      <c:overlay val="0"/>
      <c:txPr>
        <a:bodyPr xmlns:a="http://schemas.openxmlformats.org/drawingml/2006/main" anchorCtr="1"/>
        <a:lstStyle xmlns:a="http://schemas.openxmlformats.org/drawingml/2006/main"/>
        <a:p xmlns:a="http://schemas.openxmlformats.org/drawingml/2006/main">
          <a:pPr>
            <a:defRPr sz="2025" b="0">
              <a:solidFill>
                <a:srgbClr val="172D3C"/>
              </a:solidFill>
              <a:latin typeface="DejaVu Sans"/>
              <a:ea typeface="DejaVu Sans"/>
              <a:cs typeface="DejaVu Sans"/>
            </a:defRPr>
          </a:pPr>
        </a:p>
      </c:txPr>
    </c:title>
    <c:plotArea>
      <c:scatterChart>
        <c:scatterStyle val="line"/>
        <c:ser>
          <c:idx val="0"/>
          <c:order val="0"/>
          <c:tx>
            <c:v>Evolving G, χ = 0</c:v>
          </c:tx>
          <c:spPr>
            <a:ln xmlns:a="http://schemas.openxmlformats.org/drawingml/2006/main" w="28575">
              <a:solidFill>
                <a:srgbClr val="007F86"/>
              </a:solidFill>
              <a:prstDash val="solid"/>
            </a:ln>
          </c:spPr>
          <c:marker>
            <c:symbol val="none"/>
          </c:marker>
          <c:xVal>
            <c:numRef>
              <c:f>'Chart Data'!$A$2:$A$82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Data'!$B$2:$B$82</c:f>
              <c:numCache>
                <c:formatCode>0.000000</c:formatCode>
                <c:ptCount val="81"/>
                <c:pt idx="0">
                  <c:v>0.0813617080426</c:v>
                </c:pt>
                <c:pt idx="1">
                  <c:v>0.0834978081805</c:v>
                </c:pt>
                <c:pt idx="2">
                  <c:v>0.0817105352556</c:v>
                </c:pt>
                <c:pt idx="3">
                  <c:v>0.0797325888779</c:v>
                </c:pt>
                <c:pt idx="4">
                  <c:v>0.0777325242576</c:v>
                </c:pt>
                <c:pt idx="5">
                  <c:v>0.0757454966643</c:v>
                </c:pt>
                <c:pt idx="6">
                  <c:v>0.0737827222522</c:v>
                </c:pt>
                <c:pt idx="7">
                  <c:v>0.0718475428885</c:v>
                </c:pt>
                <c:pt idx="8">
                  <c:v>0.0699407526904</c:v>
                </c:pt>
                <c:pt idx="9">
                  <c:v>0.0680619896875</c:v>
                </c:pt>
                <c:pt idx="10">
                  <c:v>0.0662103705648</c:v>
                </c:pt>
                <c:pt idx="11">
                  <c:v>0.0643850334669</c:v>
                </c:pt>
                <c:pt idx="12">
                  <c:v>0.0625850579951</c:v>
                </c:pt>
                <c:pt idx="13">
                  <c:v>0.0608092589255</c:v>
                </c:pt>
                <c:pt idx="14">
                  <c:v>0.0590567811129</c:v>
                </c:pt>
                <c:pt idx="15">
                  <c:v>0.0573264027495</c:v>
                </c:pt>
                <c:pt idx="16">
                  <c:v>0.0556170113623</c:v>
                </c:pt>
                <c:pt idx="17">
                  <c:v>0.0539272774886</c:v>
                </c:pt>
                <c:pt idx="18">
                  <c:v>0.052255854964</c:v>
                </c:pt>
                <c:pt idx="19">
                  <c:v>0.0506008387415</c:v>
                </c:pt>
                <c:pt idx="20">
                  <c:v>0.0489602175702</c:v>
                </c:pt>
                <c:pt idx="21">
                  <c:v>0.0473311368285</c:v>
                </c:pt>
                <c:pt idx="22">
                  <c:v>0.0457098126947</c:v>
                </c:pt>
                <c:pt idx="23">
                  <c:v>0.0440909751952</c:v>
                </c:pt>
                <c:pt idx="24">
                  <c:v>0.0424661459692</c:v>
                </c:pt>
                <c:pt idx="25">
                  <c:v>0.0408209129137</c:v>
                </c:pt>
                <c:pt idx="26">
                  <c:v>0.0391278874836</c:v>
                </c:pt>
                <c:pt idx="27">
                  <c:v>0.037329475943</c:v>
                </c:pt>
                <c:pt idx="28">
                  <c:v>0.035318093254</c:v>
                </c:pt>
                <c:pt idx="29">
                  <c:v>0.0331257488065</c:v>
                </c:pt>
                <c:pt idx="30">
                  <c:v>0.0310618746222</c:v>
                </c:pt>
                <c:pt idx="31">
                  <c:v>0.0289630861475</c:v>
                </c:pt>
                <c:pt idx="32">
                  <c:v>0.0265659387306</c:v>
                </c:pt>
                <c:pt idx="33">
                  <c:v>0.0239480654656</c:v>
                </c:pt>
                <c:pt idx="34">
                  <c:v>0.021411253421</c:v>
                </c:pt>
                <c:pt idx="35">
                  <c:v>0.0191312594418</c:v>
                </c:pt>
                <c:pt idx="36">
                  <c:v>0.0168865975173</c:v>
                </c:pt>
                <c:pt idx="37">
                  <c:v>0.0147752812267</c:v>
                </c:pt>
                <c:pt idx="38">
                  <c:v>0.0128510827998</c:v>
                </c:pt>
                <c:pt idx="39">
                  <c:v>0.0109098104909</c:v>
                </c:pt>
                <c:pt idx="40">
                  <c:v>0.00905557086937</c:v>
                </c:pt>
                <c:pt idx="41">
                  <c:v>0.00737898724097</c:v>
                </c:pt>
                <c:pt idx="42">
                  <c:v>0.00575910560941</c:v>
                </c:pt>
                <c:pt idx="43">
                  <c:v>0.00416223470988</c:v>
                </c:pt>
                <c:pt idx="44">
                  <c:v>0.00258231081313</c:v>
                </c:pt>
                <c:pt idx="45">
                  <c:v>0.00101791923105</c:v>
                </c:pt>
                <c:pt idx="46">
                  <c:v>-0.000531653839009</c:v>
                </c:pt>
                <c:pt idx="47">
                  <c:v>-0.00206685867491</c:v>
                </c:pt>
                <c:pt idx="48">
                  <c:v>-0.00358809915417</c:v>
                </c:pt>
                <c:pt idx="49">
                  <c:v>-0.00509546126797</c:v>
                </c:pt>
                <c:pt idx="50">
                  <c:v>-0.00658933184373</c:v>
                </c:pt>
                <c:pt idx="51">
                  <c:v>-0.00806997356947</c:v>
                </c:pt>
                <c:pt idx="52">
                  <c:v>-0.00953747400096</c:v>
                </c:pt>
                <c:pt idx="53">
                  <c:v>-0.0109921361478</c:v>
                </c:pt>
                <c:pt idx="54">
                  <c:v>-0.0124341223995</c:v>
                </c:pt>
                <c:pt idx="55">
                  <c:v>-0.0138636079307</c:v>
                </c:pt>
                <c:pt idx="56">
                  <c:v>-0.0152808076543</c:v>
                </c:pt>
                <c:pt idx="57">
                  <c:v>-0.016685909128</c:v>
                </c:pt>
                <c:pt idx="58">
                  <c:v>-0.0180790741809</c:v>
                </c:pt>
                <c:pt idx="59">
                  <c:v>-0.0194604753906</c:v>
                </c:pt>
                <c:pt idx="60">
                  <c:v>-0.0208303256456</c:v>
                </c:pt>
                <c:pt idx="61">
                  <c:v>-0.022188773116</c:v>
                </c:pt>
                <c:pt idx="62">
                  <c:v>-0.023535944729</c:v>
                </c:pt>
                <c:pt idx="63">
                  <c:v>-0.0248720170483</c:v>
                </c:pt>
                <c:pt idx="64">
                  <c:v>-0.0261971670045</c:v>
                </c:pt>
                <c:pt idx="65">
                  <c:v>-0.0275116095317</c:v>
                </c:pt>
                <c:pt idx="66">
                  <c:v>-0.0288153168995</c:v>
                </c:pt>
                <c:pt idx="67">
                  <c:v>-0.0301085959126</c:v>
                </c:pt>
                <c:pt idx="68">
                  <c:v>-0.0313915283475</c:v>
                </c:pt>
                <c:pt idx="69">
                  <c:v>-0.0326643127381</c:v>
                </c:pt>
                <c:pt idx="70">
                  <c:v>-0.0339270426686</c:v>
                </c:pt>
                <c:pt idx="71">
                  <c:v>-0.0351798072131</c:v>
                </c:pt>
                <c:pt idx="72">
                  <c:v>-0.0364228131852</c:v>
                </c:pt>
                <c:pt idx="73">
                  <c:v>-0.0376561557162</c:v>
                </c:pt>
                <c:pt idx="74">
                  <c:v>-0.0388799637425</c:v>
                </c:pt>
                <c:pt idx="75">
                  <c:v>-0.040094379723</c:v>
                </c:pt>
                <c:pt idx="76">
                  <c:v>-0.041299458309</c:v>
                </c:pt>
                <c:pt idx="77">
                  <c:v>-0.0424954667652</c:v>
                </c:pt>
                <c:pt idx="78">
                  <c:v>-0.0436823847921</c:v>
                </c:pt>
                <c:pt idx="79">
                  <c:v>-0.0448603737768</c:v>
                </c:pt>
                <c:pt idx="80">
                  <c:v>-0.0460295744533</c:v>
                </c:pt>
              </c:numCache>
            </c:numRef>
          </c:yVal>
        </c:ser>
        <c:ser>
          <c:idx val="1"/>
          <c:order val="1"/>
          <c:tx>
            <c:v>Evolving G, χ = 0.35</c:v>
          </c:tx>
          <c:spPr>
            <a:ln xmlns:a="http://schemas.openxmlformats.org/drawingml/2006/main" w="28575">
              <a:solidFill>
                <a:srgbClr val="C45D24"/>
              </a:solidFill>
              <a:prstDash val="solid"/>
            </a:ln>
          </c:spPr>
          <c:marker>
            <c:symbol val="none"/>
          </c:marker>
          <c:xVal>
            <c:numRef>
              <c:f>'Chart Data'!$C$2:$C$82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Data'!$D$2:$D$82</c:f>
              <c:numCache>
                <c:formatCode>0.000000</c:formatCode>
                <c:ptCount val="81"/>
                <c:pt idx="0">
                  <c:v>0.0813617080426</c:v>
                </c:pt>
                <c:pt idx="1">
                  <c:v>0.0799542898372</c:v>
                </c:pt>
                <c:pt idx="2">
                  <c:v>0.0743298055998</c:v>
                </c:pt>
                <c:pt idx="3">
                  <c:v>0.0685050301435</c:v>
                </c:pt>
                <c:pt idx="4">
                  <c:v>0.0626866829705</c:v>
                </c:pt>
                <c:pt idx="5">
                  <c:v>0.0569125879494</c:v>
                </c:pt>
                <c:pt idx="6">
                  <c:v>0.051192596112</c:v>
                </c:pt>
                <c:pt idx="7">
                  <c:v>0.04552872527</c:v>
                </c:pt>
                <c:pt idx="8">
                  <c:v>0.0399206232793</c:v>
                </c:pt>
                <c:pt idx="9">
                  <c:v>0.0343669196884</c:v>
                </c:pt>
                <c:pt idx="10">
                  <c:v>0.0288661815279</c:v>
                </c:pt>
                <c:pt idx="11">
                  <c:v>0.0234168039013</c:v>
                </c:pt>
                <c:pt idx="12">
                  <c:v>0.0180171717373</c:v>
                </c:pt>
                <c:pt idx="13">
                  <c:v>0.0126658410149</c:v>
                </c:pt>
                <c:pt idx="14">
                  <c:v>0.00736130158973</c:v>
                </c:pt>
                <c:pt idx="15">
                  <c:v>0.00210216331366</c:v>
                </c:pt>
                <c:pt idx="16">
                  <c:v>-0.00311316565172</c:v>
                </c:pt>
                <c:pt idx="17">
                  <c:v>-0.00828590247884</c:v>
                </c:pt>
                <c:pt idx="18">
                  <c:v>-0.0134173222839</c:v>
                </c:pt>
                <c:pt idx="19">
                  <c:v>-0.0185086421609</c:v>
                </c:pt>
                <c:pt idx="20">
                  <c:v>-0.0235611178355</c:v>
                </c:pt>
                <c:pt idx="21">
                  <c:v>-0.0285758011124</c:v>
                </c:pt>
                <c:pt idx="22">
                  <c:v>-0.0335538030631</c:v>
                </c:pt>
                <c:pt idx="23">
                  <c:v>-0.0384962675717</c:v>
                </c:pt>
                <c:pt idx="24">
                  <c:v>-0.0434042725638</c:v>
                </c:pt>
                <c:pt idx="25">
                  <c:v>-0.0482789879945</c:v>
                </c:pt>
                <c:pt idx="26">
                  <c:v>-0.053121437835</c:v>
                </c:pt>
                <c:pt idx="27">
                  <c:v>-0.0579326676477</c:v>
                </c:pt>
                <c:pt idx="28">
                  <c:v>-0.0627136326732</c:v>
                </c:pt>
                <c:pt idx="29">
                  <c:v>-0.0674653003504</c:v>
                </c:pt>
                <c:pt idx="30">
                  <c:v>-0.0721886881259</c:v>
                </c:pt>
                <c:pt idx="31">
                  <c:v>-0.0768845503095</c:v>
                </c:pt>
                <c:pt idx="32">
                  <c:v>-0.0815537865045</c:v>
                </c:pt>
                <c:pt idx="33">
                  <c:v>-0.0861973157989</c:v>
                </c:pt>
                <c:pt idx="34">
                  <c:v>-0.0908157850159</c:v>
                </c:pt>
                <c:pt idx="35">
                  <c:v>-0.0954100797185</c:v>
                </c:pt>
                <c:pt idx="36">
                  <c:v>-0.0999810045999</c:v>
                </c:pt>
                <c:pt idx="37">
                  <c:v>-0.104529150658</c:v>
                </c:pt>
                <c:pt idx="38">
                  <c:v>-0.109055418783</c:v>
                </c:pt>
                <c:pt idx="39">
                  <c:v>-0.113560456531</c:v>
                </c:pt>
                <c:pt idx="40">
                  <c:v>-0.118044972774</c:v>
                </c:pt>
                <c:pt idx="41">
                  <c:v>-0.122509574304</c:v>
                </c:pt>
                <c:pt idx="42">
                  <c:v>-0.126955024981</c:v>
                </c:pt>
                <c:pt idx="43">
                  <c:v>-0.131381901434</c:v>
                </c:pt>
                <c:pt idx="44">
                  <c:v>-0.135790853987</c:v>
                </c:pt>
                <c:pt idx="45">
                  <c:v>-0.140182576599</c:v>
                </c:pt>
                <c:pt idx="46">
                  <c:v>-0.144557628577</c:v>
                </c:pt>
                <c:pt idx="47">
                  <c:v>-0.148916489885</c:v>
                </c:pt>
                <c:pt idx="48">
                  <c:v>-0.153259965709</c:v>
                </c:pt>
                <c:pt idx="49">
                  <c:v>-0.157588471674</c:v>
                </c:pt>
                <c:pt idx="50">
                  <c:v>-0.161902518186</c:v>
                </c:pt>
                <c:pt idx="51">
                  <c:v>-0.166202664646</c:v>
                </c:pt>
                <c:pt idx="52">
                  <c:v>-0.170489423799</c:v>
                </c:pt>
                <c:pt idx="53">
                  <c:v>-0.174763204242</c:v>
                </c:pt>
                <c:pt idx="54">
                  <c:v>-0.179024570726</c:v>
                </c:pt>
                <c:pt idx="55">
                  <c:v>-0.183273948517</c:v>
                </c:pt>
                <c:pt idx="56">
                  <c:v>-0.187511901784</c:v>
                </c:pt>
                <c:pt idx="57">
                  <c:v>-0.191738832156</c:v>
                </c:pt>
                <c:pt idx="58">
                  <c:v>-0.195955289612</c:v>
                </c:pt>
                <c:pt idx="59">
                  <c:v>-0.200161864078</c:v>
                </c:pt>
                <c:pt idx="60">
                  <c:v>-0.204359073769</c:v>
                </c:pt>
                <c:pt idx="61">
                  <c:v>-0.208547258838</c:v>
                </c:pt>
                <c:pt idx="62">
                  <c:v>-0.212727087592</c:v>
                </c:pt>
                <c:pt idx="63">
                  <c:v>-0.216898981648</c:v>
                </c:pt>
                <c:pt idx="64">
                  <c:v>-0.22106336484</c:v>
                </c:pt>
                <c:pt idx="65">
                  <c:v>-0.225220825064</c:v>
                </c:pt>
                <c:pt idx="66">
                  <c:v>-0.229371656115</c:v>
                </c:pt>
                <c:pt idx="67">
                  <c:v>-0.23351625642</c:v>
                </c:pt>
                <c:pt idx="68">
                  <c:v>-0.237655139489</c:v>
                </c:pt>
                <c:pt idx="69">
                  <c:v>-0.241788747227</c:v>
                </c:pt>
                <c:pt idx="70">
                  <c:v>-0.245917375071</c:v>
                </c:pt>
                <c:pt idx="71">
                  <c:v>-0.250041477361</c:v>
                </c:pt>
                <c:pt idx="72">
                  <c:v>-0.254161651221</c:v>
                </c:pt>
                <c:pt idx="73">
                  <c:v>-0.258277948112</c:v>
                </c:pt>
                <c:pt idx="74">
                  <c:v>-0.262390966838</c:v>
                </c:pt>
                <c:pt idx="75">
                  <c:v>-0.266501167286</c:v>
                </c:pt>
                <c:pt idx="76">
                  <c:v>-0.270608937756</c:v>
                </c:pt>
                <c:pt idx="77">
                  <c:v>-0.27471454306</c:v>
                </c:pt>
                <c:pt idx="78">
                  <c:v>-0.27881841514</c:v>
                </c:pt>
                <c:pt idx="79">
                  <c:v>-0.282920973911</c:v>
                </c:pt>
                <c:pt idx="80">
                  <c:v>-0.287022606339</c:v>
                </c:pt>
              </c:numCache>
            </c:numRef>
          </c:yVal>
        </c:ser>
        <c:ser>
          <c:idx val="2"/>
          <c:order val="2"/>
          <c:tx>
            <c:v>Fixed G, χ = 0.35</c:v>
          </c:tx>
          <c:spPr>
            <a:ln xmlns:a="http://schemas.openxmlformats.org/drawingml/2006/main" w="28575">
              <a:solidFill>
                <a:srgbClr val="7B4A98"/>
              </a:solidFill>
              <a:prstDash val="solid"/>
            </a:ln>
          </c:spPr>
          <c:marker>
            <c:symbol val="none"/>
          </c:marker>
          <c:xVal>
            <c:numRef>
              <c:f>'Chart Data'!$E$2:$E$82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Data'!$F$2:$F$82</c:f>
              <c:numCache>
                <c:formatCode>0.000000</c:formatCode>
                <c:ptCount val="81"/>
                <c:pt idx="0">
                  <c:v>0.0813617080426</c:v>
                </c:pt>
                <c:pt idx="1">
                  <c:v>0.0815690824749</c:v>
                </c:pt>
                <c:pt idx="2">
                  <c:v>0.0815681077061</c:v>
                </c:pt>
                <c:pt idx="3">
                  <c:v>0.0815670728762</c:v>
                </c:pt>
                <c:pt idx="4">
                  <c:v>0.0815660808378</c:v>
                </c:pt>
                <c:pt idx="5">
                  <c:v>0.0815651323137</c:v>
                </c:pt>
                <c:pt idx="6">
                  <c:v>0.0815642153824</c:v>
                </c:pt>
                <c:pt idx="7">
                  <c:v>0.0815633228169</c:v>
                </c:pt>
                <c:pt idx="8">
                  <c:v>0.0815624419542</c:v>
                </c:pt>
                <c:pt idx="9">
                  <c:v>0.08156155808</c:v>
                </c:pt>
                <c:pt idx="10">
                  <c:v>0.0815606481713</c:v>
                </c:pt>
                <c:pt idx="11">
                  <c:v>0.0815596809736</c:v>
                </c:pt>
                <c:pt idx="12">
                  <c:v>0.0815586110849</c:v>
                </c:pt>
                <c:pt idx="13">
                  <c:v>0.0815573667871</c:v>
                </c:pt>
                <c:pt idx="14">
                  <c:v>0.0815558349235</c:v>
                </c:pt>
                <c:pt idx="15">
                  <c:v>0.0815538287103</c:v>
                </c:pt>
                <c:pt idx="16">
                  <c:v>0.0815510295494</c:v>
                </c:pt>
                <c:pt idx="17">
                  <c:v>0.0815468597348</c:v>
                </c:pt>
                <c:pt idx="18">
                  <c:v>0.0815402037592</c:v>
                </c:pt>
                <c:pt idx="19">
                  <c:v>0.0815287442239</c:v>
                </c:pt>
                <c:pt idx="20">
                  <c:v>0.0815076244602</c:v>
                </c:pt>
                <c:pt idx="21">
                  <c:v>0.0814720110127</c:v>
                </c:pt>
                <c:pt idx="22">
                  <c:v>0.0814413622299</c:v>
                </c:pt>
                <c:pt idx="23">
                  <c:v>0.0814249565494</c:v>
                </c:pt>
                <c:pt idx="24">
                  <c:v>0.0814037092615</c:v>
                </c:pt>
                <c:pt idx="25">
                  <c:v>0.0813742479006</c:v>
                </c:pt>
                <c:pt idx="26">
                  <c:v>0.0813527299328</c:v>
                </c:pt>
                <c:pt idx="27">
                  <c:v>0.0813418039269</c:v>
                </c:pt>
                <c:pt idx="28">
                  <c:v>0.0813360323512</c:v>
                </c:pt>
                <c:pt idx="29">
                  <c:v>0.0813324705274</c:v>
                </c:pt>
                <c:pt idx="30">
                  <c:v>0.0813308264781</c:v>
                </c:pt>
                <c:pt idx="31">
                  <c:v>0.0813303608423</c:v>
                </c:pt>
                <c:pt idx="32">
                  <c:v>0.0813301136112</c:v>
                </c:pt>
                <c:pt idx="33">
                  <c:v>0.081329894604</c:v>
                </c:pt>
                <c:pt idx="34">
                  <c:v>0.0813296843993</c:v>
                </c:pt>
                <c:pt idx="35">
                  <c:v>0.0813294818534</c:v>
                </c:pt>
                <c:pt idx="36">
                  <c:v>0.0813292857152</c:v>
                </c:pt>
                <c:pt idx="37">
                  <c:v>0.0813290961389</c:v>
                </c:pt>
                <c:pt idx="38">
                  <c:v>0.0813289123265</c:v>
                </c:pt>
                <c:pt idx="39">
                  <c:v>0.0813287346788</c:v>
                </c:pt>
                <c:pt idx="40">
                  <c:v>0.0813285626234</c:v>
                </c:pt>
                <c:pt idx="41">
                  <c:v>0.0813283956473</c:v>
                </c:pt>
                <c:pt idx="42">
                  <c:v>0.0813282340319</c:v>
                </c:pt>
                <c:pt idx="43">
                  <c:v>0.0813280770595</c:v>
                </c:pt>
                <c:pt idx="44">
                  <c:v>0.0813279252886</c:v>
                </c:pt>
                <c:pt idx="45">
                  <c:v>0.081327777665</c:v>
                </c:pt>
                <c:pt idx="46">
                  <c:v>0.081327634753</c:v>
                </c:pt>
                <c:pt idx="47">
                  <c:v>0.0813274949849</c:v>
                </c:pt>
                <c:pt idx="48">
                  <c:v>0.0813273600639</c:v>
                </c:pt>
                <c:pt idx="49">
                  <c:v>0.081327229548</c:v>
                </c:pt>
                <c:pt idx="50">
                  <c:v>0.0813271026898</c:v>
                </c:pt>
                <c:pt idx="51">
                  <c:v>0.0813269791577</c:v>
                </c:pt>
                <c:pt idx="52">
                  <c:v>0.0813268584868</c:v>
                </c:pt>
                <c:pt idx="53">
                  <c:v>0.0813267420533</c:v>
                </c:pt>
                <c:pt idx="54">
                  <c:v>0.0813266283108</c:v>
                </c:pt>
                <c:pt idx="55">
                  <c:v>0.0813265181481</c:v>
                </c:pt>
                <c:pt idx="56">
                  <c:v>0.0813264108322</c:v>
                </c:pt>
                <c:pt idx="57">
                  <c:v>0.0813263065383</c:v>
                </c:pt>
                <c:pt idx="58">
                  <c:v>0.0813262048369</c:v>
                </c:pt>
                <c:pt idx="59">
                  <c:v>0.0813261062002</c:v>
                </c:pt>
                <c:pt idx="60">
                  <c:v>0.081326010235</c:v>
                </c:pt>
                <c:pt idx="61">
                  <c:v>0.0813259166283</c:v>
                </c:pt>
                <c:pt idx="62">
                  <c:v>0.0813258250956</c:v>
                </c:pt>
                <c:pt idx="63">
                  <c:v>0.081325736635</c:v>
                </c:pt>
                <c:pt idx="64">
                  <c:v>0.0813256503289</c:v>
                </c:pt>
                <c:pt idx="65">
                  <c:v>0.0813255663578</c:v>
                </c:pt>
                <c:pt idx="66">
                  <c:v>0.081325484486</c:v>
                </c:pt>
                <c:pt idx="67">
                  <c:v>0.0813254045236</c:v>
                </c:pt>
                <c:pt idx="68">
                  <c:v>0.0813253270006</c:v>
                </c:pt>
                <c:pt idx="69">
                  <c:v>0.0813252514068</c:v>
                </c:pt>
                <c:pt idx="70">
                  <c:v>0.0813251774886</c:v>
                </c:pt>
                <c:pt idx="71">
                  <c:v>0.0813251050714</c:v>
                </c:pt>
                <c:pt idx="72">
                  <c:v>0.0813250352651</c:v>
                </c:pt>
                <c:pt idx="73">
                  <c:v>0.0813249672148</c:v>
                </c:pt>
                <c:pt idx="74">
                  <c:v>0.0813249001372</c:v>
                </c:pt>
                <c:pt idx="75">
                  <c:v>0.0813248353816</c:v>
                </c:pt>
                <c:pt idx="76">
                  <c:v>0.081324771904</c:v>
                </c:pt>
                <c:pt idx="77">
                  <c:v>0.0813247104738</c:v>
                </c:pt>
                <c:pt idx="78">
                  <c:v>0.0813246498579</c:v>
                </c:pt>
                <c:pt idx="79">
                  <c:v>0.0813245911758</c:v>
                </c:pt>
                <c:pt idx="80">
                  <c:v>0.0813245335114</c:v>
                </c:pt>
              </c:numCache>
            </c:numRef>
          </c:yVal>
        </c:ser>
        <c:ser>
          <c:idx val="3"/>
          <c:order val="3"/>
          <c:tx>
            <c:v>Zero growth</c:v>
          </c:tx>
          <c:spPr>
            <a:ln xmlns:a="http://schemas.openxmlformats.org/drawingml/2006/main" w="19050">
              <a:solidFill>
                <a:srgbClr val="8C9BA5"/>
              </a:solidFill>
              <a:prstDash val="dash"/>
            </a:ln>
          </c:spPr>
          <c:marker>
            <c:symbol val="none"/>
          </c:marker>
          <c:xVal>
            <c:numRef>
              <c:f>'Chart Data'!$G$2:$G$82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Data'!$H$2:$H$82</c:f>
              <c:numCache>
                <c:formatCode>0.000000</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0.15"/>
          <c:min val="-0.3"/>
        </c:scaling>
        <c:delete val="0"/>
        <c:axPos val="l"/>
        <c:majorGridlines>
          <c:spPr>
            <a:ln xmlns:a="http://schemas.openxmlformats.org/drawingml/2006/main" w="9525">
              <a:solidFill>
                <a:srgbClr val="DDE6EB"/>
              </a:solidFill>
            </a:ln>
          </c:spPr>
        </c:majorGridlines>
        <c:title>
          <c:tx>
            <c:rich>
              <a:bodyPr xmlns:a="http://schemas.openxmlformats.org/drawingml/2006/main"/>
              <a:lstStyle xmlns:a="http://schemas.openxmlformats.org/drawingml/2006/main"/>
              <a:p xmlns:a="http://schemas.openxmlformats.org/drawingml/2006/main">
                <a:r>
                  <a:rPr sz="1650">
                    <a:solidFill>
                      <a:srgbClr val="172D3C"/>
                    </a:solidFill>
                    <a:latin typeface="DejaVu Sans"/>
                    <a:ea typeface="DejaVu Sans"/>
                    <a:cs typeface="DejaVu Sans"/>
                  </a:rPr>
                  <a:t>Growth rate</a:t>
                </a:r>
              </a:p>
            </c:rich>
          </c:tx>
          <c:overlay val="0"/>
          <c:txPr>
            <a:bodyPr xmlns:a="http://schemas.openxmlformats.org/drawingml/2006/main" anchorCtr="1"/>
            <a:lstStyle xmlns:a="http://schemas.openxmlformats.org/drawingml/2006/main"/>
            <a:p xmlns:a="http://schemas.openxmlformats.org/drawingml/2006/main">
              <a:pPr>
                <a:defRPr sz="1650">
                  <a:solidFill>
                    <a:srgbClr val="172D3C"/>
                  </a:solidFill>
                  <a:latin typeface="DejaVu Sans"/>
                  <a:ea typeface="DejaVu Sans"/>
                  <a:cs typeface="DejaVu Sans"/>
                </a:defRPr>
              </a:pPr>
            </a:p>
          </c:txPr>
        </c:title>
        <c:numFmt formatCode="0.00"/>
        <c:majorTickMark val="none"/>
        <c:minorTickMark val="none"/>
        <c:spPr>
          <a:ln xmlns:a="http://schemas.openxmlformats.org/drawingml/2006/main" w="9525">
            <a:solidFill>
              <a:srgbClr val="DDE6EB"/>
            </a:solidFill>
          </a:ln>
        </c:spPr>
        <c:txPr>
          <a:bodyPr xmlns:a="http://schemas.openxmlformats.org/drawingml/2006/main" anchorCtr="1"/>
          <a:lstStyle xmlns:a="http://schemas.openxmlformats.org/drawingml/2006/main"/>
          <a:p xmlns:a="http://schemas.openxmlformats.org/drawingml/2006/main">
            <a:pPr>
              <a:defRPr sz="1500">
                <a:solidFill>
                  <a:srgbClr val="536978"/>
                </a:solidFill>
                <a:latin typeface="DejaVu Sans"/>
                <a:ea typeface="DejaVu Sans"/>
                <a:cs typeface="DejaVu Sans"/>
              </a:defRPr>
            </a:pPr>
          </a:p>
        </c:txPr>
        <c:crossAx val="48650112"/>
        <c:majorUnit val="0.15"/>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1650">
                    <a:solidFill>
                      <a:srgbClr val="172D3C"/>
                    </a:solidFill>
                    <a:latin typeface="DejaVu Sans"/>
                    <a:ea typeface="DejaVu Sans"/>
                    <a:cs typeface="DejaVu Sans"/>
                  </a:rPr>
                  <a:t>Elapsed model time</a:t>
                </a:r>
              </a:p>
            </c:rich>
          </c:tx>
          <c:overlay val="0"/>
          <c:txPr>
            <a:bodyPr xmlns:a="http://schemas.openxmlformats.org/drawingml/2006/main" anchorCtr="1"/>
            <a:lstStyle xmlns:a="http://schemas.openxmlformats.org/drawingml/2006/main"/>
            <a:p xmlns:a="http://schemas.openxmlformats.org/drawingml/2006/main">
              <a:pPr>
                <a:defRPr sz="1650">
                  <a:solidFill>
                    <a:srgbClr val="172D3C"/>
                  </a:solidFill>
                  <a:latin typeface="DejaVu Sans"/>
                  <a:ea typeface="DejaVu Sans"/>
                  <a:cs typeface="DejaVu Sans"/>
                </a:defRPr>
              </a:pPr>
            </a:p>
          </c:txPr>
        </c:title>
        <c:numFmt formatCode="0"/>
        <c:majorTickMark val="none"/>
        <c:minorTickMark val="none"/>
        <c:tickLblPos val="low"/>
        <c:spPr>
          <a:ln xmlns:a="http://schemas.openxmlformats.org/drawingml/2006/main" w="9525">
            <a:solidFill>
              <a:srgbClr val="DDE6EB"/>
            </a:solidFill>
          </a:ln>
        </c:spPr>
        <c:txPr>
          <a:bodyPr xmlns:a="http://schemas.openxmlformats.org/drawingml/2006/main" anchorCtr="1"/>
          <a:lstStyle xmlns:a="http://schemas.openxmlformats.org/drawingml/2006/main"/>
          <a:p xmlns:a="http://schemas.openxmlformats.org/drawingml/2006/main">
            <a:pPr>
              <a:defRPr sz="1500">
                <a:solidFill>
                  <a:srgbClr val="536978"/>
                </a:solidFill>
                <a:latin typeface="DejaVu Sans"/>
                <a:ea typeface="DejaVu Sans"/>
                <a:cs typeface="DejaVu Sans"/>
              </a:defRPr>
            </a:pPr>
          </a:p>
        </c:txPr>
        <c:crossAx val="48672768"/>
        <c:majorUnit val="6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D3C"/>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0">
                <a:solidFill>
                  <a:srgbClr val="172D3C"/>
                </a:solidFill>
                <a:latin typeface="DejaVu Sans"/>
                <a:ea typeface="DejaVu Sans"/>
                <a:cs typeface="DejaVu Sans"/>
              </a:rPr>
              <a:t>Developed-start chemical contrast</a:t>
            </a:r>
          </a:p>
        </c:rich>
      </c:tx>
      <c:overlay val="0"/>
      <c:txPr>
        <a:bodyPr xmlns:a="http://schemas.openxmlformats.org/drawingml/2006/main" anchorCtr="1"/>
        <a:lstStyle xmlns:a="http://schemas.openxmlformats.org/drawingml/2006/main"/>
        <a:p xmlns:a="http://schemas.openxmlformats.org/drawingml/2006/main">
          <a:pPr>
            <a:defRPr sz="2025" b="0">
              <a:solidFill>
                <a:srgbClr val="172D3C"/>
              </a:solidFill>
              <a:latin typeface="DejaVu Sans"/>
              <a:ea typeface="DejaVu Sans"/>
              <a:cs typeface="DejaVu Sans"/>
            </a:defRPr>
          </a:pPr>
        </a:p>
      </c:txPr>
    </c:title>
    <c:plotArea>
      <c:scatterChart>
        <c:scatterStyle val="line"/>
        <c:ser>
          <c:idx val="0"/>
          <c:order val="0"/>
          <c:tx>
            <c:v>History 7, χ = 0.35</c:v>
          </c:tx>
          <c:spPr>
            <a:ln xmlns:a="http://schemas.openxmlformats.org/drawingml/2006/main" w="28575">
              <a:solidFill>
                <a:srgbClr val="007F86"/>
              </a:solidFill>
              <a:prstDash val="solid"/>
            </a:ln>
          </c:spPr>
          <c:marker>
            <c:symbol val="none"/>
          </c:marker>
          <c:xVal>
            <c:numRef>
              <c:f>'Chart Data'!$A$2:$A$82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Data'!$B$2:$B$82</c:f>
              <c:numCache>
                <c:formatCode>0.000000</c:formatCode>
                <c:ptCount val="81"/>
                <c:pt idx="0">
                  <c:v>1.18185840297</c:v>
                </c:pt>
                <c:pt idx="1">
                  <c:v>1.1932569212</c:v>
                </c:pt>
                <c:pt idx="2">
                  <c:v>1.1971611258</c:v>
                </c:pt>
                <c:pt idx="3">
                  <c:v>1.20246721289</c:v>
                </c:pt>
                <c:pt idx="4">
                  <c:v>1.20823427416</c:v>
                </c:pt>
                <c:pt idx="5">
                  <c:v>1.2138272446</c:v>
                </c:pt>
                <c:pt idx="6">
                  <c:v>1.21929658171</c:v>
                </c:pt>
                <c:pt idx="7">
                  <c:v>1.22464524708</c:v>
                </c:pt>
                <c:pt idx="8">
                  <c:v>1.22987848293</c:v>
                </c:pt>
                <c:pt idx="9">
                  <c:v>1.23500194103</c:v>
                </c:pt>
                <c:pt idx="10">
                  <c:v>1.24002019793</c:v>
                </c:pt>
                <c:pt idx="11">
                  <c:v>1.24493738827</c:v>
                </c:pt>
                <c:pt idx="12">
                  <c:v>1.24975739364</c:v>
                </c:pt>
                <c:pt idx="13">
                  <c:v>1.2544839252</c:v>
                </c:pt>
                <c:pt idx="14">
                  <c:v>1.25912051157</c:v>
                </c:pt>
                <c:pt idx="15">
                  <c:v>1.26367058104</c:v>
                </c:pt>
                <c:pt idx="16">
                  <c:v>1.26813747383</c:v>
                </c:pt>
                <c:pt idx="17">
                  <c:v>1.27252434545</c:v>
                </c:pt>
                <c:pt idx="18">
                  <c:v>1.2768342573</c:v>
                </c:pt>
                <c:pt idx="19">
                  <c:v>1.28107011301</c:v>
                </c:pt>
                <c:pt idx="20">
                  <c:v>1.28523468939</c:v>
                </c:pt>
                <c:pt idx="21">
                  <c:v>1.28933059477</c:v>
                </c:pt>
                <c:pt idx="22">
                  <c:v>1.29336032912</c:v>
                </c:pt>
                <c:pt idx="23">
                  <c:v>1.2973262409</c:v>
                </c:pt>
                <c:pt idx="24">
                  <c:v>1.3012305116</c:v>
                </c:pt>
                <c:pt idx="25">
                  <c:v>1.30507525503</c:v>
                </c:pt>
                <c:pt idx="26">
                  <c:v>1.30886245081</c:v>
                </c:pt>
                <c:pt idx="27">
                  <c:v>1.31259394389</c:v>
                </c:pt>
                <c:pt idx="28">
                  <c:v>1.316271528</c:v>
                </c:pt>
                <c:pt idx="29">
                  <c:v>1.31989686387</c:v>
                </c:pt>
                <c:pt idx="30">
                  <c:v>1.32347155974</c:v>
                </c:pt>
                <c:pt idx="31">
                  <c:v>1.32699711021</c:v>
                </c:pt>
                <c:pt idx="32">
                  <c:v>1.33047499166</c:v>
                </c:pt>
                <c:pt idx="33">
                  <c:v>1.33390656506</c:v>
                </c:pt>
                <c:pt idx="34">
                  <c:v>1.33729318114</c:v>
                </c:pt>
                <c:pt idx="35">
                  <c:v>1.34063604061</c:v>
                </c:pt>
                <c:pt idx="36">
                  <c:v>1.34393635316</c:v>
                </c:pt>
                <c:pt idx="37">
                  <c:v>1.34719528194</c:v>
                </c:pt>
                <c:pt idx="38">
                  <c:v>1.3504139187</c:v>
                </c:pt>
                <c:pt idx="39">
                  <c:v>1.35359327919</c:v>
                </c:pt>
                <c:pt idx="40">
                  <c:v>1.35673438388</c:v>
                </c:pt>
                <c:pt idx="41">
                  <c:v>1.3598381998</c:v>
                </c:pt>
                <c:pt idx="42">
                  <c:v>1.36290561588</c:v>
                </c:pt>
                <c:pt idx="43">
                  <c:v>1.36593757662</c:v>
                </c:pt>
                <c:pt idx="44">
                  <c:v>1.36893488255</c:v>
                </c:pt>
                <c:pt idx="45">
                  <c:v>1.37189838754</c:v>
                </c:pt>
                <c:pt idx="46">
                  <c:v>1.37482889318</c:v>
                </c:pt>
                <c:pt idx="47">
                  <c:v>1.37772717656</c:v>
                </c:pt>
                <c:pt idx="48">
                  <c:v>1.38059399892</c:v>
                </c:pt>
                <c:pt idx="49">
                  <c:v>1.3834301046</c:v>
                </c:pt>
                <c:pt idx="50">
                  <c:v>1.38623621096</c:v>
                </c:pt>
                <c:pt idx="51">
                  <c:v>1.38901299874</c:v>
                </c:pt>
                <c:pt idx="52">
                  <c:v>1.39176111305</c:v>
                </c:pt>
                <c:pt idx="53">
                  <c:v>1.39448122903</c:v>
                </c:pt>
                <c:pt idx="54">
                  <c:v>1.39717396809</c:v>
                </c:pt>
                <c:pt idx="55">
                  <c:v>1.39983994102</c:v>
                </c:pt>
                <c:pt idx="56">
                  <c:v>1.40247970785</c:v>
                </c:pt>
                <c:pt idx="57">
                  <c:v>1.40509389999</c:v>
                </c:pt>
                <c:pt idx="58">
                  <c:v>1.40768300778</c:v>
                </c:pt>
                <c:pt idx="59">
                  <c:v>1.41024755896</c:v>
                </c:pt>
                <c:pt idx="60">
                  <c:v>1.41278809798</c:v>
                </c:pt>
                <c:pt idx="61">
                  <c:v>1.41530511844</c:v>
                </c:pt>
                <c:pt idx="62">
                  <c:v>1.41779906968</c:v>
                </c:pt>
                <c:pt idx="63">
                  <c:v>1.42027041604</c:v>
                </c:pt>
                <c:pt idx="64">
                  <c:v>1.422719588</c:v>
                </c:pt>
                <c:pt idx="65">
                  <c:v>1.42514702073</c:v>
                </c:pt>
                <c:pt idx="66">
                  <c:v>1.42755314768</c:v>
                </c:pt>
                <c:pt idx="67">
                  <c:v>1.42993831775</c:v>
                </c:pt>
                <c:pt idx="68">
                  <c:v>1.43230292376</c:v>
                </c:pt>
                <c:pt idx="69">
                  <c:v>1.43464736875</c:v>
                </c:pt>
                <c:pt idx="70">
                  <c:v>1.43697199355</c:v>
                </c:pt>
                <c:pt idx="71">
                  <c:v>1.4392771495</c:v>
                </c:pt>
                <c:pt idx="72">
                  <c:v>1.44156314869</c:v>
                </c:pt>
                <c:pt idx="73">
                  <c:v>1.44383032136</c:v>
                </c:pt>
                <c:pt idx="74">
                  <c:v>1.44607901856</c:v>
                </c:pt>
                <c:pt idx="75">
                  <c:v>1.44830955173</c:v>
                </c:pt>
                <c:pt idx="76">
                  <c:v>1.45052225244</c:v>
                </c:pt>
                <c:pt idx="77">
                  <c:v>1.45271748111</c:v>
                </c:pt>
                <c:pt idx="78">
                  <c:v>1.45489550755</c:v>
                </c:pt>
                <c:pt idx="79">
                  <c:v>1.45705675046</c:v>
                </c:pt>
                <c:pt idx="80">
                  <c:v>1.45920152044</c:v>
                </c:pt>
              </c:numCache>
            </c:numRef>
          </c:yVal>
        </c:ser>
        <c:ser>
          <c:idx val="1"/>
          <c:order val="1"/>
          <c:tx>
            <c:v>History 9, χ = 0.35</c:v>
          </c:tx>
          <c:spPr>
            <a:ln xmlns:a="http://schemas.openxmlformats.org/drawingml/2006/main" w="28575">
              <a:solidFill>
                <a:srgbClr val="7B4A98"/>
              </a:solidFill>
              <a:prstDash val="solid"/>
            </a:ln>
          </c:spPr>
          <c:marker>
            <c:symbol val="none"/>
          </c:marker>
          <c:xVal>
            <c:numRef>
              <c:f>'Chart Data'!$C$2:$C$82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Data'!$D$2:$D$82</c:f>
              <c:numCache>
                <c:formatCode>0.000000</c:formatCode>
                <c:ptCount val="81"/>
                <c:pt idx="0">
                  <c:v>1.2896225381</c:v>
                </c:pt>
                <c:pt idx="1">
                  <c:v>1.30643240565</c:v>
                </c:pt>
                <c:pt idx="2">
                  <c:v>1.31267055467</c:v>
                </c:pt>
                <c:pt idx="3">
                  <c:v>1.31786566269</c:v>
                </c:pt>
                <c:pt idx="4">
                  <c:v>1.32329447732</c:v>
                </c:pt>
                <c:pt idx="5">
                  <c:v>1.32853697081</c:v>
                </c:pt>
                <c:pt idx="6">
                  <c:v>1.3336730249</c:v>
                </c:pt>
                <c:pt idx="7">
                  <c:v>1.33870473125</c:v>
                </c:pt>
                <c:pt idx="8">
                  <c:v>1.34363548299</c:v>
                </c:pt>
                <c:pt idx="9">
                  <c:v>1.34846981488</c:v>
                </c:pt>
                <c:pt idx="10">
                  <c:v>1.3532115836</c:v>
                </c:pt>
                <c:pt idx="11">
                  <c:v>1.35786434631</c:v>
                </c:pt>
                <c:pt idx="12">
                  <c:v>1.36243149169</c:v>
                </c:pt>
                <c:pt idx="13">
                  <c:v>1.36691621954</c:v>
                </c:pt>
                <c:pt idx="14">
                  <c:v>1.37132151833</c:v>
                </c:pt>
                <c:pt idx="15">
                  <c:v>1.37565020512</c:v>
                </c:pt>
                <c:pt idx="16">
                  <c:v>1.37990488227</c:v>
                </c:pt>
                <c:pt idx="17">
                  <c:v>1.38408813179</c:v>
                </c:pt>
                <c:pt idx="18">
                  <c:v>1.38820228537</c:v>
                </c:pt>
                <c:pt idx="19">
                  <c:v>1.39224958389</c:v>
                </c:pt>
                <c:pt idx="20">
                  <c:v>1.39623213755</c:v>
                </c:pt>
                <c:pt idx="21">
                  <c:v>1.40015200863</c:v>
                </c:pt>
                <c:pt idx="22">
                  <c:v>1.40401118958</c:v>
                </c:pt>
                <c:pt idx="23">
                  <c:v>1.40781165314</c:v>
                </c:pt>
                <c:pt idx="24">
                  <c:v>1.41155530047</c:v>
                </c:pt>
                <c:pt idx="25">
                  <c:v>1.41524394916</c:v>
                </c:pt>
                <c:pt idx="26">
                  <c:v>1.41887934838</c:v>
                </c:pt>
                <c:pt idx="27">
                  <c:v>1.42246313087</c:v>
                </c:pt>
                <c:pt idx="28">
                  <c:v>1.42599685751</c:v>
                </c:pt>
                <c:pt idx="29">
                  <c:v>1.42948199803</c:v>
                </c:pt>
                <c:pt idx="30">
                  <c:v>1.43291995879</c:v>
                </c:pt>
                <c:pt idx="31">
                  <c:v>1.4363120845</c:v>
                </c:pt>
                <c:pt idx="32">
                  <c:v>1.43965966943</c:v>
                </c:pt>
                <c:pt idx="33">
                  <c:v>1.44296393514</c:v>
                </c:pt>
                <c:pt idx="34">
                  <c:v>1.44622605575</c:v>
                </c:pt>
                <c:pt idx="35">
                  <c:v>1.44944712985</c:v>
                </c:pt>
                <c:pt idx="36">
                  <c:v>1.45262826797</c:v>
                </c:pt>
                <c:pt idx="37">
                  <c:v>1.45577137507</c:v>
                </c:pt>
                <c:pt idx="38">
                  <c:v>1.45888617652</c:v>
                </c:pt>
                <c:pt idx="39">
                  <c:v>1.46195436531</c:v>
                </c:pt>
                <c:pt idx="40">
                  <c:v>1.46498665705</c:v>
                </c:pt>
                <c:pt idx="41">
                  <c:v>1.46798401152</c:v>
                </c:pt>
                <c:pt idx="42">
                  <c:v>1.4709472376</c:v>
                </c:pt>
                <c:pt idx="43">
                  <c:v>1.47387720966</c:v>
                </c:pt>
                <c:pt idx="44">
                  <c:v>1.47677477097</c:v>
                </c:pt>
                <c:pt idx="45">
                  <c:v>1.4796406722</c:v>
                </c:pt>
                <c:pt idx="46">
                  <c:v>1.48247546136</c:v>
                </c:pt>
                <c:pt idx="47">
                  <c:v>1.48527978065</c:v>
                </c:pt>
                <c:pt idx="48">
                  <c:v>1.48805464055</c:v>
                </c:pt>
                <c:pt idx="49">
                  <c:v>1.49080080796</c:v>
                </c:pt>
                <c:pt idx="50">
                  <c:v>1.49351894248</c:v>
                </c:pt>
                <c:pt idx="51">
                  <c:v>1.49620966652</c:v>
                </c:pt>
                <c:pt idx="52">
                  <c:v>1.49887363153</c:v>
                </c:pt>
                <c:pt idx="53">
                  <c:v>1.50151142124</c:v>
                </c:pt>
                <c:pt idx="54">
                  <c:v>1.50412358917</c:v>
                </c:pt>
                <c:pt idx="55">
                  <c:v>1.50671069994</c:v>
                </c:pt>
                <c:pt idx="56">
                  <c:v>1.50927327997</c:v>
                </c:pt>
                <c:pt idx="57">
                  <c:v>1.51181185758</c:v>
                </c:pt>
                <c:pt idx="58">
                  <c:v>1.51432695091</c:v>
                </c:pt>
                <c:pt idx="59">
                  <c:v>1.51681900297</c:v>
                </c:pt>
                <c:pt idx="60">
                  <c:v>1.51928850831</c:v>
                </c:pt>
                <c:pt idx="61">
                  <c:v>1.52173591243</c:v>
                </c:pt>
                <c:pt idx="62">
                  <c:v>1.52416164736</c:v>
                </c:pt>
                <c:pt idx="63">
                  <c:v>1.52656613236</c:v>
                </c:pt>
                <c:pt idx="64">
                  <c:v>1.52894977068</c:v>
                </c:pt>
                <c:pt idx="65">
                  <c:v>1.5313129487</c:v>
                </c:pt>
                <c:pt idx="66">
                  <c:v>1.53365605966</c:v>
                </c:pt>
                <c:pt idx="67">
                  <c:v>1.53597946493</c:v>
                </c:pt>
                <c:pt idx="68">
                  <c:v>1.5382835204</c:v>
                </c:pt>
                <c:pt idx="69">
                  <c:v>1.54056859533</c:v>
                </c:pt>
                <c:pt idx="70">
                  <c:v>1.5428350226</c:v>
                </c:pt>
                <c:pt idx="71">
                  <c:v>1.54508313894</c:v>
                </c:pt>
                <c:pt idx="72">
                  <c:v>1.54731324848</c:v>
                </c:pt>
                <c:pt idx="73">
                  <c:v>1.54952563934</c:v>
                </c:pt>
                <c:pt idx="74">
                  <c:v>1.55172064568</c:v>
                </c:pt>
                <c:pt idx="75">
                  <c:v>1.55389857386</c:v>
                </c:pt>
                <c:pt idx="76">
                  <c:v>1.55605970764</c:v>
                </c:pt>
                <c:pt idx="77">
                  <c:v>1.55820430246</c:v>
                </c:pt>
                <c:pt idx="78">
                  <c:v>1.56033268597</c:v>
                </c:pt>
                <c:pt idx="79">
                  <c:v>1.56244511821</c:v>
                </c:pt>
                <c:pt idx="80">
                  <c:v>1.56454187535</c:v>
                </c:pt>
              </c:numCache>
            </c:numRef>
          </c:yVal>
        </c:ser>
        <c:ser>
          <c:idx val="2"/>
          <c:order val="2"/>
          <c:tx>
            <c:v>Formation threshold</c:v>
          </c:tx>
          <c:spPr>
            <a:ln xmlns:a="http://schemas.openxmlformats.org/drawingml/2006/main" w="19050">
              <a:solidFill>
                <a:srgbClr val="8C9BA5"/>
              </a:solidFill>
              <a:prstDash val="dash"/>
            </a:ln>
          </c:spPr>
          <c:marker>
            <c:symbol val="none"/>
          </c:marker>
          <c:xVal>
            <c:numRef>
              <c:f>'Chart Data'!$E$2:$E$82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Data'!$F$2:$F$82</c:f>
              <c:numCache>
                <c:formatCode>0.000000</c:formatCode>
                <c:ptCount val="81"/>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0.1</c:v>
                </c:pt>
                <c:pt idx="70">
                  <c:v>0.1</c:v>
                </c:pt>
                <c:pt idx="71">
                  <c:v>0.1</c:v>
                </c:pt>
                <c:pt idx="72">
                  <c:v>0.1</c:v>
                </c:pt>
                <c:pt idx="73">
                  <c:v>0.1</c:v>
                </c:pt>
                <c:pt idx="74">
                  <c:v>0.1</c:v>
                </c:pt>
                <c:pt idx="75">
                  <c:v>0.1</c:v>
                </c:pt>
                <c:pt idx="76">
                  <c:v>0.1</c:v>
                </c:pt>
                <c:pt idx="77">
                  <c:v>0.1</c:v>
                </c:pt>
                <c:pt idx="78">
                  <c:v>0.1</c:v>
                </c:pt>
                <c:pt idx="79">
                  <c:v>0.1</c:v>
                </c:pt>
                <c:pt idx="80">
                  <c:v>0.1</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DDE6EB"/>
              </a:solidFill>
            </a:ln>
          </c:spPr>
        </c:majorGridlines>
        <c:title>
          <c:tx>
            <c:rich>
              <a:bodyPr xmlns:a="http://schemas.openxmlformats.org/drawingml/2006/main"/>
              <a:lstStyle xmlns:a="http://schemas.openxmlformats.org/drawingml/2006/main"/>
              <a:p xmlns:a="http://schemas.openxmlformats.org/drawingml/2006/main">
                <a:r>
                  <a:rPr sz="1650">
                    <a:solidFill>
                      <a:srgbClr val="172D3C"/>
                    </a:solidFill>
                    <a:latin typeface="DejaVu Sans"/>
                    <a:ea typeface="DejaVu Sans"/>
                    <a:cs typeface="DejaVu Sans"/>
                  </a:rPr>
                  <a:t>SD of log activator</a:t>
                </a:r>
              </a:p>
            </c:rich>
          </c:tx>
          <c:overlay val="0"/>
          <c:txPr>
            <a:bodyPr xmlns:a="http://schemas.openxmlformats.org/drawingml/2006/main" anchorCtr="1"/>
            <a:lstStyle xmlns:a="http://schemas.openxmlformats.org/drawingml/2006/main"/>
            <a:p xmlns:a="http://schemas.openxmlformats.org/drawingml/2006/main">
              <a:pPr>
                <a:defRPr sz="1650">
                  <a:solidFill>
                    <a:srgbClr val="172D3C"/>
                  </a:solidFill>
                  <a:latin typeface="DejaVu Sans"/>
                  <a:ea typeface="DejaVu Sans"/>
                  <a:cs typeface="DejaVu Sans"/>
                </a:defRPr>
              </a:pPr>
            </a:p>
          </c:txPr>
        </c:title>
        <c:numFmt formatCode="0.0"/>
        <c:majorTickMark val="none"/>
        <c:minorTickMark val="none"/>
        <c:spPr>
          <a:ln xmlns:a="http://schemas.openxmlformats.org/drawingml/2006/main" w="9525">
            <a:solidFill>
              <a:srgbClr val="DDE6EB"/>
            </a:solidFill>
          </a:ln>
        </c:spPr>
        <c:txPr>
          <a:bodyPr xmlns:a="http://schemas.openxmlformats.org/drawingml/2006/main" anchorCtr="1"/>
          <a:lstStyle xmlns:a="http://schemas.openxmlformats.org/drawingml/2006/main"/>
          <a:p xmlns:a="http://schemas.openxmlformats.org/drawingml/2006/main">
            <a:pPr>
              <a:defRPr sz="1500">
                <a:solidFill>
                  <a:srgbClr val="536978"/>
                </a:solidFill>
                <a:latin typeface="DejaVu Sans"/>
                <a:ea typeface="DejaVu Sans"/>
                <a:cs typeface="DejaVu Sans"/>
              </a:defRPr>
            </a:pPr>
          </a:p>
        </c:txPr>
        <c:crossAx val="48650112"/>
        <c:majorUnit val="0.3"/>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1650">
                    <a:solidFill>
                      <a:srgbClr val="172D3C"/>
                    </a:solidFill>
                    <a:latin typeface="DejaVu Sans"/>
                    <a:ea typeface="DejaVu Sans"/>
                    <a:cs typeface="DejaVu Sans"/>
                  </a:rPr>
                  <a:t>Elapsed model time</a:t>
                </a:r>
              </a:p>
            </c:rich>
          </c:tx>
          <c:overlay val="0"/>
          <c:txPr>
            <a:bodyPr xmlns:a="http://schemas.openxmlformats.org/drawingml/2006/main" anchorCtr="1"/>
            <a:lstStyle xmlns:a="http://schemas.openxmlformats.org/drawingml/2006/main"/>
            <a:p xmlns:a="http://schemas.openxmlformats.org/drawingml/2006/main">
              <a:pPr>
                <a:defRPr sz="1650">
                  <a:solidFill>
                    <a:srgbClr val="172D3C"/>
                  </a:solidFill>
                  <a:latin typeface="DejaVu Sans"/>
                  <a:ea typeface="DejaVu Sans"/>
                  <a:cs typeface="DejaVu Sans"/>
                </a:defRPr>
              </a:pPr>
            </a:p>
          </c:txPr>
        </c:title>
        <c:numFmt formatCode="0"/>
        <c:majorTickMark val="none"/>
        <c:minorTickMark val="none"/>
        <c:tickLblPos val="low"/>
        <c:spPr>
          <a:ln xmlns:a="http://schemas.openxmlformats.org/drawingml/2006/main" w="9525">
            <a:solidFill>
              <a:srgbClr val="DDE6EB"/>
            </a:solidFill>
          </a:ln>
        </c:spPr>
        <c:txPr>
          <a:bodyPr xmlns:a="http://schemas.openxmlformats.org/drawingml/2006/main" anchorCtr="1"/>
          <a:lstStyle xmlns:a="http://schemas.openxmlformats.org/drawingml/2006/main"/>
          <a:p xmlns:a="http://schemas.openxmlformats.org/drawingml/2006/main">
            <a:pPr>
              <a:defRPr sz="1500">
                <a:solidFill>
                  <a:srgbClr val="536978"/>
                </a:solidFill>
                <a:latin typeface="DejaVu Sans"/>
                <a:ea typeface="DejaVu Sans"/>
                <a:cs typeface="DejaVu Sans"/>
              </a:defRPr>
            </a:pPr>
          </a:p>
        </c:txPr>
        <c:crossAx val="48672768"/>
        <c:majorUnit val="6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D3C"/>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0">
                <a:solidFill>
                  <a:srgbClr val="172D3C"/>
                </a:solidFill>
                <a:latin typeface="DejaVu Sans"/>
                <a:ea typeface="DejaVu Sans"/>
                <a:cs typeface="DejaVu Sans"/>
              </a:rPr>
              <a:t>History 9, χ = 0.35, live contacts</a:t>
            </a:r>
          </a:p>
        </c:rich>
      </c:tx>
      <c:overlay val="0"/>
      <c:txPr>
        <a:bodyPr xmlns:a="http://schemas.openxmlformats.org/drawingml/2006/main" anchorCtr="1"/>
        <a:lstStyle xmlns:a="http://schemas.openxmlformats.org/drawingml/2006/main"/>
        <a:p xmlns:a="http://schemas.openxmlformats.org/drawingml/2006/main">
          <a:pPr>
            <a:defRPr sz="2025" b="0">
              <a:solidFill>
                <a:srgbClr val="172D3C"/>
              </a:solidFill>
              <a:latin typeface="DejaVu Sans"/>
              <a:ea typeface="DejaVu Sans"/>
              <a:cs typeface="DejaVu Sans"/>
            </a:defRPr>
          </a:pPr>
        </a:p>
      </c:txPr>
    </c:title>
    <c:plotArea>
      <c:scatterChart>
        <c:scatterStyle val="line"/>
        <c:ser>
          <c:idx val="0"/>
          <c:order val="0"/>
          <c:tx>
            <c:v>Developed chemical start</c:v>
          </c:tx>
          <c:spPr>
            <a:ln xmlns:a="http://schemas.openxmlformats.org/drawingml/2006/main" w="28575">
              <a:solidFill>
                <a:srgbClr val="007F86"/>
              </a:solidFill>
              <a:prstDash val="solid"/>
            </a:ln>
          </c:spPr>
          <c:marker>
            <c:symbol val="none"/>
          </c:marker>
          <c:xVal>
            <c:numRef>
              <c:f>'Chart Data'!$A$2:$A$82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Data'!$B$2:$B$82</c:f>
              <c:numCache>
                <c:formatCode>0.000000</c:formatCode>
                <c:ptCount val="81"/>
                <c:pt idx="0">
                  <c:v>1.2896225381</c:v>
                </c:pt>
                <c:pt idx="1">
                  <c:v>1.30643240565</c:v>
                </c:pt>
                <c:pt idx="2">
                  <c:v>1.31267055467</c:v>
                </c:pt>
                <c:pt idx="3">
                  <c:v>1.31786566269</c:v>
                </c:pt>
                <c:pt idx="4">
                  <c:v>1.32329447732</c:v>
                </c:pt>
                <c:pt idx="5">
                  <c:v>1.32853697081</c:v>
                </c:pt>
                <c:pt idx="6">
                  <c:v>1.3336730249</c:v>
                </c:pt>
                <c:pt idx="7">
                  <c:v>1.33870473125</c:v>
                </c:pt>
                <c:pt idx="8">
                  <c:v>1.34363548299</c:v>
                </c:pt>
                <c:pt idx="9">
                  <c:v>1.34846981488</c:v>
                </c:pt>
                <c:pt idx="10">
                  <c:v>1.3532115836</c:v>
                </c:pt>
                <c:pt idx="11">
                  <c:v>1.35786434631</c:v>
                </c:pt>
                <c:pt idx="12">
                  <c:v>1.36243149169</c:v>
                </c:pt>
                <c:pt idx="13">
                  <c:v>1.36691621954</c:v>
                </c:pt>
                <c:pt idx="14">
                  <c:v>1.37132151833</c:v>
                </c:pt>
                <c:pt idx="15">
                  <c:v>1.37565020512</c:v>
                </c:pt>
                <c:pt idx="16">
                  <c:v>1.37990488227</c:v>
                </c:pt>
                <c:pt idx="17">
                  <c:v>1.38408813179</c:v>
                </c:pt>
                <c:pt idx="18">
                  <c:v>1.38820228537</c:v>
                </c:pt>
                <c:pt idx="19">
                  <c:v>1.39224958389</c:v>
                </c:pt>
                <c:pt idx="20">
                  <c:v>1.39623213755</c:v>
                </c:pt>
                <c:pt idx="21">
                  <c:v>1.40015200863</c:v>
                </c:pt>
                <c:pt idx="22">
                  <c:v>1.40401118958</c:v>
                </c:pt>
                <c:pt idx="23">
                  <c:v>1.40781165314</c:v>
                </c:pt>
                <c:pt idx="24">
                  <c:v>1.41155530047</c:v>
                </c:pt>
                <c:pt idx="25">
                  <c:v>1.41524394916</c:v>
                </c:pt>
                <c:pt idx="26">
                  <c:v>1.41887934838</c:v>
                </c:pt>
                <c:pt idx="27">
                  <c:v>1.42246313087</c:v>
                </c:pt>
                <c:pt idx="28">
                  <c:v>1.42599685751</c:v>
                </c:pt>
                <c:pt idx="29">
                  <c:v>1.42948199803</c:v>
                </c:pt>
                <c:pt idx="30">
                  <c:v>1.43291995879</c:v>
                </c:pt>
                <c:pt idx="31">
                  <c:v>1.4363120845</c:v>
                </c:pt>
                <c:pt idx="32">
                  <c:v>1.43965966943</c:v>
                </c:pt>
                <c:pt idx="33">
                  <c:v>1.44296393514</c:v>
                </c:pt>
                <c:pt idx="34">
                  <c:v>1.44622605575</c:v>
                </c:pt>
                <c:pt idx="35">
                  <c:v>1.44944712985</c:v>
                </c:pt>
                <c:pt idx="36">
                  <c:v>1.45262826797</c:v>
                </c:pt>
                <c:pt idx="37">
                  <c:v>1.45577137507</c:v>
                </c:pt>
                <c:pt idx="38">
                  <c:v>1.45888617652</c:v>
                </c:pt>
                <c:pt idx="39">
                  <c:v>1.46195436531</c:v>
                </c:pt>
                <c:pt idx="40">
                  <c:v>1.46498665705</c:v>
                </c:pt>
                <c:pt idx="41">
                  <c:v>1.46798401152</c:v>
                </c:pt>
                <c:pt idx="42">
                  <c:v>1.4709472376</c:v>
                </c:pt>
                <c:pt idx="43">
                  <c:v>1.47387720966</c:v>
                </c:pt>
                <c:pt idx="44">
                  <c:v>1.47677477097</c:v>
                </c:pt>
                <c:pt idx="45">
                  <c:v>1.4796406722</c:v>
                </c:pt>
                <c:pt idx="46">
                  <c:v>1.48247546136</c:v>
                </c:pt>
                <c:pt idx="47">
                  <c:v>1.48527978065</c:v>
                </c:pt>
                <c:pt idx="48">
                  <c:v>1.48805464055</c:v>
                </c:pt>
                <c:pt idx="49">
                  <c:v>1.49080080796</c:v>
                </c:pt>
                <c:pt idx="50">
                  <c:v>1.49351894248</c:v>
                </c:pt>
                <c:pt idx="51">
                  <c:v>1.49620966652</c:v>
                </c:pt>
                <c:pt idx="52">
                  <c:v>1.49887363153</c:v>
                </c:pt>
                <c:pt idx="53">
                  <c:v>1.50151142124</c:v>
                </c:pt>
                <c:pt idx="54">
                  <c:v>1.50412358917</c:v>
                </c:pt>
                <c:pt idx="55">
                  <c:v>1.50671069994</c:v>
                </c:pt>
                <c:pt idx="56">
                  <c:v>1.50927327997</c:v>
                </c:pt>
                <c:pt idx="57">
                  <c:v>1.51181185758</c:v>
                </c:pt>
                <c:pt idx="58">
                  <c:v>1.51432695091</c:v>
                </c:pt>
                <c:pt idx="59">
                  <c:v>1.51681900297</c:v>
                </c:pt>
                <c:pt idx="60">
                  <c:v>1.51928850831</c:v>
                </c:pt>
                <c:pt idx="61">
                  <c:v>1.52173591243</c:v>
                </c:pt>
                <c:pt idx="62">
                  <c:v>1.52416164736</c:v>
                </c:pt>
                <c:pt idx="63">
                  <c:v>1.52656613236</c:v>
                </c:pt>
                <c:pt idx="64">
                  <c:v>1.52894977068</c:v>
                </c:pt>
                <c:pt idx="65">
                  <c:v>1.5313129487</c:v>
                </c:pt>
                <c:pt idx="66">
                  <c:v>1.53365605966</c:v>
                </c:pt>
                <c:pt idx="67">
                  <c:v>1.53597946493</c:v>
                </c:pt>
                <c:pt idx="68">
                  <c:v>1.5382835204</c:v>
                </c:pt>
                <c:pt idx="69">
                  <c:v>1.54056859533</c:v>
                </c:pt>
                <c:pt idx="70">
                  <c:v>1.5428350226</c:v>
                </c:pt>
                <c:pt idx="71">
                  <c:v>1.54508313894</c:v>
                </c:pt>
                <c:pt idx="72">
                  <c:v>1.54731324848</c:v>
                </c:pt>
                <c:pt idx="73">
                  <c:v>1.54952563934</c:v>
                </c:pt>
                <c:pt idx="74">
                  <c:v>1.55172064568</c:v>
                </c:pt>
                <c:pt idx="75">
                  <c:v>1.55389857386</c:v>
                </c:pt>
                <c:pt idx="76">
                  <c:v>1.55605970764</c:v>
                </c:pt>
                <c:pt idx="77">
                  <c:v>1.55820430246</c:v>
                </c:pt>
                <c:pt idx="78">
                  <c:v>1.56033268597</c:v>
                </c:pt>
                <c:pt idx="79">
                  <c:v>1.56244511821</c:v>
                </c:pt>
                <c:pt idx="80">
                  <c:v>1.56454187535</c:v>
                </c:pt>
              </c:numCache>
            </c:numRef>
          </c:yVal>
        </c:ser>
        <c:ser>
          <c:idx val="1"/>
          <c:order val="1"/>
          <c:tx>
            <c:v>Near-uniform chemical start</c:v>
          </c:tx>
          <c:spPr>
            <a:ln xmlns:a="http://schemas.openxmlformats.org/drawingml/2006/main" w="28575">
              <a:solidFill>
                <a:srgbClr val="C45D24"/>
              </a:solidFill>
              <a:prstDash val="solid"/>
            </a:ln>
          </c:spPr>
          <c:marker>
            <c:symbol val="none"/>
          </c:marker>
          <c:xVal>
            <c:numRef>
              <c:f>'Chart Data'!$C$2:$C$82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Data'!$D$2:$D$82</c:f>
              <c:numCache>
                <c:formatCode>0.000000</c:formatCode>
                <c:ptCount val="81"/>
                <c:pt idx="0">
                  <c:v>0.00110790546294</c:v>
                </c:pt>
                <c:pt idx="1">
                  <c:v>0.00185488285265</c:v>
                </c:pt>
                <c:pt idx="2">
                  <c:v>0.0020120005604</c:v>
                </c:pt>
                <c:pt idx="3">
                  <c:v>0.00224930209259</c:v>
                </c:pt>
                <c:pt idx="4">
                  <c:v>0.00252840609188</c:v>
                </c:pt>
                <c:pt idx="5">
                  <c:v>0.00283568262948</c:v>
                </c:pt>
                <c:pt idx="6">
                  <c:v>0.00316120722157</c:v>
                </c:pt>
                <c:pt idx="7">
                  <c:v>0.00349553514414</c:v>
                </c:pt>
                <c:pt idx="8">
                  <c:v>0.00382892434643</c:v>
                </c:pt>
                <c:pt idx="9">
                  <c:v>0.00415107073614</c:v>
                </c:pt>
                <c:pt idx="10">
                  <c:v>0.00445110106959</c:v>
                </c:pt>
                <c:pt idx="11">
                  <c:v>0.00471783933505</c:v>
                </c:pt>
                <c:pt idx="12">
                  <c:v>0.00494030508078</c:v>
                </c:pt>
                <c:pt idx="13">
                  <c:v>0.00510840659476</c:v>
                </c:pt>
                <c:pt idx="14">
                  <c:v>0.00521370095546</c:v>
                </c:pt>
                <c:pt idx="15">
                  <c:v>0.00525010809704</c:v>
                </c:pt>
                <c:pt idx="16">
                  <c:v>0.00521448311632</c:v>
                </c:pt>
                <c:pt idx="17">
                  <c:v>0.00510694718012</c:v>
                </c:pt>
                <c:pt idx="18">
                  <c:v>0.00493094972221</c:v>
                </c:pt>
                <c:pt idx="19">
                  <c:v>0.00469303878443</c:v>
                </c:pt>
                <c:pt idx="20">
                  <c:v>0.00440238335379</c:v>
                </c:pt>
                <c:pt idx="21">
                  <c:v>0.00407010084855</c:v>
                </c:pt>
                <c:pt idx="22">
                  <c:v>0.00370846312983</c:v>
                </c:pt>
                <c:pt idx="23">
                  <c:v>0.00333007108336</c:v>
                </c:pt>
                <c:pt idx="24">
                  <c:v>0.00294708480434</c:v>
                </c:pt>
                <c:pt idx="25">
                  <c:v>0.00257055654489</c:v>
                </c:pt>
                <c:pt idx="26">
                  <c:v>0.00220993058538</c:v>
                </c:pt>
                <c:pt idx="27">
                  <c:v>0.00187271679217</c:v>
                </c:pt>
                <c:pt idx="28">
                  <c:v>0.00156435473791</c:v>
                </c:pt>
                <c:pt idx="29">
                  <c:v>0.001288245439</c:v>
                </c:pt>
                <c:pt idx="30">
                  <c:v>0.00104590553997</c:v>
                </c:pt>
                <c:pt idx="31">
                  <c:v>0.000837238473464</c:v>
                </c:pt>
                <c:pt idx="32">
                  <c:v>0.000660845616216</c:v>
                </c:pt>
                <c:pt idx="33">
                  <c:v>0.000514370781568</c:v>
                </c:pt>
                <c:pt idx="34">
                  <c:v>0.000394829543415</c:v>
                </c:pt>
                <c:pt idx="35">
                  <c:v>0.000298905077544</c:v>
                </c:pt>
                <c:pt idx="36">
                  <c:v>0.000223190770012</c:v>
                </c:pt>
                <c:pt idx="37">
                  <c:v>0.000164386827115</c:v>
                </c:pt>
                <c:pt idx="38">
                  <c:v>0.000119436396658</c:v>
                </c:pt>
                <c:pt idx="39">
                  <c:v>8.56072429074E-05</c:v>
                </c:pt>
                <c:pt idx="40">
                  <c:v>6.05379837084E-05</c:v>
                </c:pt>
                <c:pt idx="41">
                  <c:v>4.22380389808E-05</c:v>
                </c:pt>
                <c:pt idx="42">
                  <c:v>2.90793932119E-05</c:v>
                </c:pt>
                <c:pt idx="43">
                  <c:v>1.97546997549E-05</c:v>
                </c:pt>
                <c:pt idx="44">
                  <c:v>1.32451537157E-05</c:v>
                </c:pt>
                <c:pt idx="45">
                  <c:v>8.76490113842E-06</c:v>
                </c:pt>
                <c:pt idx="46">
                  <c:v>5.72379829779E-06</c:v>
                </c:pt>
                <c:pt idx="47">
                  <c:v>3.69158407235E-06</c:v>
                </c:pt>
                <c:pt idx="48">
                  <c:v>2.34955186702E-06</c:v>
                </c:pt>
                <c:pt idx="49">
                  <c:v>1.47749470215E-06</c:v>
                </c:pt>
                <c:pt idx="50">
                  <c:v>9.18125600137E-07</c:v>
                </c:pt>
                <c:pt idx="51">
                  <c:v>5.64354051113E-07</c:v>
                </c:pt>
                <c:pt idx="52">
                  <c:v>3.43848414145E-07</c:v>
                </c:pt>
                <c:pt idx="53">
                  <c:v>2.08611800333E-07</c:v>
                </c:pt>
                <c:pt idx="54">
                  <c:v>1.27503353715E-07</c:v>
                </c:pt>
                <c:pt idx="55">
                  <c:v>7.97354670077E-08</c:v>
                </c:pt>
                <c:pt idx="56">
                  <c:v>5.37372727636E-08</c:v>
                </c:pt>
                <c:pt idx="57">
                  <c:v>3.93768227284E-08</c:v>
                </c:pt>
                <c:pt idx="58">
                  <c:v>3.28666738683E-08</c:v>
                </c:pt>
                <c:pt idx="59">
                  <c:v>2.94637765448E-08</c:v>
                </c:pt>
                <c:pt idx="60">
                  <c:v>2.83039540271E-08</c:v>
                </c:pt>
                <c:pt idx="61">
                  <c:v>2.58198130086E-08</c:v>
                </c:pt>
                <c:pt idx="62">
                  <c:v>2.50871487281E-08</c:v>
                </c:pt>
                <c:pt idx="63">
                  <c:v>2.42575874841E-08</c:v>
                </c:pt>
                <c:pt idx="64">
                  <c:v>2.33583815804E-08</c:v>
                </c:pt>
                <c:pt idx="65">
                  <c:v>2.24844373821E-08</c:v>
                </c:pt>
                <c:pt idx="66">
                  <c:v>2.18777398996E-08</c:v>
                </c:pt>
                <c:pt idx="67">
                  <c:v>2.107752511E-08</c:v>
                </c:pt>
                <c:pt idx="68">
                  <c:v>2.05324359573E-08</c:v>
                </c:pt>
                <c:pt idx="69">
                  <c:v>1.95884486343E-08</c:v>
                </c:pt>
                <c:pt idx="70">
                  <c:v>1.82183625777E-08</c:v>
                </c:pt>
                <c:pt idx="71">
                  <c:v>1.75388196227E-08</c:v>
                </c:pt>
                <c:pt idx="72">
                  <c:v>1.78117668158E-08</c:v>
                </c:pt>
                <c:pt idx="73">
                  <c:v>1.69163209838E-08</c:v>
                </c:pt>
                <c:pt idx="74">
                  <c:v>1.61172384787E-08</c:v>
                </c:pt>
                <c:pt idx="75">
                  <c:v>1.61956738631E-08</c:v>
                </c:pt>
                <c:pt idx="76">
                  <c:v>1.4717517044E-08</c:v>
                </c:pt>
                <c:pt idx="77">
                  <c:v>1.56833956189E-08</c:v>
                </c:pt>
                <c:pt idx="78">
                  <c:v>1.39012116394E-08</c:v>
                </c:pt>
                <c:pt idx="79">
                  <c:v>1.46155000775E-08</c:v>
                </c:pt>
                <c:pt idx="80">
                  <c:v>1.36316654658E-08</c:v>
                </c:pt>
              </c:numCache>
            </c:numRef>
          </c:yVal>
        </c:ser>
        <c:ser>
          <c:idx val="2"/>
          <c:order val="2"/>
          <c:tx>
            <c:v>Formation threshold</c:v>
          </c:tx>
          <c:spPr>
            <a:ln xmlns:a="http://schemas.openxmlformats.org/drawingml/2006/main" w="19050">
              <a:solidFill>
                <a:srgbClr val="8C9BA5"/>
              </a:solidFill>
              <a:prstDash val="dash"/>
            </a:ln>
          </c:spPr>
          <c:marker>
            <c:symbol val="none"/>
          </c:marker>
          <c:xVal>
            <c:numRef>
              <c:f>'Chart Data'!$E$2:$E$82</c:f>
              <c:numCache>
                <c:formatCode>0.0</c:formatCode>
                <c:ptCount val="81"/>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237</c:v>
                </c:pt>
                <c:pt idx="80">
                  <c:v>240</c:v>
                </c:pt>
              </c:numCache>
            </c:numRef>
          </c:xVal>
          <c:yVal>
            <c:numRef>
              <c:f>'Chart Data'!$F$2:$F$82</c:f>
              <c:numCache>
                <c:formatCode>0.000000</c:formatCode>
                <c:ptCount val="81"/>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0.1</c:v>
                </c:pt>
                <c:pt idx="70">
                  <c:v>0.1</c:v>
                </c:pt>
                <c:pt idx="71">
                  <c:v>0.1</c:v>
                </c:pt>
                <c:pt idx="72">
                  <c:v>0.1</c:v>
                </c:pt>
                <c:pt idx="73">
                  <c:v>0.1</c:v>
                </c:pt>
                <c:pt idx="74">
                  <c:v>0.1</c:v>
                </c:pt>
                <c:pt idx="75">
                  <c:v>0.1</c:v>
                </c:pt>
                <c:pt idx="76">
                  <c:v>0.1</c:v>
                </c:pt>
                <c:pt idx="77">
                  <c:v>0.1</c:v>
                </c:pt>
                <c:pt idx="78">
                  <c:v>0.1</c:v>
                </c:pt>
                <c:pt idx="79">
                  <c:v>0.1</c:v>
                </c:pt>
                <c:pt idx="80">
                  <c:v>0.1</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DDE6EB"/>
              </a:solidFill>
            </a:ln>
          </c:spPr>
        </c:majorGridlines>
        <c:title>
          <c:tx>
            <c:rich>
              <a:bodyPr xmlns:a="http://schemas.openxmlformats.org/drawingml/2006/main"/>
              <a:lstStyle xmlns:a="http://schemas.openxmlformats.org/drawingml/2006/main"/>
              <a:p xmlns:a="http://schemas.openxmlformats.org/drawingml/2006/main">
                <a:r>
                  <a:rPr sz="1650">
                    <a:solidFill>
                      <a:srgbClr val="172D3C"/>
                    </a:solidFill>
                    <a:latin typeface="DejaVu Sans"/>
                    <a:ea typeface="DejaVu Sans"/>
                    <a:cs typeface="DejaVu Sans"/>
                  </a:rPr>
                  <a:t>SD of log activator</a:t>
                </a:r>
              </a:p>
            </c:rich>
          </c:tx>
          <c:overlay val="0"/>
          <c:txPr>
            <a:bodyPr xmlns:a="http://schemas.openxmlformats.org/drawingml/2006/main" anchorCtr="1"/>
            <a:lstStyle xmlns:a="http://schemas.openxmlformats.org/drawingml/2006/main"/>
            <a:p xmlns:a="http://schemas.openxmlformats.org/drawingml/2006/main">
              <a:pPr>
                <a:defRPr sz="1650">
                  <a:solidFill>
                    <a:srgbClr val="172D3C"/>
                  </a:solidFill>
                  <a:latin typeface="DejaVu Sans"/>
                  <a:ea typeface="DejaVu Sans"/>
                  <a:cs typeface="DejaVu Sans"/>
                </a:defRPr>
              </a:pPr>
            </a:p>
          </c:txPr>
        </c:title>
        <c:numFmt formatCode="0.0"/>
        <c:majorTickMark val="none"/>
        <c:minorTickMark val="none"/>
        <c:spPr>
          <a:ln xmlns:a="http://schemas.openxmlformats.org/drawingml/2006/main" w="9525">
            <a:solidFill>
              <a:srgbClr val="DDE6EB"/>
            </a:solidFill>
          </a:ln>
        </c:spPr>
        <c:txPr>
          <a:bodyPr xmlns:a="http://schemas.openxmlformats.org/drawingml/2006/main" anchorCtr="1"/>
          <a:lstStyle xmlns:a="http://schemas.openxmlformats.org/drawingml/2006/main"/>
          <a:p xmlns:a="http://schemas.openxmlformats.org/drawingml/2006/main">
            <a:pPr>
              <a:defRPr sz="1500">
                <a:solidFill>
                  <a:srgbClr val="536978"/>
                </a:solidFill>
                <a:latin typeface="DejaVu Sans"/>
                <a:ea typeface="DejaVu Sans"/>
                <a:cs typeface="DejaVu Sans"/>
              </a:defRPr>
            </a:pPr>
          </a:p>
        </c:txPr>
        <c:crossAx val="48650112"/>
        <c:majorUnit val="0.3"/>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1650">
                    <a:solidFill>
                      <a:srgbClr val="172D3C"/>
                    </a:solidFill>
                    <a:latin typeface="DejaVu Sans"/>
                    <a:ea typeface="DejaVu Sans"/>
                    <a:cs typeface="DejaVu Sans"/>
                  </a:rPr>
                  <a:t>Elapsed model time</a:t>
                </a:r>
              </a:p>
            </c:rich>
          </c:tx>
          <c:overlay val="0"/>
          <c:txPr>
            <a:bodyPr xmlns:a="http://schemas.openxmlformats.org/drawingml/2006/main" anchorCtr="1"/>
            <a:lstStyle xmlns:a="http://schemas.openxmlformats.org/drawingml/2006/main"/>
            <a:p xmlns:a="http://schemas.openxmlformats.org/drawingml/2006/main">
              <a:pPr>
                <a:defRPr sz="1650">
                  <a:solidFill>
                    <a:srgbClr val="172D3C"/>
                  </a:solidFill>
                  <a:latin typeface="DejaVu Sans"/>
                  <a:ea typeface="DejaVu Sans"/>
                  <a:cs typeface="DejaVu Sans"/>
                </a:defRPr>
              </a:pPr>
            </a:p>
          </c:txPr>
        </c:title>
        <c:numFmt formatCode="0"/>
        <c:majorTickMark val="none"/>
        <c:minorTickMark val="none"/>
        <c:tickLblPos val="low"/>
        <c:spPr>
          <a:ln xmlns:a="http://schemas.openxmlformats.org/drawingml/2006/main" w="9525">
            <a:solidFill>
              <a:srgbClr val="DDE6EB"/>
            </a:solidFill>
          </a:ln>
        </c:spPr>
        <c:txPr>
          <a:bodyPr xmlns:a="http://schemas.openxmlformats.org/drawingml/2006/main" anchorCtr="1"/>
          <a:lstStyle xmlns:a="http://schemas.openxmlformats.org/drawingml/2006/main"/>
          <a:p xmlns:a="http://schemas.openxmlformats.org/drawingml/2006/main">
            <a:pPr>
              <a:defRPr sz="1500">
                <a:solidFill>
                  <a:srgbClr val="536978"/>
                </a:solidFill>
                <a:latin typeface="DejaVu Sans"/>
                <a:ea typeface="DejaVu Sans"/>
                <a:cs typeface="DejaVu Sans"/>
              </a:defRPr>
            </a:pPr>
          </a:p>
        </c:txPr>
        <c:crossAx val="48672768"/>
        <c:majorUnit val="6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D3C"/>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43bab6cf1544d6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7FD3E8-7B7B-4B4D-845D-2051F4FEF968}"/>
              </a:ext>
            </a:extLst>
          </p:cNvPr>
          <p:cNvSpPr>
            <a:spLocks xmlns:a="http://schemas.openxmlformats.org/drawingml/2006/main" noGrp="1"/>
          </p:cNvSpPr>
          <p:nvPr/>
        </p:nvSpPr>
        <p:spPr>
          <a:xfrm xmlns:a="http://schemas.openxmlformats.org/drawingml/2006/main">
            <a:off x="609600" y="1828800"/>
            <a:ext cx="65246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FFFFFF"/>
                </a:solidFill>
                <a:latin typeface="DejaVu Sans"/>
                <a:ea typeface="DejaVu Sans"/>
                <a:cs typeface="DejaVu Sans"/>
              </a:defRPr>
            </a:pPr>
            <a:r>
              <a:rPr sz="4050" b="1">
                <a:solidFill>
                  <a:srgbClr val="FFFFFF"/>
                </a:solidFill>
                <a:latin typeface="DejaVu Sans"/>
                <a:ea typeface="DejaVu Sans"/>
                <a:cs typeface="DejaVu Sans"/>
              </a:rPr>
              <a:t>Chemical order</a:t>
            </a:r>
          </a:p>
          <a:p xmlns:a="http://schemas.openxmlformats.org/drawingml/2006/main">
            <a:pPr algn="l">
              <a:defRPr sz="4050" b="1">
                <a:solidFill>
                  <a:srgbClr val="FFFFFF"/>
                </a:solidFill>
                <a:latin typeface="DejaVu Sans"/>
                <a:ea typeface="DejaVu Sans"/>
                <a:cs typeface="DejaVu Sans"/>
              </a:defRPr>
            </a:pPr>
            <a:r>
              <a:rPr sz="4050" b="1">
                <a:solidFill>
                  <a:srgbClr val="FFFFFF"/>
                </a:solidFill>
                <a:latin typeface="DejaVu Sans"/>
                <a:ea typeface="DejaVu Sans"/>
                <a:cs typeface="DejaVu Sans"/>
              </a:rPr>
              <a:t>in embryogenesis</a:t>
            </a:r>
          </a:p>
        </p:txBody>
      </p:sp>
      <p:sp>
        <p:nvSpPr>
          <p:cNvPr id="3" name="">
            <a:extLst xmlns:a="http://schemas.openxmlformats.org/drawingml/2006/main">
              <a:ext uri="{FF2B5EF4-FFF2-40B4-BE49-F238E27FC236}">
                <a16:creationId xmlns:a16="http://schemas.microsoft.com/office/drawing/2014/main" id="{B3CC442A-3C42-4771-BDF4-44C367CF3477}"/>
              </a:ext>
            </a:extLst>
          </p:cNvPr>
          <p:cNvSpPr>
            <a:spLocks xmlns:a="http://schemas.openxmlformats.org/drawingml/2006/main" noGrp="1"/>
          </p:cNvSpPr>
          <p:nvPr/>
        </p:nvSpPr>
        <p:spPr>
          <a:xfrm xmlns:a="http://schemas.openxmlformats.org/drawingml/2006/main">
            <a:off x="647700" y="3867150"/>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BDDDE5"/>
                </a:solidFill>
                <a:latin typeface="DejaVu Sans"/>
                <a:ea typeface="DejaVu Sans"/>
                <a:cs typeface="DejaVu Sans"/>
              </a:defRPr>
            </a:pPr>
            <a:r>
              <a:rPr sz="2400" b="0">
                <a:solidFill>
                  <a:srgbClr val="BDDDE5"/>
                </a:solidFill>
                <a:latin typeface="DejaVu Sans"/>
                <a:ea typeface="DejaVu Sans"/>
                <a:cs typeface="DejaVu Sans"/>
              </a:rPr>
              <a:t>Activator–inhibitor feedback</a:t>
            </a:r>
          </a:p>
          <a:p xmlns:a="http://schemas.openxmlformats.org/drawingml/2006/main">
            <a:pPr algn="l">
              <a:defRPr sz="2400" b="0">
                <a:solidFill>
                  <a:srgbClr val="BDDDE5"/>
                </a:solidFill>
                <a:latin typeface="DejaVu Sans"/>
                <a:ea typeface="DejaVu Sans"/>
                <a:cs typeface="DejaVu Sans"/>
              </a:defRPr>
            </a:pPr>
            <a:r>
              <a:rPr sz="2400" b="0">
                <a:solidFill>
                  <a:srgbClr val="BDDDE5"/>
                </a:solidFill>
                <a:latin typeface="DejaVu Sans"/>
                <a:ea typeface="DejaVu Sans"/>
                <a:cs typeface="DejaVu Sans"/>
              </a:rPr>
              <a:t>in changing 3D geometry</a:t>
            </a:r>
          </a:p>
        </p:txBody>
      </p:sp>
      <p:sp>
        <p:nvSpPr>
          <p:cNvPr id="4" name="">
            <a:extLst xmlns:a="http://schemas.openxmlformats.org/drawingml/2006/main">
              <a:ext uri="{FF2B5EF4-FFF2-40B4-BE49-F238E27FC236}">
                <a16:creationId xmlns:a16="http://schemas.microsoft.com/office/drawing/2014/main" id="{31F915F4-01AC-4851-9B82-505D17C1D267}"/>
              </a:ext>
            </a:extLst>
          </p:cNvPr>
          <p:cNvSpPr>
            <a:spLocks xmlns:a="http://schemas.openxmlformats.org/drawingml/2006/main" noGrp="1"/>
          </p:cNvSpPr>
          <p:nvPr/>
        </p:nvSpPr>
        <p:spPr>
          <a:xfrm xmlns:a="http://schemas.openxmlformats.org/drawingml/2006/main">
            <a:off x="647700" y="539115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BCD0DC"/>
                </a:solidFill>
                <a:latin typeface="DejaVu Sans"/>
                <a:ea typeface="DejaVu Sans"/>
                <a:cs typeface="DejaVu Sans"/>
              </a:defRPr>
            </a:pPr>
            <a:r>
              <a:rPr sz="1650" b="0">
                <a:solidFill>
                  <a:srgbClr val="BCD0DC"/>
                </a:solidFill>
                <a:latin typeface="DejaVu Sans"/>
                <a:ea typeface="DejaVu Sans"/>
                <a:cs typeface="DejaVu Sans"/>
              </a:rPr>
              <a:t>Research presentation</a:t>
            </a:r>
          </a:p>
          <a:p xmlns:a="http://schemas.openxmlformats.org/drawingml/2006/main">
            <a:pPr algn="l">
              <a:defRPr sz="1650" b="0">
                <a:solidFill>
                  <a:srgbClr val="BCD0DC"/>
                </a:solidFill>
                <a:latin typeface="DejaVu Sans"/>
                <a:ea typeface="DejaVu Sans"/>
                <a:cs typeface="DejaVu Sans"/>
              </a:defRPr>
            </a:pPr>
            <a:r>
              <a:rPr sz="1650" b="0">
                <a:solidFill>
                  <a:srgbClr val="BCD0DC"/>
                </a:solidFill>
                <a:latin typeface="DejaVu Sans"/>
                <a:ea typeface="DejaVu Sans"/>
                <a:cs typeface="DejaVu Sans"/>
              </a:rPr>
              <a:t>Evidence snapshot: 5 October 2026</a:t>
            </a:r>
          </a:p>
        </p:txBody>
      </p:sp>
      <p:sp>
        <p:nvSpPr>
          <p:cNvPr id="5" name="">
            <a:extLst xmlns:a="http://schemas.openxmlformats.org/drawingml/2006/main">
              <a:ext uri="{FF2B5EF4-FFF2-40B4-BE49-F238E27FC236}">
                <a16:creationId xmlns:a16="http://schemas.microsoft.com/office/drawing/2014/main" id="{82B65988-AD57-4F78-AC26-8AA1694EFF66}"/>
              </a:ext>
            </a:extLst>
          </p:cNvPr>
          <p:cNvSpPr>
            <a:spLocks xmlns:a="http://schemas.openxmlformats.org/drawingml/2006/main" noGrp="1"/>
          </p:cNvSpPr>
          <p:nvPr/>
        </p:nvSpPr>
        <p:spPr>
          <a:xfrm xmlns:a="http://schemas.openxmlformats.org/drawingml/2006/main">
            <a:off x="9048750" y="642937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BFD3DE"/>
                </a:solidFill>
                <a:latin typeface="DejaVu Sans"/>
                <a:ea typeface="DejaVu Sans"/>
                <a:cs typeface="DejaVu Sans"/>
              </a:defRPr>
            </a:pPr>
            <a:r>
              <a:rPr sz="1200" b="0">
                <a:solidFill>
                  <a:srgbClr val="BFD3DE"/>
                </a:solidFill>
                <a:latin typeface="DejaVu Sans"/>
                <a:ea typeface="DejaVu Sans"/>
                <a:cs typeface="DejaVu Sans"/>
              </a:rPr>
              <a:t>Conceptual illustration</a:t>
            </a:r>
          </a:p>
        </p:txBody>
      </p:sp>
    </p:spTree>
    <p:extLst>
      <p:ext uri="{BB962C8B-B14F-4D97-AF65-F5344CB8AC3E}">
        <p14:creationId xmlns:p14="http://schemas.microsoft.com/office/powerpoint/2010/main" val="8207344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1F0021-E7F4-44C7-BA56-0B1FC7B37F93}"/>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Formation and persistence need different conditions</a:t>
            </a:r>
          </a:p>
        </p:txBody>
      </p:sp>
      <p:sp>
        <p:nvSpPr>
          <p:cNvPr id="2" name="">
            <a:extLst xmlns:a="http://schemas.openxmlformats.org/drawingml/2006/main">
              <a:ext uri="{FF2B5EF4-FFF2-40B4-BE49-F238E27FC236}">
                <a16:creationId xmlns:a16="http://schemas.microsoft.com/office/drawing/2014/main" id="{6C0659D8-A738-4B54-A2A7-732B90126BCF}"/>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The main finding concerns chemical organization in a changing cell aggregate.</a:t>
            </a:r>
          </a:p>
        </p:txBody>
      </p:sp>
      <p:sp>
        <p:nvSpPr>
          <p:cNvPr id="3" name="">
            <a:extLst xmlns:a="http://schemas.openxmlformats.org/drawingml/2006/main">
              <a:ext uri="{FF2B5EF4-FFF2-40B4-BE49-F238E27FC236}">
                <a16:creationId xmlns:a16="http://schemas.microsoft.com/office/drawing/2014/main" id="{7D01A826-C59E-4811-BC8B-0306F9BEBDC9}"/>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50EDD7B1-AC00-4164-A7DB-89DEAFFDF7F0}"/>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316EC456-A36B-4C80-B517-F7D292709974}"/>
              </a:ext>
            </a:extLst>
          </p:cNvPr>
          <p:cNvSpPr>
            <a:spLocks xmlns:a="http://schemas.openxmlformats.org/drawingml/2006/main" noGrp="1"/>
          </p:cNvSpPr>
          <p:nvPr/>
        </p:nvSpPr>
        <p:spPr>
          <a:xfrm xmlns:a="http://schemas.openxmlformats.org/drawingml/2006/main">
            <a:off x="609600" y="2038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A pattern needs an opportunity to form</a:t>
            </a:r>
          </a:p>
        </p:txBody>
      </p:sp>
      <p:sp>
        <p:nvSpPr>
          <p:cNvPr id="6" name="">
            <a:extLst xmlns:a="http://schemas.openxmlformats.org/drawingml/2006/main">
              <a:ext uri="{FF2B5EF4-FFF2-40B4-BE49-F238E27FC236}">
                <a16:creationId xmlns:a16="http://schemas.microsoft.com/office/drawing/2014/main" id="{1EF60FC4-A899-4A2C-9B13-071B21623345}"/>
              </a:ext>
            </a:extLst>
          </p:cNvPr>
          <p:cNvSpPr>
            <a:spLocks xmlns:a="http://schemas.openxmlformats.org/drawingml/2006/main" noGrp="1"/>
          </p:cNvSpPr>
          <p:nvPr/>
        </p:nvSpPr>
        <p:spPr>
          <a:xfrm xmlns:a="http://schemas.openxmlformats.org/drawingml/2006/main">
            <a:off x="609600" y="24860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Evolving chemical conductances can remove the growing spatial modes before a small chemical difference becomes a pattern.</a:t>
            </a:r>
          </a:p>
        </p:txBody>
      </p:sp>
      <p:sp>
        <p:nvSpPr>
          <p:cNvPr id="7" name="">
            <a:extLst xmlns:a="http://schemas.openxmlformats.org/drawingml/2006/main">
              <a:ext uri="{FF2B5EF4-FFF2-40B4-BE49-F238E27FC236}">
                <a16:creationId xmlns:a16="http://schemas.microsoft.com/office/drawing/2014/main" id="{77F62DEF-68BD-43DE-8AC0-CE4B2E07046F}"/>
              </a:ext>
            </a:extLst>
          </p:cNvPr>
          <p:cNvSpPr>
            <a:spLocks xmlns:a="http://schemas.openxmlformats.org/drawingml/2006/main" noGrp="1"/>
          </p:cNvSpPr>
          <p:nvPr/>
        </p:nvSpPr>
        <p:spPr>
          <a:xfrm xmlns:a="http://schemas.openxmlformats.org/drawingml/2006/main">
            <a:off x="609600" y="3733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A developed pattern can persist</a:t>
            </a:r>
          </a:p>
        </p:txBody>
      </p:sp>
      <p:sp>
        <p:nvSpPr>
          <p:cNvPr id="8" name="">
            <a:extLst xmlns:a="http://schemas.openxmlformats.org/drawingml/2006/main">
              <a:ext uri="{FF2B5EF4-FFF2-40B4-BE49-F238E27FC236}">
                <a16:creationId xmlns:a16="http://schemas.microsoft.com/office/drawing/2014/main" id="{D90F5574-3271-46B0-8E6B-42664EE65A1D}"/>
              </a:ext>
            </a:extLst>
          </p:cNvPr>
          <p:cNvSpPr>
            <a:spLocks xmlns:a="http://schemas.openxmlformats.org/drawingml/2006/main" noGrp="1"/>
          </p:cNvSpPr>
          <p:nvPr/>
        </p:nvSpPr>
        <p:spPr>
          <a:xfrm xmlns:a="http://schemas.openxmlformats.org/drawingml/2006/main">
            <a:off x="609600" y="41814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Completed moving runs retain strong differences even after uniform chemistry becomes linearly stable on the instantaneous contact graph.</a:t>
            </a:r>
          </a:p>
        </p:txBody>
      </p:sp>
      <p:sp>
        <p:nvSpPr>
          <p:cNvPr id="9" name="">
            <a:extLst xmlns:a="http://schemas.openxmlformats.org/drawingml/2006/main">
              <a:ext uri="{FF2B5EF4-FFF2-40B4-BE49-F238E27FC236}">
                <a16:creationId xmlns:a16="http://schemas.microsoft.com/office/drawing/2014/main" id="{35E59672-7242-4290-99D2-92F6DB59DAE0}"/>
              </a:ext>
            </a:extLst>
          </p:cNvPr>
          <p:cNvSpPr>
            <a:spLocks xmlns:a="http://schemas.openxmlformats.org/drawingml/2006/main" noGrp="1"/>
          </p:cNvSpPr>
          <p:nvPr/>
        </p:nvSpPr>
        <p:spPr>
          <a:xfrm xmlns:a="http://schemas.openxmlformats.org/drawingml/2006/main">
            <a:off x="609600" y="56769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Scope: three existing developmental histories. Maintenance remains interim at 10/12 paths.</a:t>
            </a:r>
          </a:p>
        </p:txBody>
      </p:sp>
    </p:spTree>
    <p:extLst>
      <p:ext uri="{BB962C8B-B14F-4D97-AF65-F5344CB8AC3E}">
        <p14:creationId xmlns:p14="http://schemas.microsoft.com/office/powerpoint/2010/main" val="2732481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B6731B-8DC1-4CD0-815C-0F17ECEE9025}"/>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The question is how order emerges from one cell</a:t>
            </a:r>
          </a:p>
        </p:txBody>
      </p:sp>
      <p:sp>
        <p:nvSpPr>
          <p:cNvPr id="2" name="">
            <a:extLst xmlns:a="http://schemas.openxmlformats.org/drawingml/2006/main">
              <a:ext uri="{FF2B5EF4-FFF2-40B4-BE49-F238E27FC236}">
                <a16:creationId xmlns:a16="http://schemas.microsoft.com/office/drawing/2014/main" id="{D43492DB-5B1E-4635-976F-9A6771ABBFF4}"/>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We separate the project’s three objectives so each has its own evidence.</a:t>
            </a:r>
          </a:p>
        </p:txBody>
      </p:sp>
      <p:sp>
        <p:nvSpPr>
          <p:cNvPr id="3" name="">
            <a:extLst xmlns:a="http://schemas.openxmlformats.org/drawingml/2006/main">
              <a:ext uri="{FF2B5EF4-FFF2-40B4-BE49-F238E27FC236}">
                <a16:creationId xmlns:a16="http://schemas.microsoft.com/office/drawing/2014/main" id="{6728F772-EB0F-4A38-A0C1-FCD5EA545E7F}"/>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03023B60-736E-4563-88FC-4B4AB629B2A0}"/>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03</a:t>
            </a:r>
          </a:p>
        </p:txBody>
      </p:sp>
      <p:graphicFrame>
        <p:nvGraphicFramePr>
          <p:cNvPr id="11" name=""/>
          <p:cNvGraphicFramePr/>
          <p:nvPr/>
        </p:nvGraphicFramePr>
        <p:xfrm>
          <a:off xmlns:a="http://schemas.openxmlformats.org/drawingml/2006/main" x="609600" y="2038350"/>
          <a:ext xmlns:a="http://schemas.openxmlformats.org/drawingml/2006/main" cx="10972800" cy="3105150"/>
        </p:xfrm>
        <a:graphic xmlns:a="http://schemas.openxmlformats.org/drawingml/2006/main">
          <a:graphicData uri="http://schemas.openxmlformats.org/drawingml/2006/table">
            <a:tbl>
              <a:tblPr/>
              <a:tblGrid>
                <a:gridCol w="3000375"/>
                <a:gridCol w="3733800"/>
                <a:gridCol w="4238625"/>
              </a:tblGrid>
              <a:tr h="628650">
                <a:tc>
                  <a:txBody>
                    <a:bodyPr/>
                    <a:lstStyle/>
                    <a:p>
                      <a:r>
                        <a:rPr sz="1800" b="1">
                          <a:solidFill>
                            <a:srgbClr val="FFFFFF"/>
                          </a:solidFill>
                          <a:latin typeface="DejaVu Sans"/>
                          <a:ea typeface="DejaVu Sans"/>
                          <a:cs typeface="DejaVu Sans"/>
                        </a:rPr>
                        <a:t>Objective</a:t>
                      </a:r>
                    </a:p>
                  </a:txBody>
                  <a:tcPr marL="152400" marR="152400" marT="133350" marB="114300" anchor="ctr">
                    <a:solidFill>
                      <a:srgbClr val="172D3C"/>
                    </a:solidFill>
                  </a:tcPr>
                </a:tc>
                <a:tc>
                  <a:txBody>
                    <a:bodyPr/>
                    <a:lstStyle/>
                    <a:p>
                      <a:r>
                        <a:rPr sz="1800" b="1">
                          <a:solidFill>
                            <a:srgbClr val="FFFFFF"/>
                          </a:solidFill>
                          <a:latin typeface="DejaVu Sans"/>
                          <a:ea typeface="DejaVu Sans"/>
                          <a:cs typeface="DejaVu Sans"/>
                        </a:rPr>
                        <a:t>What we measure</a:t>
                      </a:r>
                    </a:p>
                  </a:txBody>
                  <a:tcPr marL="152400" marR="152400" marT="133350" marB="114300" anchor="ctr">
                    <a:solidFill>
                      <a:srgbClr val="172D3C"/>
                    </a:solidFill>
                  </a:tcPr>
                </a:tc>
                <a:tc>
                  <a:txBody>
                    <a:bodyPr/>
                    <a:lstStyle/>
                    <a:p>
                      <a:r>
                        <a:rPr sz="1800" b="1">
                          <a:solidFill>
                            <a:srgbClr val="FFFFFF"/>
                          </a:solidFill>
                          <a:latin typeface="DejaVu Sans"/>
                          <a:ea typeface="DejaVu Sans"/>
                          <a:cs typeface="DejaVu Sans"/>
                        </a:rPr>
                        <a:t>Current position</a:t>
                      </a:r>
                    </a:p>
                  </a:txBody>
                  <a:tcPr marL="152400" marR="152400" marT="133350" marB="114300" anchor="ctr">
                    <a:solidFill>
                      <a:srgbClr val="172D3C"/>
                    </a:solidFill>
                  </a:tcPr>
                </a:tc>
              </a:tr>
              <a:tr h="825500">
                <a:tc>
                  <a:txBody>
                    <a:bodyPr/>
                    <a:lstStyle/>
                    <a:p>
                      <a:r>
                        <a:rPr sz="1800" b="0">
                          <a:solidFill>
                            <a:srgbClr val="172D3C"/>
                          </a:solidFill>
                          <a:latin typeface="DejaVu Sans"/>
                          <a:ea typeface="DejaVu Sans"/>
                          <a:cs typeface="DejaVu Sans"/>
                        </a:rPr>
                        <a:t>Cell differentiation</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Persistent chemical states</a:t>
                      </a:r>
                    </a:p>
                    <a:p>
                      <a:r>
                        <a:rPr sz="1800" b="0">
                          <a:solidFill>
                            <a:srgbClr val="172D3C"/>
                          </a:solidFill>
                          <a:latin typeface="DejaVu Sans"/>
                          <a:ea typeface="DejaVu Sans"/>
                          <a:cs typeface="DejaVu Sans"/>
                        </a:rPr>
                        <a:t>and responses</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Chemical states emerge</a:t>
                      </a:r>
                    </a:p>
                    <a:p>
                      <a:r>
                        <a:rPr sz="1800" b="0">
                          <a:solidFill>
                            <a:srgbClr val="172D3C"/>
                          </a:solidFill>
                          <a:latin typeface="DejaVu Sans"/>
                          <a:ea typeface="DejaVu Sans"/>
                          <a:cs typeface="DejaVu Sans"/>
                        </a:rPr>
                        <a:t>Biological identity remains open</a:t>
                      </a:r>
                    </a:p>
                  </a:txBody>
                  <a:tcPr marL="152400" marR="152400" marT="133350" marB="114300" anchor="ctr">
                    <a:solidFill>
                      <a:srgbClr val="FFFFFF"/>
                    </a:solidFill>
                  </a:tcPr>
                </a:tc>
              </a:tr>
              <a:tr h="825500">
                <a:tc>
                  <a:txBody>
                    <a:bodyPr/>
                    <a:lstStyle/>
                    <a:p>
                      <a:r>
                        <a:rPr sz="1800" b="0">
                          <a:solidFill>
                            <a:srgbClr val="172D3C"/>
                          </a:solidFill>
                          <a:latin typeface="DejaVu Sans"/>
                          <a:ea typeface="DejaVu Sans"/>
                          <a:cs typeface="DejaVu Sans"/>
                        </a:rPr>
                        <a:t>Signaling symmetry breaking</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Contrast and growing modes</a:t>
                      </a:r>
                    </a:p>
                    <a:p>
                      <a:r>
                        <a:rPr sz="1800" b="0">
                          <a:solidFill>
                            <a:srgbClr val="172D3C"/>
                          </a:solidFill>
                          <a:latin typeface="DejaVu Sans"/>
                          <a:ea typeface="DejaVu Sans"/>
                          <a:cs typeface="DejaVu Sans"/>
                        </a:rPr>
                        <a:t>on the contact graph</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Strongest qualified result</a:t>
                      </a:r>
                    </a:p>
                  </a:txBody>
                  <a:tcPr marL="152400" marR="152400" marT="133350" marB="114300" anchor="ctr">
                    <a:solidFill>
                      <a:srgbClr val="F3F7F9"/>
                    </a:solidFill>
                  </a:tcPr>
                </a:tc>
              </a:tr>
              <a:tr h="825500">
                <a:tc>
                  <a:txBody>
                    <a:bodyPr/>
                    <a:lstStyle/>
                    <a:p>
                      <a:r>
                        <a:rPr sz="1800" b="0">
                          <a:solidFill>
                            <a:srgbClr val="172D3C"/>
                          </a:solidFill>
                          <a:latin typeface="DejaVu Sans"/>
                          <a:ea typeface="DejaVu Sans"/>
                          <a:cs typeface="DejaVu Sans"/>
                        </a:rPr>
                        <a:t>Shape symmetry breaking</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Persistent anisotropy</a:t>
                      </a:r>
                    </a:p>
                    <a:p>
                      <a:r>
                        <a:rPr sz="1800" b="0">
                          <a:solidFill>
                            <a:srgbClr val="172D3C"/>
                          </a:solidFill>
                          <a:latin typeface="DejaVu Sans"/>
                          <a:ea typeface="DejaVu Sans"/>
                          <a:cs typeface="DejaVu Sans"/>
                        </a:rPr>
                        <a:t>with mechanical controls</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Changing 3D shape</a:t>
                      </a:r>
                    </a:p>
                    <a:p>
                      <a:r>
                        <a:rPr sz="1800" b="0">
                          <a:solidFill>
                            <a:srgbClr val="172D3C"/>
                          </a:solidFill>
                          <a:latin typeface="DejaVu Sans"/>
                          <a:ea typeface="DejaVu Sans"/>
                          <a:cs typeface="DejaVu Sans"/>
                        </a:rPr>
                        <a:t>Chemical control of shape open</a:t>
                      </a:r>
                    </a:p>
                  </a:txBody>
                  <a:tcPr marL="152400" marR="152400" marT="133350" marB="1143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D1BA39-2461-4CA4-B508-EF750096917B}"/>
              </a:ext>
            </a:extLst>
          </p:cNvPr>
          <p:cNvSpPr>
            <a:spLocks xmlns:a="http://schemas.openxmlformats.org/drawingml/2006/main" noGrp="1"/>
          </p:cNvSpPr>
          <p:nvPr/>
        </p:nvSpPr>
        <p:spPr>
          <a:xfrm xmlns:a="http://schemas.openxmlformats.org/drawingml/2006/main">
            <a:off x="609600" y="5667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7F86"/>
                </a:solidFill>
                <a:latin typeface="DejaVu Sans"/>
                <a:ea typeface="DejaVu Sans"/>
                <a:cs typeface="DejaVu Sans"/>
              </a:defRPr>
            </a:pPr>
            <a:r>
              <a:rPr sz="1950" b="1">
                <a:solidFill>
                  <a:srgbClr val="007F86"/>
                </a:solidFill>
                <a:latin typeface="DejaVu Sans"/>
                <a:ea typeface="DejaVu Sans"/>
                <a:cs typeface="DejaVu Sans"/>
              </a:rPr>
              <a:t>No fixed A/B labels assign cell identities in the current attribute model.</a:t>
            </a:r>
          </a:p>
        </p:txBody>
      </p:sp>
    </p:spTree>
    <p:extLst>
      <p:ext uri="{BB962C8B-B14F-4D97-AF65-F5344CB8AC3E}">
        <p14:creationId xmlns:p14="http://schemas.microsoft.com/office/powerpoint/2010/main" val="13128470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082419-5415-4674-B4ED-FC89B3B143C1}"/>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Biology motivates the coupling</a:t>
            </a:r>
          </a:p>
        </p:txBody>
      </p:sp>
      <p:sp>
        <p:nvSpPr>
          <p:cNvPr id="2" name="">
            <a:extLst xmlns:a="http://schemas.openxmlformats.org/drawingml/2006/main">
              <a:ext uri="{FF2B5EF4-FFF2-40B4-BE49-F238E27FC236}">
                <a16:creationId xmlns:a16="http://schemas.microsoft.com/office/drawing/2014/main" id="{1D028829-13EC-485E-B204-82AF959C6B41}"/>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Theory and experiments support parts of the model, while its combination remains a hypothesis.</a:t>
            </a:r>
          </a:p>
        </p:txBody>
      </p:sp>
      <p:sp>
        <p:nvSpPr>
          <p:cNvPr id="3" name="">
            <a:extLst xmlns:a="http://schemas.openxmlformats.org/drawingml/2006/main">
              <a:ext uri="{FF2B5EF4-FFF2-40B4-BE49-F238E27FC236}">
                <a16:creationId xmlns:a16="http://schemas.microsoft.com/office/drawing/2014/main" id="{F9B5527E-A62A-430F-8F57-50460F6EE3BA}"/>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B36852AE-2F34-461C-9139-15145D3C7504}"/>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04</a:t>
            </a:r>
          </a:p>
        </p:txBody>
      </p:sp>
      <p:sp>
        <p:nvSpPr>
          <p:cNvPr id="5" name="">
            <a:extLst xmlns:a="http://schemas.openxmlformats.org/drawingml/2006/main">
              <a:ext uri="{FF2B5EF4-FFF2-40B4-BE49-F238E27FC236}">
                <a16:creationId xmlns:a16="http://schemas.microsoft.com/office/drawing/2014/main" id="{E34D361E-1695-4AC2-B6E4-EADAE527DB14}"/>
              </a:ext>
            </a:extLst>
          </p:cNvPr>
          <p:cNvSpPr>
            <a:spLocks xmlns:a="http://schemas.openxmlformats.org/drawingml/2006/main" noGrp="1"/>
          </p:cNvSpPr>
          <p:nvPr/>
        </p:nvSpPr>
        <p:spPr>
          <a:xfrm xmlns:a="http://schemas.openxmlformats.org/drawingml/2006/main">
            <a:off x="609600" y="20097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Chemical amplification has experimental support</a:t>
            </a:r>
          </a:p>
        </p:txBody>
      </p:sp>
      <p:sp>
        <p:nvSpPr>
          <p:cNvPr id="6" name="">
            <a:extLst xmlns:a="http://schemas.openxmlformats.org/drawingml/2006/main">
              <a:ext uri="{FF2B5EF4-FFF2-40B4-BE49-F238E27FC236}">
                <a16:creationId xmlns:a16="http://schemas.microsoft.com/office/drawing/2014/main" id="{03292D41-457E-4461-BE6A-7DB6C0FE2C68}"/>
              </a:ext>
            </a:extLst>
          </p:cNvPr>
          <p:cNvSpPr>
            <a:spLocks xmlns:a="http://schemas.openxmlformats.org/drawingml/2006/main" noGrp="1"/>
          </p:cNvSpPr>
          <p:nvPr/>
        </p:nvSpPr>
        <p:spPr>
          <a:xfrm xmlns:a="http://schemas.openxmlformats.org/drawingml/2006/main">
            <a:off x="609600" y="24574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Engineered mammalian Nodal–Lefty networks produce patterns through local activation and longer-range inhibition. [1]</a:t>
            </a:r>
          </a:p>
        </p:txBody>
      </p:sp>
      <p:sp>
        <p:nvSpPr>
          <p:cNvPr id="7" name="">
            <a:extLst xmlns:a="http://schemas.openxmlformats.org/drawingml/2006/main">
              <a:ext uri="{FF2B5EF4-FFF2-40B4-BE49-F238E27FC236}">
                <a16:creationId xmlns:a16="http://schemas.microsoft.com/office/drawing/2014/main" id="{7F3FF52B-E369-4D25-90F5-446BF05846E6}"/>
              </a:ext>
            </a:extLst>
          </p:cNvPr>
          <p:cNvSpPr>
            <a:spLocks xmlns:a="http://schemas.openxmlformats.org/drawingml/2006/main" noGrp="1"/>
          </p:cNvSpPr>
          <p:nvPr/>
        </p:nvSpPr>
        <p:spPr>
          <a:xfrm xmlns:a="http://schemas.openxmlformats.org/drawingml/2006/main">
            <a:off x="609600" y="3733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Mechanical differences can influence cell position</a:t>
            </a:r>
          </a:p>
        </p:txBody>
      </p:sp>
      <p:sp>
        <p:nvSpPr>
          <p:cNvPr id="8" name="">
            <a:extLst xmlns:a="http://schemas.openxmlformats.org/drawingml/2006/main">
              <a:ext uri="{FF2B5EF4-FFF2-40B4-BE49-F238E27FC236}">
                <a16:creationId xmlns:a16="http://schemas.microsoft.com/office/drawing/2014/main" id="{8A8CAF17-58D0-4016-BE3C-BFB1A6D6A246}"/>
              </a:ext>
            </a:extLst>
          </p:cNvPr>
          <p:cNvSpPr>
            <a:spLocks xmlns:a="http://schemas.openxmlformats.org/drawingml/2006/main" noGrp="1"/>
          </p:cNvSpPr>
          <p:nvPr/>
        </p:nvSpPr>
        <p:spPr>
          <a:xfrm xmlns:a="http://schemas.openxmlformats.org/drawingml/2006/main">
            <a:off x="609600" y="41814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Mouse embryo experiments connect apical domains, contractility and inner–outer positioning to fate specification. [2, 3]</a:t>
            </a:r>
          </a:p>
        </p:txBody>
      </p:sp>
      <p:sp>
        <p:nvSpPr>
          <p:cNvPr id="9" name="">
            <a:extLst xmlns:a="http://schemas.openxmlformats.org/drawingml/2006/main">
              <a:ext uri="{FF2B5EF4-FFF2-40B4-BE49-F238E27FC236}">
                <a16:creationId xmlns:a16="http://schemas.microsoft.com/office/drawing/2014/main" id="{0757D07D-7135-4EAA-9165-6EBD06D34DD5}"/>
              </a:ext>
            </a:extLst>
          </p:cNvPr>
          <p:cNvSpPr>
            <a:spLocks xmlns:a="http://schemas.openxmlformats.org/drawingml/2006/main" noGrp="1"/>
          </p:cNvSpPr>
          <p:nvPr/>
        </p:nvSpPr>
        <p:spPr>
          <a:xfrm xmlns:a="http://schemas.openxmlformats.org/drawingml/2006/main">
            <a:off x="609600" y="55245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7F86"/>
                </a:solidFill>
                <a:latin typeface="DejaVu Sans"/>
                <a:ea typeface="DejaVu Sans"/>
                <a:cs typeface="DejaVu Sans"/>
              </a:defRPr>
            </a:pPr>
            <a:r>
              <a:rPr sz="2175" b="1">
                <a:solidFill>
                  <a:srgbClr val="007F86"/>
                </a:solidFill>
                <a:latin typeface="DejaVu Sans"/>
                <a:ea typeface="DejaVu Sans"/>
                <a:cs typeface="DejaVu Sans"/>
              </a:rPr>
              <a:t>Our test: can changing mechanical contacts control when a generic chemical pattern forms and persists?</a:t>
            </a:r>
          </a:p>
        </p:txBody>
      </p:sp>
    </p:spTree>
    <p:extLst>
      <p:ext uri="{BB962C8B-B14F-4D97-AF65-F5344CB8AC3E}">
        <p14:creationId xmlns:p14="http://schemas.microsoft.com/office/powerpoint/2010/main" val="6445465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B3D237-E533-4A3C-9A24-E02097E30970}"/>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Cell state, polarity and identity have distinct meanings</a:t>
            </a:r>
          </a:p>
        </p:txBody>
      </p:sp>
      <p:sp>
        <p:nvSpPr>
          <p:cNvPr id="2" name="">
            <a:extLst xmlns:a="http://schemas.openxmlformats.org/drawingml/2006/main">
              <a:ext uri="{FF2B5EF4-FFF2-40B4-BE49-F238E27FC236}">
                <a16:creationId xmlns:a16="http://schemas.microsoft.com/office/drawing/2014/main" id="{9DCCB573-76D8-4E5D-889C-56F586CFDBD5}"/>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A state is what a cell has now. Identity requires a reproducible developmental behavior.</a:t>
            </a:r>
          </a:p>
        </p:txBody>
      </p:sp>
      <p:sp>
        <p:nvSpPr>
          <p:cNvPr id="3" name="">
            <a:extLst xmlns:a="http://schemas.openxmlformats.org/drawingml/2006/main">
              <a:ext uri="{FF2B5EF4-FFF2-40B4-BE49-F238E27FC236}">
                <a16:creationId xmlns:a16="http://schemas.microsoft.com/office/drawing/2014/main" id="{8E51D088-9786-4BA5-8E2D-275B10E21A01}"/>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3A131996-FCAB-49B5-93A9-F1629CCED380}"/>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05</a:t>
            </a:r>
          </a:p>
        </p:txBody>
      </p:sp>
      <p:graphicFrame>
        <p:nvGraphicFramePr>
          <p:cNvPr id="10" name=""/>
          <p:cNvGraphicFramePr/>
          <p:nvPr/>
        </p:nvGraphicFramePr>
        <p:xfrm>
          <a:off xmlns:a="http://schemas.openxmlformats.org/drawingml/2006/main" x="609600" y="2038350"/>
          <a:ext xmlns:a="http://schemas.openxmlformats.org/drawingml/2006/main" cx="10972800" cy="3714750"/>
        </p:xfrm>
        <a:graphic xmlns:a="http://schemas.openxmlformats.org/drawingml/2006/main">
          <a:graphicData uri="http://schemas.openxmlformats.org/drawingml/2006/table">
            <a:tbl>
              <a:tblPr/>
              <a:tblGrid>
                <a:gridCol w="2800350"/>
                <a:gridCol w="8172450"/>
              </a:tblGrid>
              <a:tr h="628650">
                <a:tc>
                  <a:txBody>
                    <a:bodyPr/>
                    <a:lstStyle/>
                    <a:p>
                      <a:r>
                        <a:rPr sz="1875" b="1">
                          <a:solidFill>
                            <a:srgbClr val="FFFFFF"/>
                          </a:solidFill>
                          <a:latin typeface="DejaVu Sans"/>
                          <a:ea typeface="DejaVu Sans"/>
                          <a:cs typeface="DejaVu Sans"/>
                        </a:rPr>
                        <a:t>Term</a:t>
                      </a:r>
                    </a:p>
                  </a:txBody>
                  <a:tcPr marL="152400" marR="152400" marT="133350" marB="114300" anchor="ctr">
                    <a:solidFill>
                      <a:srgbClr val="172D3C"/>
                    </a:solidFill>
                  </a:tcPr>
                </a:tc>
                <a:tc>
                  <a:txBody>
                    <a:bodyPr/>
                    <a:lstStyle/>
                    <a:p>
                      <a:r>
                        <a:rPr sz="1875" b="1">
                          <a:solidFill>
                            <a:srgbClr val="FFFFFF"/>
                          </a:solidFill>
                          <a:latin typeface="DejaVu Sans"/>
                          <a:ea typeface="DejaVu Sans"/>
                          <a:cs typeface="DejaVu Sans"/>
                        </a:rPr>
                        <a:t>Operational meaning</a:t>
                      </a:r>
                    </a:p>
                  </a:txBody>
                  <a:tcPr marL="152400" marR="152400" marT="133350" marB="114300" anchor="ctr">
                    <a:solidFill>
                      <a:srgbClr val="172D3C"/>
                    </a:solidFill>
                  </a:tcPr>
                </a:tc>
              </a:tr>
              <a:tr h="771525">
                <a:tc>
                  <a:txBody>
                    <a:bodyPr/>
                    <a:lstStyle/>
                    <a:p>
                      <a:r>
                        <a:rPr sz="1875" b="0">
                          <a:solidFill>
                            <a:srgbClr val="172D3C"/>
                          </a:solidFill>
                          <a:latin typeface="DejaVu Sans"/>
                          <a:ea typeface="DejaVu Sans"/>
                          <a:cs typeface="DejaVu Sans"/>
                        </a:rPr>
                        <a:t>Chemical state</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Activator aᵢ and inhibitor bᵢ, continuous and well mixed within each cell</a:t>
                      </a:r>
                    </a:p>
                  </a:txBody>
                  <a:tcPr marL="152400" marR="152400" marT="133350" marB="114300" anchor="ctr">
                    <a:solidFill>
                      <a:srgbClr val="FFFFFF"/>
                    </a:solidFill>
                  </a:tcPr>
                </a:tc>
              </a:tr>
              <a:tr h="771525">
                <a:tc>
                  <a:txBody>
                    <a:bodyPr/>
                    <a:lstStyle/>
                    <a:p>
                      <a:r>
                        <a:rPr sz="1875" b="0">
                          <a:solidFill>
                            <a:srgbClr val="172D3C"/>
                          </a:solidFill>
                          <a:latin typeface="DejaVu Sans"/>
                          <a:ea typeface="DejaVu Sans"/>
                          <a:cs typeface="DejaVu Sans"/>
                        </a:rPr>
                        <a:t>Polarity pᵢ</a:t>
                      </a:r>
                    </a:p>
                  </a:txBody>
                  <a:tcPr marL="152400" marR="152400" marT="133350" marB="114300" anchor="ctr">
                    <a:solidFill>
                      <a:srgbClr val="F3F7F9"/>
                    </a:solidFill>
                  </a:tcPr>
                </a:tc>
                <a:tc>
                  <a:txBody>
                    <a:bodyPr/>
                    <a:lstStyle/>
                    <a:p>
                      <a:r>
                        <a:rPr sz="1875" b="0">
                          <a:solidFill>
                            <a:srgbClr val="172D3C"/>
                          </a:solidFill>
                          <a:latin typeface="DejaVu Sans"/>
                          <a:ea typeface="DejaVu Sans"/>
                          <a:cs typeface="DejaVu Sans"/>
                        </a:rPr>
                        <a:t>An apical direction with a strength between 0 and 1</a:t>
                      </a:r>
                    </a:p>
                  </a:txBody>
                  <a:tcPr marL="152400" marR="152400" marT="133350" marB="114300" anchor="ctr">
                    <a:solidFill>
                      <a:srgbClr val="F3F7F9"/>
                    </a:solidFill>
                  </a:tcPr>
                </a:tc>
              </a:tr>
              <a:tr h="771525">
                <a:tc>
                  <a:txBody>
                    <a:bodyPr/>
                    <a:lstStyle/>
                    <a:p>
                      <a:r>
                        <a:rPr sz="1875" b="0">
                          <a:solidFill>
                            <a:srgbClr val="172D3C"/>
                          </a:solidFill>
                          <a:latin typeface="DejaVu Sans"/>
                          <a:ea typeface="DejaVu Sans"/>
                          <a:cs typeface="DejaVu Sans"/>
                        </a:rPr>
                        <a:t>Chemical differentiation</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Persistent across-cell differences in state or response</a:t>
                      </a:r>
                    </a:p>
                  </a:txBody>
                  <a:tcPr marL="152400" marR="152400" marT="133350" marB="114300" anchor="ctr">
                    <a:solidFill>
                      <a:srgbClr val="FFFFFF"/>
                    </a:solidFill>
                  </a:tcPr>
                </a:tc>
              </a:tr>
              <a:tr h="771525">
                <a:tc>
                  <a:txBody>
                    <a:bodyPr/>
                    <a:lstStyle/>
                    <a:p>
                      <a:r>
                        <a:rPr sz="1875" b="0">
                          <a:solidFill>
                            <a:srgbClr val="172D3C"/>
                          </a:solidFill>
                          <a:latin typeface="DejaVu Sans"/>
                          <a:ea typeface="DejaVu Sans"/>
                          <a:cs typeface="DejaVu Sans"/>
                        </a:rPr>
                        <a:t>Cell identity</a:t>
                      </a:r>
                    </a:p>
                  </a:txBody>
                  <a:tcPr marL="152400" marR="152400" marT="133350" marB="114300" anchor="ctr">
                    <a:solidFill>
                      <a:srgbClr val="F3F7F9"/>
                    </a:solidFill>
                  </a:tcPr>
                </a:tc>
                <a:tc>
                  <a:txBody>
                    <a:bodyPr/>
                    <a:lstStyle/>
                    <a:p>
                      <a:r>
                        <a:rPr sz="1875" b="0">
                          <a:solidFill>
                            <a:srgbClr val="172D3C"/>
                          </a:solidFill>
                          <a:latin typeface="DejaVu Sans"/>
                          <a:ea typeface="DejaVu Sans"/>
                          <a:cs typeface="DejaVu Sans"/>
                        </a:rPr>
                        <a:t>A reproducible attribute/behavior class, tested for persistence, context dependence and inheritance</a:t>
                      </a:r>
                    </a:p>
                  </a:txBody>
                  <a:tcPr marL="152400" marR="152400" marT="133350" marB="114300" anchor="ctr">
                    <a:solidFill>
                      <a:srgbClr val="F3F7F9"/>
                    </a:solidFill>
                  </a:tcPr>
                </a:tc>
              </a:tr>
            </a:tbl>
          </a:graphicData>
        </a:graphic>
      </p:graphicFrame>
    </p:spTree>
    <p:extLst>
      <p:ext uri="{BB962C8B-B14F-4D97-AF65-F5344CB8AC3E}">
        <p14:creationId xmlns:p14="http://schemas.microsoft.com/office/powerpoint/2010/main" val="3060218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61636B-EE95-4EC1-A759-6C2AFF6E7F9C}"/>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Local activation and inhibition amplify differences</a:t>
            </a:r>
          </a:p>
        </p:txBody>
      </p:sp>
      <p:sp>
        <p:nvSpPr>
          <p:cNvPr id="2" name="">
            <a:extLst xmlns:a="http://schemas.openxmlformats.org/drawingml/2006/main">
              <a:ext uri="{FF2B5EF4-FFF2-40B4-BE49-F238E27FC236}">
                <a16:creationId xmlns:a16="http://schemas.microsoft.com/office/drawing/2014/main" id="{A7758C33-62B7-4854-993E-9C1F106F629B}"/>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Gierer–Meinhardt chemistry operates inside each cell and exchanges chemicals between cells.</a:t>
            </a:r>
          </a:p>
        </p:txBody>
      </p:sp>
      <p:sp>
        <p:nvSpPr>
          <p:cNvPr id="3" name="">
            <a:extLst xmlns:a="http://schemas.openxmlformats.org/drawingml/2006/main">
              <a:ext uri="{FF2B5EF4-FFF2-40B4-BE49-F238E27FC236}">
                <a16:creationId xmlns:a16="http://schemas.microsoft.com/office/drawing/2014/main" id="{0D6CD707-C68B-4856-848C-4FC600DBA0DA}"/>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1140335A-8BED-48DC-B92A-B829FDE21BB2}"/>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06</a:t>
            </a:r>
          </a:p>
        </p:txBody>
      </p:sp>
      <p:sp>
        <p:nvSpPr>
          <p:cNvPr id="5" name="">
            <a:extLst xmlns:a="http://schemas.openxmlformats.org/drawingml/2006/main">
              <a:ext uri="{FF2B5EF4-FFF2-40B4-BE49-F238E27FC236}">
                <a16:creationId xmlns:a16="http://schemas.microsoft.com/office/drawing/2014/main" id="{0159B835-4AD8-4522-B05D-4C4142CCE0D0}"/>
              </a:ext>
            </a:extLst>
          </p:cNvPr>
          <p:cNvSpPr>
            <a:spLocks xmlns:a="http://schemas.openxmlformats.org/drawingml/2006/main" noGrp="1"/>
          </p:cNvSpPr>
          <p:nvPr/>
        </p:nvSpPr>
        <p:spPr>
          <a:xfrm xmlns:a="http://schemas.openxmlformats.org/drawingml/2006/main">
            <a:off x="609600" y="21526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2D3C"/>
                </a:solidFill>
                <a:latin typeface="DejaVu Sans"/>
                <a:ea typeface="DejaVu Sans"/>
                <a:cs typeface="DejaVu Sans"/>
              </a:defRPr>
            </a:pPr>
            <a:r>
              <a:rPr sz="2550" b="1">
                <a:solidFill>
                  <a:srgbClr val="172D3C"/>
                </a:solidFill>
                <a:latin typeface="DejaVu Sans"/>
                <a:ea typeface="DejaVu Sans"/>
                <a:cs typeface="DejaVu Sans"/>
              </a:rPr>
              <a:t>daᵢ/dt = aᵢ²/bᵢ − aᵢ + Dₐ(Δᵥa)ᵢ − aᵢ d ln Vᵢ/dt</a:t>
            </a:r>
          </a:p>
        </p:txBody>
      </p:sp>
      <p:sp>
        <p:nvSpPr>
          <p:cNvPr id="6" name="">
            <a:extLst xmlns:a="http://schemas.openxmlformats.org/drawingml/2006/main">
              <a:ext uri="{FF2B5EF4-FFF2-40B4-BE49-F238E27FC236}">
                <a16:creationId xmlns:a16="http://schemas.microsoft.com/office/drawing/2014/main" id="{E31DE656-E03D-46DB-8451-4D0623BB906D}"/>
              </a:ext>
            </a:extLst>
          </p:cNvPr>
          <p:cNvSpPr>
            <a:spLocks xmlns:a="http://schemas.openxmlformats.org/drawingml/2006/main" noGrp="1"/>
          </p:cNvSpPr>
          <p:nvPr/>
        </p:nvSpPr>
        <p:spPr>
          <a:xfrm xmlns:a="http://schemas.openxmlformats.org/drawingml/2006/main">
            <a:off x="609600" y="3048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2D3C"/>
                </a:solidFill>
                <a:latin typeface="DejaVu Sans"/>
                <a:ea typeface="DejaVu Sans"/>
                <a:cs typeface="DejaVu Sans"/>
              </a:defRPr>
            </a:pPr>
            <a:r>
              <a:rPr sz="2550" b="1">
                <a:solidFill>
                  <a:srgbClr val="172D3C"/>
                </a:solidFill>
                <a:latin typeface="DejaVu Sans"/>
                <a:ea typeface="DejaVu Sans"/>
                <a:cs typeface="DejaVu Sans"/>
              </a:rPr>
              <a:t>dbᵢ/dt = β(aᵢ² − bᵢ) + Dᵦ(Δᵥb)ᵢ − bᵢ d ln Vᵢ/dt</a:t>
            </a:r>
          </a:p>
        </p:txBody>
      </p:sp>
      <p:sp>
        <p:nvSpPr>
          <p:cNvPr id="7" name="">
            <a:extLst xmlns:a="http://schemas.openxmlformats.org/drawingml/2006/main">
              <a:ext uri="{FF2B5EF4-FFF2-40B4-BE49-F238E27FC236}">
                <a16:creationId xmlns:a16="http://schemas.microsoft.com/office/drawing/2014/main" id="{DB1A72F9-9ED6-4F51-A708-F90A6652B4FF}"/>
              </a:ext>
            </a:extLst>
          </p:cNvPr>
          <p:cNvSpPr>
            <a:spLocks xmlns:a="http://schemas.openxmlformats.org/drawingml/2006/main" noGrp="1"/>
          </p:cNvSpPr>
          <p:nvPr/>
        </p:nvSpPr>
        <p:spPr>
          <a:xfrm xmlns:a="http://schemas.openxmlformats.org/drawingml/2006/main">
            <a:off x="609600" y="4019550"/>
            <a:ext cx="109728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36978"/>
                </a:solidFill>
                <a:latin typeface="DejaVu Sans"/>
                <a:ea typeface="DejaVu Sans"/>
                <a:cs typeface="DejaVu Sans"/>
              </a:defRPr>
            </a:pPr>
            <a:r>
              <a:rPr sz="2025" b="0">
                <a:solidFill>
                  <a:srgbClr val="536978"/>
                </a:solidFill>
                <a:latin typeface="DejaVu Sans"/>
                <a:ea typeface="DejaVu Sans"/>
                <a:cs typeface="DejaVu Sans"/>
              </a:rPr>
              <a:t>a²/b: self-amplification limited by the inhibitor</a:t>
            </a:r>
          </a:p>
          <a:p xmlns:a="http://schemas.openxmlformats.org/drawingml/2006/main">
            <a:pPr algn="l">
              <a:defRPr sz="2025" b="0">
                <a:solidFill>
                  <a:srgbClr val="536978"/>
                </a:solidFill>
                <a:latin typeface="DejaVu Sans"/>
                <a:ea typeface="DejaVu Sans"/>
                <a:cs typeface="DejaVu Sans"/>
              </a:defRPr>
            </a:pPr>
            <a:r>
              <a:rPr sz="2025" b="0">
                <a:solidFill>
                  <a:srgbClr val="536978"/>
                </a:solidFill>
                <a:latin typeface="DejaVu Sans"/>
                <a:ea typeface="DejaVu Sans"/>
                <a:cs typeface="DejaVu Sans"/>
              </a:rPr>
              <a:t>β(a² − b): inhibitor production and turnover</a:t>
            </a:r>
          </a:p>
          <a:p xmlns:a="http://schemas.openxmlformats.org/drawingml/2006/main">
            <a:pPr algn="l">
              <a:defRPr sz="2025" b="0">
                <a:solidFill>
                  <a:srgbClr val="536978"/>
                </a:solidFill>
                <a:latin typeface="DejaVu Sans"/>
                <a:ea typeface="DejaVu Sans"/>
                <a:cs typeface="DejaVu Sans"/>
              </a:defRPr>
            </a:pPr>
            <a:r>
              <a:rPr sz="2025" b="0">
                <a:solidFill>
                  <a:srgbClr val="536978"/>
                </a:solidFill>
                <a:latin typeface="DejaVu Sans"/>
                <a:ea typeface="DejaVu Sans"/>
                <a:cs typeface="DejaVu Sans"/>
              </a:rPr>
              <a:t>Δᵥ: exchange on the current cell contact network</a:t>
            </a:r>
          </a:p>
          <a:p xmlns:a="http://schemas.openxmlformats.org/drawingml/2006/main">
            <a:pPr algn="l">
              <a:defRPr sz="2025" b="0">
                <a:solidFill>
                  <a:srgbClr val="536978"/>
                </a:solidFill>
                <a:latin typeface="DejaVu Sans"/>
                <a:ea typeface="DejaVu Sans"/>
                <a:cs typeface="DejaVu Sans"/>
              </a:defRPr>
            </a:pPr>
            <a:r>
              <a:rPr sz="2025" b="0">
                <a:solidFill>
                  <a:srgbClr val="536978"/>
                </a:solidFill>
                <a:latin typeface="DejaVu Sans"/>
                <a:ea typeface="DejaVu Sans"/>
                <a:cs typeface="DejaVu Sans"/>
              </a:rPr>
              <a:t>d ln V/dt: dilution or concentration as cells change volume</a:t>
            </a:r>
          </a:p>
        </p:txBody>
      </p:sp>
      <p:sp>
        <p:nvSpPr>
          <p:cNvPr id="8" name="">
            <a:extLst xmlns:a="http://schemas.openxmlformats.org/drawingml/2006/main">
              <a:ext uri="{FF2B5EF4-FFF2-40B4-BE49-F238E27FC236}">
                <a16:creationId xmlns:a16="http://schemas.microsoft.com/office/drawing/2014/main" id="{345E0D05-5068-4951-8FE9-339E06F99A44}"/>
              </a:ext>
            </a:extLst>
          </p:cNvPr>
          <p:cNvSpPr>
            <a:spLocks xmlns:a="http://schemas.openxmlformats.org/drawingml/2006/main" noGrp="1"/>
          </p:cNvSpPr>
          <p:nvPr/>
        </p:nvSpPr>
        <p:spPr>
          <a:xfrm xmlns:a="http://schemas.openxmlformats.org/drawingml/2006/main">
            <a:off x="609600" y="57245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7F86"/>
                </a:solidFill>
                <a:latin typeface="DejaVu Sans"/>
                <a:ea typeface="DejaVu Sans"/>
                <a:cs typeface="DejaVu Sans"/>
              </a:defRPr>
            </a:pPr>
            <a:r>
              <a:rPr sz="1800" b="0">
                <a:solidFill>
                  <a:srgbClr val="007F86"/>
                </a:solidFill>
                <a:latin typeface="DejaVu Sans"/>
                <a:ea typeface="DejaVu Sans"/>
                <a:cs typeface="DejaVu Sans"/>
              </a:rPr>
              <a:t>Tested setting: β = 2, Dₐ = 0.02, Dᵦ = 0.55. Faster inhibitor transport supports spatial competition.</a:t>
            </a:r>
          </a:p>
        </p:txBody>
      </p:sp>
    </p:spTree>
    <p:extLst>
      <p:ext uri="{BB962C8B-B14F-4D97-AF65-F5344CB8AC3E}">
        <p14:creationId xmlns:p14="http://schemas.microsoft.com/office/powerpoint/2010/main" val="8895393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25BBDB-E922-4436-B596-ADE7F5CB9AB4}"/>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Transport conserves chemical amount</a:t>
            </a:r>
          </a:p>
        </p:txBody>
      </p:sp>
      <p:sp>
        <p:nvSpPr>
          <p:cNvPr id="2" name="">
            <a:extLst xmlns:a="http://schemas.openxmlformats.org/drawingml/2006/main">
              <a:ext uri="{FF2B5EF4-FFF2-40B4-BE49-F238E27FC236}">
                <a16:creationId xmlns:a16="http://schemas.microsoft.com/office/drawing/2014/main" id="{0BE0BBF6-E009-49F7-B06B-3F0D3C8119D6}"/>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Contacts define exchange capacity. Cell volumes convert amount flux into concentration change.</a:t>
            </a:r>
          </a:p>
        </p:txBody>
      </p:sp>
      <p:sp>
        <p:nvSpPr>
          <p:cNvPr id="3" name="">
            <a:extLst xmlns:a="http://schemas.openxmlformats.org/drawingml/2006/main">
              <a:ext uri="{FF2B5EF4-FFF2-40B4-BE49-F238E27FC236}">
                <a16:creationId xmlns:a16="http://schemas.microsoft.com/office/drawing/2014/main" id="{006ED51A-4CF2-4CB4-A5A6-7CBE55AFAFD3}"/>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E7177703-742D-4AB7-83DB-4C1F8599CB50}"/>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07</a:t>
            </a:r>
          </a:p>
        </p:txBody>
      </p:sp>
      <p:sp>
        <p:nvSpPr>
          <p:cNvPr id="5" name="">
            <a:extLst xmlns:a="http://schemas.openxmlformats.org/drawingml/2006/main">
              <a:ext uri="{FF2B5EF4-FFF2-40B4-BE49-F238E27FC236}">
                <a16:creationId xmlns:a16="http://schemas.microsoft.com/office/drawing/2014/main" id="{1256E3B4-9218-411E-8BC7-19533CBC7DD6}"/>
              </a:ext>
            </a:extLst>
          </p:cNvPr>
          <p:cNvSpPr>
            <a:spLocks xmlns:a="http://schemas.openxmlformats.org/drawingml/2006/main" noGrp="1"/>
          </p:cNvSpPr>
          <p:nvPr/>
        </p:nvSpPr>
        <p:spPr>
          <a:xfrm xmlns:a="http://schemas.openxmlformats.org/drawingml/2006/main">
            <a:off x="609600" y="21526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2D3C"/>
                </a:solidFill>
                <a:latin typeface="DejaVu Sans"/>
                <a:ea typeface="DejaVu Sans"/>
                <a:cs typeface="DejaVu Sans"/>
              </a:defRPr>
            </a:pPr>
            <a:r>
              <a:rPr sz="2550" b="1">
                <a:solidFill>
                  <a:srgbClr val="172D3C"/>
                </a:solidFill>
                <a:latin typeface="DejaVu Sans"/>
                <a:ea typeface="DejaVu Sans"/>
                <a:cs typeface="DejaVu Sans"/>
              </a:rPr>
              <a:t>gᵢⱼ = Âᵢⱼ / ℓᵢⱼ      K = diag(G1) − G      M = diag(Vᵢ)</a:t>
            </a:r>
          </a:p>
        </p:txBody>
      </p:sp>
      <p:sp>
        <p:nvSpPr>
          <p:cNvPr id="6" name="">
            <a:extLst xmlns:a="http://schemas.openxmlformats.org/drawingml/2006/main">
              <a:ext uri="{FF2B5EF4-FFF2-40B4-BE49-F238E27FC236}">
                <a16:creationId xmlns:a16="http://schemas.microsoft.com/office/drawing/2014/main" id="{F54B89BD-2E84-4FAD-A1AB-5324BF3B4789}"/>
              </a:ext>
            </a:extLst>
          </p:cNvPr>
          <p:cNvSpPr>
            <a:spLocks xmlns:a="http://schemas.openxmlformats.org/drawingml/2006/main" noGrp="1"/>
          </p:cNvSpPr>
          <p:nvPr/>
        </p:nvSpPr>
        <p:spPr>
          <a:xfrm xmlns:a="http://schemas.openxmlformats.org/drawingml/2006/main">
            <a:off x="609600" y="31146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007F86"/>
                </a:solidFill>
                <a:latin typeface="DejaVu Sans"/>
                <a:ea typeface="DejaVu Sans"/>
                <a:cs typeface="DejaVu Sans"/>
              </a:defRPr>
            </a:pPr>
            <a:r>
              <a:rPr sz="3300" b="1">
                <a:solidFill>
                  <a:srgbClr val="007F86"/>
                </a:solidFill>
                <a:latin typeface="DejaVu Sans"/>
                <a:ea typeface="DejaVu Sans"/>
                <a:cs typeface="DejaVu Sans"/>
              </a:rPr>
              <a:t>Δᵥ = −M⁻¹K</a:t>
            </a:r>
          </a:p>
        </p:txBody>
      </p:sp>
      <p:sp>
        <p:nvSpPr>
          <p:cNvPr id="7" name="">
            <a:extLst xmlns:a="http://schemas.openxmlformats.org/drawingml/2006/main">
              <a:ext uri="{FF2B5EF4-FFF2-40B4-BE49-F238E27FC236}">
                <a16:creationId xmlns:a16="http://schemas.microsoft.com/office/drawing/2014/main" id="{AC823372-C22A-433F-A5D4-C7BB9ABC4F5A}"/>
              </a:ext>
            </a:extLst>
          </p:cNvPr>
          <p:cNvSpPr>
            <a:spLocks xmlns:a="http://schemas.openxmlformats.org/drawingml/2006/main" noGrp="1"/>
          </p:cNvSpPr>
          <p:nvPr/>
        </p:nvSpPr>
        <p:spPr>
          <a:xfrm xmlns:a="http://schemas.openxmlformats.org/drawingml/2006/main">
            <a:off x="609600" y="40386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172D3C"/>
                </a:solidFill>
                <a:latin typeface="DejaVu Sans"/>
                <a:ea typeface="DejaVu Sans"/>
                <a:cs typeface="DejaVu Sans"/>
              </a:defRPr>
            </a:pPr>
            <a:r>
              <a:rPr sz="2625" b="1">
                <a:solidFill>
                  <a:srgbClr val="172D3C"/>
                </a:solidFill>
                <a:latin typeface="DejaVu Sans"/>
                <a:ea typeface="DejaVu Sans"/>
                <a:cs typeface="DejaVu Sans"/>
              </a:rPr>
              <a:t>d(Vᵢcᵢ)/dt = VᵢR꜀ + D꜀ Σⱼ gᵢⱼ(cⱼ − cᵢ)</a:t>
            </a:r>
          </a:p>
        </p:txBody>
      </p:sp>
      <p:sp>
        <p:nvSpPr>
          <p:cNvPr id="8" name="">
            <a:extLst xmlns:a="http://schemas.openxmlformats.org/drawingml/2006/main">
              <a:ext uri="{FF2B5EF4-FFF2-40B4-BE49-F238E27FC236}">
                <a16:creationId xmlns:a16="http://schemas.microsoft.com/office/drawing/2014/main" id="{411F1AF9-E7F3-48C2-9DF8-1211FD2FD367}"/>
              </a:ext>
            </a:extLst>
          </p:cNvPr>
          <p:cNvSpPr>
            <a:spLocks xmlns:a="http://schemas.openxmlformats.org/drawingml/2006/main" noGrp="1"/>
          </p:cNvSpPr>
          <p:nvPr/>
        </p:nvSpPr>
        <p:spPr>
          <a:xfrm xmlns:a="http://schemas.openxmlformats.org/drawingml/2006/main">
            <a:off x="609600" y="5105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36978"/>
                </a:solidFill>
                <a:latin typeface="DejaVu Sans"/>
                <a:ea typeface="DejaVu Sans"/>
                <a:cs typeface="DejaVu Sans"/>
              </a:defRPr>
            </a:pPr>
            <a:r>
              <a:rPr sz="2025" b="0">
                <a:solidFill>
                  <a:srgbClr val="536978"/>
                </a:solidFill>
                <a:latin typeface="DejaVu Sans"/>
                <a:ea typeface="DejaVu Sans"/>
                <a:cs typeface="DejaVu Sans"/>
              </a:rPr>
              <a:t>Âᵢⱼ estimates shared interface area. ℓᵢⱼ measures cell-center separation.</a:t>
            </a:r>
          </a:p>
          <a:p xmlns:a="http://schemas.openxmlformats.org/drawingml/2006/main">
            <a:pPr algn="l">
              <a:defRPr sz="2025" b="0">
                <a:solidFill>
                  <a:srgbClr val="536978"/>
                </a:solidFill>
                <a:latin typeface="DejaVu Sans"/>
                <a:ea typeface="DejaVu Sans"/>
                <a:cs typeface="DejaVu Sans"/>
              </a:defRPr>
            </a:pPr>
            <a:r>
              <a:rPr sz="2025" b="0">
                <a:solidFill>
                  <a:srgbClr val="536978"/>
                </a:solidFill>
                <a:latin typeface="DejaVu Sans"/>
                <a:ea typeface="DejaVu Sans"/>
                <a:cs typeface="DejaVu Sans"/>
              </a:rPr>
              <a:t>Equal and opposite contact fluxes conserve total amount during transport.</a:t>
            </a:r>
          </a:p>
        </p:txBody>
      </p:sp>
    </p:spTree>
    <p:extLst>
      <p:ext uri="{BB962C8B-B14F-4D97-AF65-F5344CB8AC3E}">
        <p14:creationId xmlns:p14="http://schemas.microsoft.com/office/powerpoint/2010/main" val="6410311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E74833-C1D2-4EA5-95A3-C09045B3C9FF}"/>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3D cell surfaces deform through mechanical relaxation</a:t>
            </a:r>
          </a:p>
        </p:txBody>
      </p:sp>
      <p:sp>
        <p:nvSpPr>
          <p:cNvPr id="2" name="">
            <a:extLst xmlns:a="http://schemas.openxmlformats.org/drawingml/2006/main">
              <a:ext uri="{FF2B5EF4-FFF2-40B4-BE49-F238E27FC236}">
                <a16:creationId xmlns:a16="http://schemas.microsoft.com/office/drawing/2014/main" id="{2CED363D-8C05-48EB-9C1F-95939D01DAC3}"/>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Phase fields describe diffuse boundaries. The aggregate shape evolves rather than following a prescribed outline.</a:t>
            </a:r>
          </a:p>
        </p:txBody>
      </p:sp>
      <p:sp>
        <p:nvSpPr>
          <p:cNvPr id="3" name="">
            <a:extLst xmlns:a="http://schemas.openxmlformats.org/drawingml/2006/main">
              <a:ext uri="{FF2B5EF4-FFF2-40B4-BE49-F238E27FC236}">
                <a16:creationId xmlns:a16="http://schemas.microsoft.com/office/drawing/2014/main" id="{B3CA1AA4-4B97-48CF-B32A-D17B753CA53C}"/>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0741FDA0-D471-40CA-9823-2F0ED21C2674}"/>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08</a:t>
            </a:r>
          </a:p>
        </p:txBody>
      </p:sp>
      <p:graphicFrame>
        <p:nvGraphicFramePr>
          <p:cNvPr id="11" name=""/>
          <p:cNvGraphicFramePr/>
          <p:nvPr/>
        </p:nvGraphicFramePr>
        <p:xfrm>
          <a:off xmlns:a="http://schemas.openxmlformats.org/drawingml/2006/main" x="609600" y="2038350"/>
          <a:ext xmlns:a="http://schemas.openxmlformats.org/drawingml/2006/main" cx="10972800" cy="3190875"/>
        </p:xfrm>
        <a:graphic xmlns:a="http://schemas.openxmlformats.org/drawingml/2006/main">
          <a:graphicData uri="http://schemas.openxmlformats.org/drawingml/2006/table">
            <a:tbl>
              <a:tblPr/>
              <a:tblGrid>
                <a:gridCol w="3505200"/>
                <a:gridCol w="7467600"/>
              </a:tblGrid>
              <a:tr h="628650">
                <a:tc>
                  <a:txBody>
                    <a:bodyPr/>
                    <a:lstStyle/>
                    <a:p>
                      <a:r>
                        <a:rPr sz="1875" b="1">
                          <a:solidFill>
                            <a:srgbClr val="FFFFFF"/>
                          </a:solidFill>
                          <a:latin typeface="DejaVu Sans"/>
                          <a:ea typeface="DejaVu Sans"/>
                          <a:cs typeface="DejaVu Sans"/>
                        </a:rPr>
                        <a:t>Energy contribution</a:t>
                      </a:r>
                    </a:p>
                  </a:txBody>
                  <a:tcPr marL="152400" marR="152400" marT="133350" marB="114300" anchor="ctr">
                    <a:solidFill>
                      <a:srgbClr val="172D3C"/>
                    </a:solidFill>
                  </a:tcPr>
                </a:tc>
                <a:tc>
                  <a:txBody>
                    <a:bodyPr/>
                    <a:lstStyle/>
                    <a:p>
                      <a:r>
                        <a:rPr sz="1875" b="1">
                          <a:solidFill>
                            <a:srgbClr val="FFFFFF"/>
                          </a:solidFill>
                          <a:latin typeface="DejaVu Sans"/>
                          <a:ea typeface="DejaVu Sans"/>
                          <a:cs typeface="DejaVu Sans"/>
                        </a:rPr>
                        <a:t>Why it is present</a:t>
                      </a:r>
                    </a:p>
                  </a:txBody>
                  <a:tcPr marL="152400" marR="152400" marT="133350" marB="114300" anchor="ctr">
                    <a:solidFill>
                      <a:srgbClr val="172D3C"/>
                    </a:solidFill>
                  </a:tcPr>
                </a:tc>
              </a:tr>
              <a:tr h="640556">
                <a:tc>
                  <a:txBody>
                    <a:bodyPr/>
                    <a:lstStyle/>
                    <a:p>
                      <a:r>
                        <a:rPr sz="1875" b="0">
                          <a:solidFill>
                            <a:srgbClr val="172D3C"/>
                          </a:solidFill>
                          <a:latin typeface="DejaVu Sans"/>
                          <a:ea typeface="DejaVu Sans"/>
                          <a:cs typeface="DejaVu Sans"/>
                        </a:rPr>
                        <a:t>Surface energy</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Maintains a smooth boundary and favors compact cells</a:t>
                      </a:r>
                    </a:p>
                  </a:txBody>
                  <a:tcPr marL="152400" marR="152400" marT="133350" marB="114300" anchor="ctr">
                    <a:solidFill>
                      <a:srgbClr val="FFFFFF"/>
                    </a:solidFill>
                  </a:tcPr>
                </a:tc>
              </a:tr>
              <a:tr h="640556">
                <a:tc>
                  <a:txBody>
                    <a:bodyPr/>
                    <a:lstStyle/>
                    <a:p>
                      <a:r>
                        <a:rPr sz="1875" b="0">
                          <a:solidFill>
                            <a:srgbClr val="172D3C"/>
                          </a:solidFill>
                          <a:latin typeface="DejaVu Sans"/>
                          <a:ea typeface="DejaVu Sans"/>
                          <a:cs typeface="DejaVu Sans"/>
                        </a:rPr>
                        <a:t>Volume penalty</a:t>
                      </a:r>
                    </a:p>
                  </a:txBody>
                  <a:tcPr marL="152400" marR="152400" marT="133350" marB="114300" anchor="ctr">
                    <a:solidFill>
                      <a:srgbClr val="F3F7F9"/>
                    </a:solidFill>
                  </a:tcPr>
                </a:tc>
                <a:tc>
                  <a:txBody>
                    <a:bodyPr/>
                    <a:lstStyle/>
                    <a:p>
                      <a:r>
                        <a:rPr sz="1875" b="0">
                          <a:solidFill>
                            <a:srgbClr val="172D3C"/>
                          </a:solidFill>
                          <a:latin typeface="DejaVu Sans"/>
                          <a:ea typeface="DejaVu Sans"/>
                          <a:cs typeface="DejaVu Sans"/>
                        </a:rPr>
                        <a:t>Keeps each cell near its target size</a:t>
                      </a:r>
                    </a:p>
                  </a:txBody>
                  <a:tcPr marL="152400" marR="152400" marT="133350" marB="114300" anchor="ctr">
                    <a:solidFill>
                      <a:srgbClr val="F3F7F9"/>
                    </a:solidFill>
                  </a:tcPr>
                </a:tc>
              </a:tr>
              <a:tr h="640556">
                <a:tc>
                  <a:txBody>
                    <a:bodyPr/>
                    <a:lstStyle/>
                    <a:p>
                      <a:r>
                        <a:rPr sz="1875" b="0">
                          <a:solidFill>
                            <a:srgbClr val="172D3C"/>
                          </a:solidFill>
                          <a:latin typeface="DejaVu Sans"/>
                          <a:ea typeface="DejaVu Sans"/>
                          <a:cs typeface="DejaVu Sans"/>
                        </a:rPr>
                        <a:t>Overlap repulsion</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Discourages cell interpenetration</a:t>
                      </a:r>
                    </a:p>
                  </a:txBody>
                  <a:tcPr marL="152400" marR="152400" marT="133350" marB="114300" anchor="ctr">
                    <a:solidFill>
                      <a:srgbClr val="FFFFFF"/>
                    </a:solidFill>
                  </a:tcPr>
                </a:tc>
              </a:tr>
              <a:tr h="640556">
                <a:tc>
                  <a:txBody>
                    <a:bodyPr/>
                    <a:lstStyle/>
                    <a:p>
                      <a:r>
                        <a:rPr sz="1875" b="0">
                          <a:solidFill>
                            <a:srgbClr val="172D3C"/>
                          </a:solidFill>
                          <a:latin typeface="DejaVu Sans"/>
                          <a:ea typeface="DejaVu Sans"/>
                          <a:cs typeface="DejaVu Sans"/>
                        </a:rPr>
                        <a:t>Contact adhesion</a:t>
                      </a:r>
                    </a:p>
                  </a:txBody>
                  <a:tcPr marL="152400" marR="152400" marT="133350" marB="114300" anchor="ctr">
                    <a:solidFill>
                      <a:srgbClr val="F3F7F9"/>
                    </a:solidFill>
                  </a:tcPr>
                </a:tc>
                <a:tc>
                  <a:txBody>
                    <a:bodyPr/>
                    <a:lstStyle/>
                    <a:p>
                      <a:r>
                        <a:rPr sz="1875" b="0">
                          <a:solidFill>
                            <a:srgbClr val="172D3C"/>
                          </a:solidFill>
                          <a:latin typeface="DejaVu Sans"/>
                          <a:ea typeface="DejaVu Sans"/>
                          <a:cs typeface="DejaVu Sans"/>
                        </a:rPr>
                        <a:t>Favors contact between diffuse cell surfaces</a:t>
                      </a:r>
                    </a:p>
                  </a:txBody>
                  <a:tcPr marL="152400" marR="152400" marT="133350" marB="114300" anchor="ctr">
                    <a:solidFill>
                      <a:srgbClr val="F3F7F9"/>
                    </a:solidFill>
                  </a:tcPr>
                </a:tc>
              </a:tr>
            </a:tbl>
          </a:graphicData>
        </a:graphic>
      </p:graphicFrame>
      <p:sp>
        <p:nvSpPr>
          <p:cNvPr id="6" name="">
            <a:extLst xmlns:a="http://schemas.openxmlformats.org/drawingml/2006/main">
              <a:ext uri="{FF2B5EF4-FFF2-40B4-BE49-F238E27FC236}">
                <a16:creationId xmlns:a16="http://schemas.microsoft.com/office/drawing/2014/main" id="{C3B50E14-291B-4D59-A044-80F4ACBE8CAF}"/>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007F86"/>
                </a:solidFill>
                <a:latin typeface="DejaVu Sans"/>
                <a:ea typeface="DejaVu Sans"/>
                <a:cs typeface="DejaVu Sans"/>
              </a:defRPr>
            </a:pPr>
            <a:r>
              <a:rPr sz="2100" b="0">
                <a:solidFill>
                  <a:srgbClr val="007F86"/>
                </a:solidFill>
                <a:latin typeface="DejaVu Sans"/>
                <a:ea typeface="DejaVu Sans"/>
                <a:cs typeface="DejaVu Sans"/>
              </a:rPr>
              <a:t>h(φ) = φ²(3 − 2φ) measures occupied volume</a:t>
            </a:r>
          </a:p>
          <a:p xmlns:a="http://schemas.openxmlformats.org/drawingml/2006/main">
            <a:pPr algn="l">
              <a:defRPr sz="2100" b="0">
                <a:solidFill>
                  <a:srgbClr val="007F86"/>
                </a:solidFill>
                <a:latin typeface="DejaVu Sans"/>
                <a:ea typeface="DejaVu Sans"/>
                <a:cs typeface="DejaVu Sans"/>
              </a:defRPr>
            </a:pPr>
            <a:r>
              <a:rPr sz="2100" b="0">
                <a:solidFill>
                  <a:srgbClr val="007F86"/>
                </a:solidFill>
                <a:latin typeface="DejaVu Sans"/>
                <a:ea typeface="DejaVu Sans"/>
                <a:cs typeface="DejaVu Sans"/>
              </a:rPr>
              <a:t>q(φ) = φ²(1 − φ)² favors interior and exterior states</a:t>
            </a:r>
          </a:p>
        </p:txBody>
      </p:sp>
    </p:spTree>
    <p:extLst>
      <p:ext uri="{BB962C8B-B14F-4D97-AF65-F5344CB8AC3E}">
        <p14:creationId xmlns:p14="http://schemas.microsoft.com/office/powerpoint/2010/main" val="4404334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D4BE8C-42BA-4BBD-BC59-7F530DEB5AF5}"/>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Polarity makes surface tension directional</a:t>
            </a:r>
          </a:p>
        </p:txBody>
      </p:sp>
      <p:sp>
        <p:nvSpPr>
          <p:cNvPr id="2" name="">
            <a:extLst xmlns:a="http://schemas.openxmlformats.org/drawingml/2006/main">
              <a:ext uri="{FF2B5EF4-FFF2-40B4-BE49-F238E27FC236}">
                <a16:creationId xmlns:a16="http://schemas.microsoft.com/office/drawing/2014/main" id="{44CD1A3B-5987-480C-8E69-8197387C14E7}"/>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A cell’s exposed surface provides an apical cue. The vector can then change how its cortex contracts.</a:t>
            </a:r>
          </a:p>
        </p:txBody>
      </p:sp>
      <p:sp>
        <p:nvSpPr>
          <p:cNvPr id="3" name="">
            <a:extLst xmlns:a="http://schemas.openxmlformats.org/drawingml/2006/main">
              <a:ext uri="{FF2B5EF4-FFF2-40B4-BE49-F238E27FC236}">
                <a16:creationId xmlns:a16="http://schemas.microsoft.com/office/drawing/2014/main" id="{7F2FFCF2-402D-40B1-BF31-88D5C7AB89E6}"/>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81E8940F-1537-4376-B7DF-09C78BF35FF9}"/>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09</a:t>
            </a:r>
          </a:p>
        </p:txBody>
      </p:sp>
      <p:sp>
        <p:nvSpPr>
          <p:cNvPr id="5" name="">
            <a:extLst xmlns:a="http://schemas.openxmlformats.org/drawingml/2006/main">
              <a:ext uri="{FF2B5EF4-FFF2-40B4-BE49-F238E27FC236}">
                <a16:creationId xmlns:a16="http://schemas.microsoft.com/office/drawing/2014/main" id="{C0AFFBA7-DA62-4227-A9F4-CAE186AA06C7}"/>
              </a:ext>
            </a:extLst>
          </p:cNvPr>
          <p:cNvSpPr>
            <a:spLocks xmlns:a="http://schemas.openxmlformats.org/drawingml/2006/main" noGrp="1"/>
          </p:cNvSpPr>
          <p:nvPr/>
        </p:nvSpPr>
        <p:spPr>
          <a:xfrm xmlns:a="http://schemas.openxmlformats.org/drawingml/2006/main">
            <a:off x="609600" y="2266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72D3C"/>
                </a:solidFill>
                <a:latin typeface="DejaVu Sans"/>
                <a:ea typeface="DejaVu Sans"/>
                <a:cs typeface="DejaVu Sans"/>
              </a:defRPr>
            </a:pPr>
            <a:r>
              <a:rPr sz="3225" b="1">
                <a:solidFill>
                  <a:srgbClr val="172D3C"/>
                </a:solidFill>
                <a:latin typeface="DejaVu Sans"/>
                <a:ea typeface="DejaVu Sans"/>
                <a:cs typeface="DejaVu Sans"/>
              </a:rPr>
              <a:t>γᵢ(x) = γᵢ⁰ [1 − χ pᵢ · r̂ᵢ(x)]</a:t>
            </a:r>
          </a:p>
        </p:txBody>
      </p:sp>
      <p:sp>
        <p:nvSpPr>
          <p:cNvPr id="6" name="">
            <a:extLst xmlns:a="http://schemas.openxmlformats.org/drawingml/2006/main">
              <a:ext uri="{FF2B5EF4-FFF2-40B4-BE49-F238E27FC236}">
                <a16:creationId xmlns:a16="http://schemas.microsoft.com/office/drawing/2014/main" id="{72F824F9-52CE-4759-B0FE-ADB83023E006}"/>
              </a:ext>
            </a:extLst>
          </p:cNvPr>
          <p:cNvSpPr>
            <a:spLocks xmlns:a="http://schemas.openxmlformats.org/drawingml/2006/main" noGrp="1"/>
          </p:cNvSpPr>
          <p:nvPr/>
        </p:nvSpPr>
        <p:spPr>
          <a:xfrm xmlns:a="http://schemas.openxmlformats.org/drawingml/2006/main">
            <a:off x="609600" y="34004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The vector gives direction and strength</a:t>
            </a:r>
          </a:p>
        </p:txBody>
      </p:sp>
      <p:sp>
        <p:nvSpPr>
          <p:cNvPr id="7" name="">
            <a:extLst xmlns:a="http://schemas.openxmlformats.org/drawingml/2006/main">
              <a:ext uri="{FF2B5EF4-FFF2-40B4-BE49-F238E27FC236}">
                <a16:creationId xmlns:a16="http://schemas.microsoft.com/office/drawing/2014/main" id="{08AA4F2B-79D8-48E1-8869-E1246E1A8308}"/>
              </a:ext>
            </a:extLst>
          </p:cNvPr>
          <p:cNvSpPr>
            <a:spLocks xmlns:a="http://schemas.openxmlformats.org/drawingml/2006/main" noGrp="1"/>
          </p:cNvSpPr>
          <p:nvPr/>
        </p:nvSpPr>
        <p:spPr>
          <a:xfrm xmlns:a="http://schemas.openxmlformats.org/drawingml/2006/main">
            <a:off x="609600" y="38481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pᵢ points toward the exposed apical side. Its magnitude measures polarity strength. r̂ᵢ points outward from the cell center.</a:t>
            </a:r>
          </a:p>
        </p:txBody>
      </p:sp>
      <p:sp>
        <p:nvSpPr>
          <p:cNvPr id="8" name="">
            <a:extLst xmlns:a="http://schemas.openxmlformats.org/drawingml/2006/main">
              <a:ext uri="{FF2B5EF4-FFF2-40B4-BE49-F238E27FC236}">
                <a16:creationId xmlns:a16="http://schemas.microsoft.com/office/drawing/2014/main" id="{C79A7C07-49EC-439C-A3F0-EA55D6A3B5D6}"/>
              </a:ext>
            </a:extLst>
          </p:cNvPr>
          <p:cNvSpPr>
            <a:spLocks xmlns:a="http://schemas.openxmlformats.org/drawingml/2006/main" noGrp="1"/>
          </p:cNvSpPr>
          <p:nvPr/>
        </p:nvSpPr>
        <p:spPr>
          <a:xfrm xmlns:a="http://schemas.openxmlformats.org/drawingml/2006/main">
            <a:off x="609600" y="4857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The parameter χ controls mechanical action</a:t>
            </a:r>
          </a:p>
        </p:txBody>
      </p:sp>
      <p:sp>
        <p:nvSpPr>
          <p:cNvPr id="9" name="">
            <a:extLst xmlns:a="http://schemas.openxmlformats.org/drawingml/2006/main">
              <a:ext uri="{FF2B5EF4-FFF2-40B4-BE49-F238E27FC236}">
                <a16:creationId xmlns:a16="http://schemas.microsoft.com/office/drawing/2014/main" id="{6F9BFDDA-0D0A-4688-B7BB-B1A435AA7EDC}"/>
              </a:ext>
            </a:extLst>
          </p:cNvPr>
          <p:cNvSpPr>
            <a:spLocks xmlns:a="http://schemas.openxmlformats.org/drawingml/2006/main" noGrp="1"/>
          </p:cNvSpPr>
          <p:nvPr/>
        </p:nvSpPr>
        <p:spPr>
          <a:xfrm xmlns:a="http://schemas.openxmlformats.org/drawingml/2006/main">
            <a:off x="609600" y="53054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χ = 0.35 produces directional tension. χ = 0 removes this action while retaining polarity dynamics and chemical modulation of tension/adhesion.</a:t>
            </a:r>
          </a:p>
        </p:txBody>
      </p:sp>
    </p:spTree>
    <p:extLst>
      <p:ext uri="{BB962C8B-B14F-4D97-AF65-F5344CB8AC3E}">
        <p14:creationId xmlns:p14="http://schemas.microsoft.com/office/powerpoint/2010/main" val="19960365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CBC7DA-6873-4A84-9411-E77104FD05BD}"/>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Development changes chemistry and 3D cell shape</a:t>
            </a:r>
          </a:p>
        </p:txBody>
      </p:sp>
      <p:sp>
        <p:nvSpPr>
          <p:cNvPr id="2" name="">
            <a:extLst xmlns:a="http://schemas.openxmlformats.org/drawingml/2006/main">
              <a:ext uri="{FF2B5EF4-FFF2-40B4-BE49-F238E27FC236}">
                <a16:creationId xmlns:a16="http://schemas.microsoft.com/office/drawing/2014/main" id="{ECCDCEC0-D6ED-483D-8F7F-F25821F94429}"/>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Illustrative developmental pilot, history 7, using the original numerical method.</a:t>
            </a:r>
          </a:p>
        </p:txBody>
      </p:sp>
      <p:sp>
        <p:nvSpPr>
          <p:cNvPr id="3" name="">
            <a:extLst xmlns:a="http://schemas.openxmlformats.org/drawingml/2006/main">
              <a:ext uri="{FF2B5EF4-FFF2-40B4-BE49-F238E27FC236}">
                <a16:creationId xmlns:a16="http://schemas.microsoft.com/office/drawing/2014/main" id="{448550DD-B582-4E32-8277-9702E97C63C9}"/>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0D418E47-1CB9-4012-8DB5-7D67B73F16C0}"/>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f489efa767f4ab6"/>
          <a:stretch xmlns:a="http://schemas.openxmlformats.org/drawingml/2006/main"/>
        </p:blipFill>
        <p:spPr>
          <a:xfrm xmlns:a="http://schemas.openxmlformats.org/drawingml/2006/main">
            <a:off x="609600" y="1867459"/>
            <a:ext cx="10972800" cy="37326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A5A419-5530-427B-9BE6-8473D6CC52A1}"/>
              </a:ext>
            </a:extLst>
          </p:cNvPr>
          <p:cNvSpPr>
            <a:spLocks xmlns:a="http://schemas.openxmlformats.org/drawingml/2006/main" noGrp="1"/>
          </p:cNvSpPr>
          <p:nvPr/>
        </p:nvSpPr>
        <p:spPr>
          <a:xfrm xmlns:a="http://schemas.openxmlformats.org/drawingml/2006/main">
            <a:off x="609600" y="5686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Surfaces show cell shape. Color shows chemical state.</a:t>
            </a:r>
          </a:p>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Current qualified evidence below tests mature continuations, not fresh zygote development.</a:t>
            </a:r>
          </a:p>
        </p:txBody>
      </p:sp>
    </p:spTree>
    <p:extLst>
      <p:ext uri="{BB962C8B-B14F-4D97-AF65-F5344CB8AC3E}">
        <p14:creationId xmlns:p14="http://schemas.microsoft.com/office/powerpoint/2010/main" val="14440293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FAF671-EF5D-4B82-8FA2-9C3159005917}"/>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The controls ask what permits formation</a:t>
            </a:r>
          </a:p>
        </p:txBody>
      </p:sp>
      <p:sp>
        <p:nvSpPr>
          <p:cNvPr id="2" name="">
            <a:extLst xmlns:a="http://schemas.openxmlformats.org/drawingml/2006/main">
              <a:ext uri="{FF2B5EF4-FFF2-40B4-BE49-F238E27FC236}">
                <a16:creationId xmlns:a16="http://schemas.microsoft.com/office/drawing/2014/main" id="{E04D9129-634E-42A2-A289-9FB4E3C97DB6}"/>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Matched mature 16-cell states start at model time 150 and evolve for another 240 units.</a:t>
            </a:r>
          </a:p>
        </p:txBody>
      </p:sp>
      <p:sp>
        <p:nvSpPr>
          <p:cNvPr id="3" name="">
            <a:extLst xmlns:a="http://schemas.openxmlformats.org/drawingml/2006/main">
              <a:ext uri="{FF2B5EF4-FFF2-40B4-BE49-F238E27FC236}">
                <a16:creationId xmlns:a16="http://schemas.microsoft.com/office/drawing/2014/main" id="{6EE9AA53-49D7-4E08-8240-ADA524DEACAE}"/>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125641B5-9C5E-4204-921D-64DD4BB9682C}"/>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11</a:t>
            </a:r>
          </a:p>
        </p:txBody>
      </p:sp>
      <p:graphicFrame>
        <p:nvGraphicFramePr>
          <p:cNvPr id="11" name=""/>
          <p:cNvGraphicFramePr/>
          <p:nvPr/>
        </p:nvGraphicFramePr>
        <p:xfrm>
          <a:off xmlns:a="http://schemas.openxmlformats.org/drawingml/2006/main" x="609600" y="2038350"/>
          <a:ext xmlns:a="http://schemas.openxmlformats.org/drawingml/2006/main" cx="10972800" cy="3190875"/>
        </p:xfrm>
        <a:graphic xmlns:a="http://schemas.openxmlformats.org/drawingml/2006/main">
          <a:graphicData uri="http://schemas.openxmlformats.org/drawingml/2006/table">
            <a:tbl>
              <a:tblPr/>
              <a:tblGrid>
                <a:gridCol w="2609850"/>
                <a:gridCol w="3733800"/>
                <a:gridCol w="4629150"/>
              </a:tblGrid>
              <a:tr h="628650">
                <a:tc>
                  <a:txBody>
                    <a:bodyPr/>
                    <a:lstStyle/>
                    <a:p>
                      <a:r>
                        <a:rPr sz="1800" b="1">
                          <a:solidFill>
                            <a:srgbClr val="FFFFFF"/>
                          </a:solidFill>
                          <a:latin typeface="DejaVu Sans"/>
                          <a:ea typeface="DejaVu Sans"/>
                          <a:cs typeface="DejaVu Sans"/>
                        </a:rPr>
                        <a:t>Comparison</a:t>
                      </a:r>
                    </a:p>
                  </a:txBody>
                  <a:tcPr marL="152400" marR="152400" marT="133350" marB="114300" anchor="ctr">
                    <a:solidFill>
                      <a:srgbClr val="172D3C"/>
                    </a:solidFill>
                  </a:tcPr>
                </a:tc>
                <a:tc>
                  <a:txBody>
                    <a:bodyPr/>
                    <a:lstStyle/>
                    <a:p>
                      <a:r>
                        <a:rPr sz="1800" b="1">
                          <a:solidFill>
                            <a:srgbClr val="FFFFFF"/>
                          </a:solidFill>
                          <a:latin typeface="DejaVu Sans"/>
                          <a:ea typeface="DejaVu Sans"/>
                          <a:cs typeface="DejaVu Sans"/>
                        </a:rPr>
                        <a:t>What changes</a:t>
                      </a:r>
                    </a:p>
                  </a:txBody>
                  <a:tcPr marL="152400" marR="152400" marT="133350" marB="114300" anchor="ctr">
                    <a:solidFill>
                      <a:srgbClr val="172D3C"/>
                    </a:solidFill>
                  </a:tcPr>
                </a:tc>
                <a:tc>
                  <a:txBody>
                    <a:bodyPr/>
                    <a:lstStyle/>
                    <a:p>
                      <a:r>
                        <a:rPr sz="1800" b="1">
                          <a:solidFill>
                            <a:srgbClr val="FFFFFF"/>
                          </a:solidFill>
                          <a:latin typeface="DejaVu Sans"/>
                          <a:ea typeface="DejaVu Sans"/>
                          <a:cs typeface="DejaVu Sans"/>
                        </a:rPr>
                        <a:t>What remains active</a:t>
                      </a:r>
                    </a:p>
                  </a:txBody>
                  <a:tcPr marL="152400" marR="152400" marT="133350" marB="114300" anchor="ctr">
                    <a:solidFill>
                      <a:srgbClr val="172D3C"/>
                    </a:solidFill>
                  </a:tcPr>
                </a:tc>
              </a:tr>
              <a:tr h="854075">
                <a:tc>
                  <a:txBody>
                    <a:bodyPr/>
                    <a:lstStyle/>
                    <a:p>
                      <a:r>
                        <a:rPr sz="1800" b="0">
                          <a:solidFill>
                            <a:srgbClr val="172D3C"/>
                          </a:solidFill>
                          <a:latin typeface="DejaVu Sans"/>
                          <a:ea typeface="DejaVu Sans"/>
                          <a:cs typeface="DejaVu Sans"/>
                        </a:rPr>
                        <a:t>Initiation</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Nearly uniform start</a:t>
                      </a:r>
                    </a:p>
                    <a:p>
                      <a:r>
                        <a:rPr sz="1800" b="0">
                          <a:solidFill>
                            <a:srgbClr val="172D3C"/>
                          </a:solidFill>
                          <a:latin typeface="DejaVu Sans"/>
                          <a:ea typeface="DejaVu Sans"/>
                          <a:cs typeface="DejaVu Sans"/>
                        </a:rPr>
                        <a:t>χ = 0 versus 0.35</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Mechanics and live conductances</a:t>
                      </a:r>
                    </a:p>
                  </a:txBody>
                  <a:tcPr marL="152400" marR="152400" marT="133350" marB="114300" anchor="ctr">
                    <a:solidFill>
                      <a:srgbClr val="FFFFFF"/>
                    </a:solidFill>
                  </a:tcPr>
                </a:tc>
              </a:tr>
              <a:tr h="854075">
                <a:tc>
                  <a:txBody>
                    <a:bodyPr/>
                    <a:lstStyle/>
                    <a:p>
                      <a:r>
                        <a:rPr sz="1800" b="0">
                          <a:solidFill>
                            <a:srgbClr val="172D3C"/>
                          </a:solidFill>
                          <a:latin typeface="DejaVu Sans"/>
                          <a:ea typeface="DejaVu Sans"/>
                          <a:cs typeface="DejaVu Sans"/>
                        </a:rPr>
                        <a:t>Conductance intervention</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G(t) versus G(0)</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Moving cells, current volumes,</a:t>
                      </a:r>
                    </a:p>
                    <a:p>
                      <a:r>
                        <a:rPr sz="1800" b="0">
                          <a:solidFill>
                            <a:srgbClr val="172D3C"/>
                          </a:solidFill>
                          <a:latin typeface="DejaVu Sans"/>
                          <a:ea typeface="DejaVu Sans"/>
                          <a:cs typeface="DejaVu Sans"/>
                        </a:rPr>
                        <a:t>polarity and dilution</a:t>
                      </a:r>
                    </a:p>
                  </a:txBody>
                  <a:tcPr marL="152400" marR="152400" marT="133350" marB="114300" anchor="ctr">
                    <a:solidFill>
                      <a:srgbClr val="F3F7F9"/>
                    </a:solidFill>
                  </a:tcPr>
                </a:tc>
              </a:tr>
              <a:tr h="854075">
                <a:tc>
                  <a:txBody>
                    <a:bodyPr/>
                    <a:lstStyle/>
                    <a:p>
                      <a:r>
                        <a:rPr sz="1800" b="0">
                          <a:solidFill>
                            <a:srgbClr val="172D3C"/>
                          </a:solidFill>
                          <a:latin typeface="DejaVu Sans"/>
                          <a:ea typeface="DejaVu Sans"/>
                          <a:cs typeface="DejaVu Sans"/>
                        </a:rPr>
                        <a:t>Maintenance</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Developed chemical start</a:t>
                      </a:r>
                    </a:p>
                    <a:p>
                      <a:r>
                        <a:rPr sz="1800" b="0">
                          <a:solidFill>
                            <a:srgbClr val="172D3C"/>
                          </a:solidFill>
                          <a:latin typeface="DejaVu Sans"/>
                          <a:ea typeface="DejaVu Sans"/>
                          <a:cs typeface="DejaVu Sans"/>
                        </a:rPr>
                        <a:t>χ = 0 versus 0.35</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Mechanics and live conductances</a:t>
                      </a:r>
                    </a:p>
                  </a:txBody>
                  <a:tcPr marL="152400" marR="152400" marT="133350" marB="1143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AB8D7CD-CBB2-4F27-AC40-40CB6C33847E}"/>
              </a:ext>
            </a:extLst>
          </p:cNvPr>
          <p:cNvSpPr>
            <a:spLocks xmlns:a="http://schemas.openxmlformats.org/drawingml/2006/main" noGrp="1"/>
          </p:cNvSpPr>
          <p:nvPr/>
        </p:nvSpPr>
        <p:spPr>
          <a:xfrm xmlns:a="http://schemas.openxmlformats.org/drawingml/2006/main">
            <a:off x="609600" y="55816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7F86"/>
                </a:solidFill>
                <a:latin typeface="DejaVu Sans"/>
                <a:ea typeface="DejaVu Sans"/>
                <a:cs typeface="DejaVu Sans"/>
              </a:defRPr>
            </a:pPr>
            <a:r>
              <a:rPr sz="1950" b="1">
                <a:solidFill>
                  <a:srgbClr val="007F86"/>
                </a:solidFill>
                <a:latin typeface="DejaVu Sans"/>
                <a:ea typeface="DejaVu Sans"/>
                <a:cs typeface="DejaVu Sans"/>
              </a:rPr>
              <a:t>Three existing histories. Two timesteps. GPU paths are nested numerical measurements.</a:t>
            </a:r>
          </a:p>
        </p:txBody>
      </p:sp>
    </p:spTree>
    <p:extLst>
      <p:ext uri="{BB962C8B-B14F-4D97-AF65-F5344CB8AC3E}">
        <p14:creationId xmlns:p14="http://schemas.microsoft.com/office/powerpoint/2010/main" val="14989132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B10FEE-62F5-4736-8846-31528F356ACC}"/>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Polarity-specific suppression occurs in one history</a:t>
            </a:r>
          </a:p>
        </p:txBody>
      </p:sp>
      <p:sp>
        <p:nvSpPr>
          <p:cNvPr id="2" name="">
            <a:extLst xmlns:a="http://schemas.openxmlformats.org/drawingml/2006/main">
              <a:ext uri="{FF2B5EF4-FFF2-40B4-BE49-F238E27FC236}">
                <a16:creationId xmlns:a16="http://schemas.microsoft.com/office/drawing/2014/main" id="{CB884C89-DB48-4587-A24B-3B2761B050BE}"/>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The evolving-contact comparison retains the original 1/3 reporting rule.</a:t>
            </a:r>
          </a:p>
        </p:txBody>
      </p:sp>
      <p:sp>
        <p:nvSpPr>
          <p:cNvPr id="3" name="">
            <a:extLst xmlns:a="http://schemas.openxmlformats.org/drawingml/2006/main">
              <a:ext uri="{FF2B5EF4-FFF2-40B4-BE49-F238E27FC236}">
                <a16:creationId xmlns:a16="http://schemas.microsoft.com/office/drawing/2014/main" id="{CD8C18A5-4446-41CA-A947-B2356DA9AD9F}"/>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A76BE14C-FEC8-4818-99E7-998600911C79}"/>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12</a:t>
            </a:r>
          </a:p>
        </p:txBody>
      </p:sp>
      <p:graphicFrame>
        <p:nvGraphicFramePr>
          <p:cNvPr id="11" name=""/>
          <p:cNvGraphicFramePr/>
          <p:nvPr/>
        </p:nvGraphicFramePr>
        <p:xfrm>
          <a:off xmlns:a="http://schemas.openxmlformats.org/drawingml/2006/main" x="609600" y="2038350"/>
          <a:ext xmlns:a="http://schemas.openxmlformats.org/drawingml/2006/main" cx="10972800" cy="3219450"/>
        </p:xfrm>
        <a:graphic xmlns:a="http://schemas.openxmlformats.org/drawingml/2006/main">
          <a:graphicData uri="http://schemas.openxmlformats.org/drawingml/2006/table">
            <a:tbl>
              <a:tblPr/>
              <a:tblGrid>
                <a:gridCol w="1619250"/>
                <a:gridCol w="4676775"/>
                <a:gridCol w="4676775"/>
              </a:tblGrid>
              <a:tr h="628650">
                <a:tc>
                  <a:txBody>
                    <a:bodyPr/>
                    <a:lstStyle/>
                    <a:p>
                      <a:r>
                        <a:rPr sz="1875" b="1">
                          <a:solidFill>
                            <a:srgbClr val="FFFFFF"/>
                          </a:solidFill>
                          <a:latin typeface="DejaVu Sans"/>
                          <a:ea typeface="DejaVu Sans"/>
                          <a:cs typeface="DejaVu Sans"/>
                        </a:rPr>
                        <a:t>History</a:t>
                      </a:r>
                    </a:p>
                  </a:txBody>
                  <a:tcPr marL="152400" marR="152400" marT="133350" marB="114300" anchor="ctr">
                    <a:solidFill>
                      <a:srgbClr val="172D3C"/>
                    </a:solidFill>
                  </a:tcPr>
                </a:tc>
                <a:tc>
                  <a:txBody>
                    <a:bodyPr/>
                    <a:lstStyle/>
                    <a:p>
                      <a:r>
                        <a:rPr sz="1875" b="1">
                          <a:solidFill>
                            <a:srgbClr val="FFFFFF"/>
                          </a:solidFill>
                          <a:latin typeface="DejaVu Sans"/>
                          <a:ea typeface="DejaVu Sans"/>
                          <a:cs typeface="DejaVu Sans"/>
                        </a:rPr>
                        <a:t>Evolving contacts, χ = 0</a:t>
                      </a:r>
                    </a:p>
                  </a:txBody>
                  <a:tcPr marL="152400" marR="152400" marT="133350" marB="114300" anchor="ctr">
                    <a:solidFill>
                      <a:srgbClr val="172D3C"/>
                    </a:solidFill>
                  </a:tcPr>
                </a:tc>
                <a:tc>
                  <a:txBody>
                    <a:bodyPr/>
                    <a:lstStyle/>
                    <a:p>
                      <a:r>
                        <a:rPr sz="1875" b="1">
                          <a:solidFill>
                            <a:srgbClr val="FFFFFF"/>
                          </a:solidFill>
                          <a:latin typeface="DejaVu Sans"/>
                          <a:ea typeface="DejaVu Sans"/>
                          <a:cs typeface="DejaVu Sans"/>
                        </a:rPr>
                        <a:t>Evolving contacts, χ = 0.35</a:t>
                      </a:r>
                    </a:p>
                  </a:txBody>
                  <a:tcPr marL="152400" marR="152400" marT="133350" marB="114300" anchor="ctr">
                    <a:solidFill>
                      <a:srgbClr val="172D3C"/>
                    </a:solidFill>
                  </a:tcPr>
                </a:tc>
              </a:tr>
              <a:tr h="863600">
                <a:tc>
                  <a:txBody>
                    <a:bodyPr/>
                    <a:lstStyle/>
                    <a:p>
                      <a:r>
                        <a:rPr sz="1875" b="0">
                          <a:solidFill>
                            <a:srgbClr val="172D3C"/>
                          </a:solidFill>
                          <a:latin typeface="DejaVu Sans"/>
                          <a:ea typeface="DejaVu Sans"/>
                          <a:cs typeface="DejaVu Sans"/>
                        </a:rPr>
                        <a:t>7</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No formation</a:t>
                      </a:r>
                    </a:p>
                    <a:p>
                      <a:r>
                        <a:rPr sz="1875" b="0">
                          <a:solidFill>
                            <a:srgbClr val="172D3C"/>
                          </a:solidFill>
                          <a:latin typeface="DejaVu Sans"/>
                          <a:ea typeface="DejaVu Sans"/>
                          <a:cs typeface="DejaVu Sans"/>
                        </a:rPr>
                        <a:t>Final S = 1.88 × 10⁻⁶</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No formation</a:t>
                      </a:r>
                    </a:p>
                    <a:p>
                      <a:r>
                        <a:rPr sz="1875" b="0">
                          <a:solidFill>
                            <a:srgbClr val="172D3C"/>
                          </a:solidFill>
                          <a:latin typeface="DejaVu Sans"/>
                          <a:ea typeface="DejaVu Sans"/>
                          <a:cs typeface="DejaVu Sans"/>
                        </a:rPr>
                        <a:t>Final S = 8.06 × 10⁻⁹</a:t>
                      </a:r>
                    </a:p>
                  </a:txBody>
                  <a:tcPr marL="152400" marR="152400" marT="133350" marB="114300" anchor="ctr">
                    <a:solidFill>
                      <a:srgbClr val="FFFFFF"/>
                    </a:solidFill>
                  </a:tcPr>
                </a:tc>
              </a:tr>
              <a:tr h="863600">
                <a:tc>
                  <a:txBody>
                    <a:bodyPr/>
                    <a:lstStyle/>
                    <a:p>
                      <a:r>
                        <a:rPr sz="1875" b="0">
                          <a:solidFill>
                            <a:srgbClr val="172D3C"/>
                          </a:solidFill>
                          <a:latin typeface="DejaVu Sans"/>
                          <a:ea typeface="DejaVu Sans"/>
                          <a:cs typeface="DejaVu Sans"/>
                        </a:rPr>
                        <a:t>8</a:t>
                      </a:r>
                    </a:p>
                  </a:txBody>
                  <a:tcPr marL="152400" marR="152400" marT="133350" marB="114300" anchor="ctr">
                    <a:solidFill>
                      <a:srgbClr val="F3F7F9"/>
                    </a:solidFill>
                  </a:tcPr>
                </a:tc>
                <a:tc>
                  <a:txBody>
                    <a:bodyPr/>
                    <a:lstStyle/>
                    <a:p>
                      <a:r>
                        <a:rPr sz="1875" b="0">
                          <a:solidFill>
                            <a:srgbClr val="172D3C"/>
                          </a:solidFill>
                          <a:latin typeface="DejaVu Sans"/>
                          <a:ea typeface="DejaVu Sans"/>
                          <a:cs typeface="DejaVu Sans"/>
                        </a:rPr>
                        <a:t>No formation</a:t>
                      </a:r>
                    </a:p>
                    <a:p>
                      <a:r>
                        <a:rPr sz="1875" b="0">
                          <a:solidFill>
                            <a:srgbClr val="172D3C"/>
                          </a:solidFill>
                          <a:latin typeface="DejaVu Sans"/>
                          <a:ea typeface="DejaVu Sans"/>
                          <a:cs typeface="DejaVu Sans"/>
                        </a:rPr>
                        <a:t>Final S = 8.10 × 10⁻⁷</a:t>
                      </a:r>
                    </a:p>
                  </a:txBody>
                  <a:tcPr marL="152400" marR="152400" marT="133350" marB="114300" anchor="ctr">
                    <a:solidFill>
                      <a:srgbClr val="F3F7F9"/>
                    </a:solidFill>
                  </a:tcPr>
                </a:tc>
                <a:tc>
                  <a:txBody>
                    <a:bodyPr/>
                    <a:lstStyle/>
                    <a:p>
                      <a:r>
                        <a:rPr sz="1875" b="0">
                          <a:solidFill>
                            <a:srgbClr val="172D3C"/>
                          </a:solidFill>
                          <a:latin typeface="DejaVu Sans"/>
                          <a:ea typeface="DejaVu Sans"/>
                          <a:cs typeface="DejaVu Sans"/>
                        </a:rPr>
                        <a:t>No formation</a:t>
                      </a:r>
                    </a:p>
                    <a:p>
                      <a:r>
                        <a:rPr sz="1875" b="0">
                          <a:solidFill>
                            <a:srgbClr val="172D3C"/>
                          </a:solidFill>
                          <a:latin typeface="DejaVu Sans"/>
                          <a:ea typeface="DejaVu Sans"/>
                          <a:cs typeface="DejaVu Sans"/>
                        </a:rPr>
                        <a:t>Final S = 8.67 × 10⁻⁹</a:t>
                      </a:r>
                    </a:p>
                  </a:txBody>
                  <a:tcPr marL="152400" marR="152400" marT="133350" marB="114300" anchor="ctr">
                    <a:solidFill>
                      <a:srgbClr val="F3F7F9"/>
                    </a:solidFill>
                  </a:tcPr>
                </a:tc>
              </a:tr>
              <a:tr h="863600">
                <a:tc>
                  <a:txBody>
                    <a:bodyPr/>
                    <a:lstStyle/>
                    <a:p>
                      <a:r>
                        <a:rPr sz="1875" b="0">
                          <a:solidFill>
                            <a:srgbClr val="172D3C"/>
                          </a:solidFill>
                          <a:latin typeface="DejaVu Sans"/>
                          <a:ea typeface="DejaVu Sans"/>
                          <a:cs typeface="DejaVu Sans"/>
                        </a:rPr>
                        <a:t>9</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Formation</a:t>
                      </a:r>
                    </a:p>
                    <a:p>
                      <a:r>
                        <a:rPr sz="1875" b="0">
                          <a:solidFill>
                            <a:srgbClr val="172D3C"/>
                          </a:solidFill>
                          <a:latin typeface="DejaVu Sans"/>
                          <a:ea typeface="DejaVu Sans"/>
                          <a:cs typeface="DejaVu Sans"/>
                        </a:rPr>
                        <a:t>Final S = 1.5832</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No formation</a:t>
                      </a:r>
                    </a:p>
                    <a:p>
                      <a:r>
                        <a:rPr sz="1875" b="0">
                          <a:solidFill>
                            <a:srgbClr val="172D3C"/>
                          </a:solidFill>
                          <a:latin typeface="DejaVu Sans"/>
                          <a:ea typeface="DejaVu Sans"/>
                          <a:cs typeface="DejaVu Sans"/>
                        </a:rPr>
                        <a:t>Final S = 1.36 × 10⁻⁸</a:t>
                      </a:r>
                    </a:p>
                  </a:txBody>
                  <a:tcPr marL="152400" marR="152400" marT="133350" marB="1143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B1CBC03-9E71-47A6-B2DE-95896BB791A0}"/>
              </a:ext>
            </a:extLst>
          </p:cNvPr>
          <p:cNvSpPr>
            <a:spLocks xmlns:a="http://schemas.openxmlformats.org/drawingml/2006/main" noGrp="1"/>
          </p:cNvSpPr>
          <p:nvPr/>
        </p:nvSpPr>
        <p:spPr>
          <a:xfrm xmlns:a="http://schemas.openxmlformats.org/drawingml/2006/main">
            <a:off x="609600" y="56102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36978"/>
                </a:solidFill>
                <a:latin typeface="DejaVu Sans"/>
                <a:ea typeface="DejaVu Sans"/>
                <a:cs typeface="DejaVu Sans"/>
              </a:defRPr>
            </a:pPr>
            <a:r>
              <a:rPr sz="1875" b="0">
                <a:solidFill>
                  <a:srgbClr val="536978"/>
                </a:solidFill>
                <a:latin typeface="DejaVu Sans"/>
                <a:ea typeface="DejaVu Sans"/>
                <a:cs typeface="DejaVu Sans"/>
              </a:rPr>
              <a:t>S = across-cell SD(ln a). Sustained formation requires S &gt; 0.1 over the final 24 units.</a:t>
            </a:r>
          </a:p>
        </p:txBody>
      </p:sp>
    </p:spTree>
    <p:extLst>
      <p:ext uri="{BB962C8B-B14F-4D97-AF65-F5344CB8AC3E}">
        <p14:creationId xmlns:p14="http://schemas.microsoft.com/office/powerpoint/2010/main" val="10391814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6FE046-2033-4097-9817-7AD502B85A7F}"/>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Preserving conductances restores formation</a:t>
            </a:r>
          </a:p>
        </p:txBody>
      </p:sp>
      <p:sp>
        <p:nvSpPr>
          <p:cNvPr id="2" name="">
            <a:extLst xmlns:a="http://schemas.openxmlformats.org/drawingml/2006/main">
              <a:ext uri="{FF2B5EF4-FFF2-40B4-BE49-F238E27FC236}">
                <a16:creationId xmlns:a16="http://schemas.microsoft.com/office/drawing/2014/main" id="{CD62269D-8116-4324-BD98-61CA0A91AC51}"/>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All three histories form at χ = 0.35 when the initial chemical exchange capacities remain available.</a:t>
            </a:r>
          </a:p>
        </p:txBody>
      </p:sp>
      <p:sp>
        <p:nvSpPr>
          <p:cNvPr id="3" name="">
            <a:extLst xmlns:a="http://schemas.openxmlformats.org/drawingml/2006/main">
              <a:ext uri="{FF2B5EF4-FFF2-40B4-BE49-F238E27FC236}">
                <a16:creationId xmlns:a16="http://schemas.microsoft.com/office/drawing/2014/main" id="{CBC72805-0E94-4AE5-A75B-7855A03ED854}"/>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B45B95C7-D48B-4227-86BA-70A1A868BFA5}"/>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13</a:t>
            </a:r>
          </a:p>
        </p:txBody>
      </p:sp>
      <p:graphicFrame>
        <p:nvGraphicFramePr>
          <p:cNvPr id="11" name="Chart"/>
          <p:cNvGraphicFramePr/>
          <p:nvPr/>
        </p:nvGraphicFramePr>
        <p:xfrm>
          <a:off xmlns:a="http://schemas.openxmlformats.org/drawingml/2006/main" x="609600" y="1943100"/>
          <a:ext xmlns:a="http://schemas.openxmlformats.org/drawingml/2006/main" cx="10972800" cy="3743325"/>
        </p:xfrm>
        <a:graphic xmlns:a="http://schemas.openxmlformats.org/drawingml/2006/main">
          <a:graphicData uri="http://schemas.openxmlformats.org/drawingml/2006/chart">
            <c:chart xmlns:r="http://schemas.openxmlformats.org/officeDocument/2006/relationships" xmlns:c="http://schemas.openxmlformats.org/drawingml/2006/chart" r:id="R037c13e829ab40d6"/>
          </a:graphicData>
        </a:graphic>
      </p:graphicFrame>
      <p:sp>
        <p:nvSpPr>
          <p:cNvPr id="6" name="">
            <a:extLst xmlns:a="http://schemas.openxmlformats.org/drawingml/2006/main">
              <a:ext uri="{FF2B5EF4-FFF2-40B4-BE49-F238E27FC236}">
                <a16:creationId xmlns:a16="http://schemas.microsoft.com/office/drawing/2014/main" id="{6D49B605-E438-4276-9180-C1CB76F3CF4D}"/>
              </a:ext>
            </a:extLst>
          </p:cNvPr>
          <p:cNvSpPr>
            <a:spLocks xmlns:a="http://schemas.openxmlformats.org/drawingml/2006/main" noGrp="1"/>
          </p:cNvSpPr>
          <p:nvPr/>
        </p:nvSpPr>
        <p:spPr>
          <a:xfrm xmlns:a="http://schemas.openxmlformats.org/drawingml/2006/main">
            <a:off x="609600" y="5838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DejaVu Sans"/>
                <a:ea typeface="DejaVu Sans"/>
                <a:cs typeface="DejaVu Sans"/>
              </a:defRPr>
            </a:pPr>
            <a:r>
              <a:rPr sz="1875" b="1">
                <a:solidFill>
                  <a:srgbClr val="007F86"/>
                </a:solidFill>
                <a:latin typeface="DejaVu Sans"/>
                <a:ea typeface="DejaVu Sans"/>
                <a:cs typeface="DejaVu Sans"/>
              </a:rPr>
              <a:t>Cells still move. Volumes and dilution remain live. Chemical G stays fixed.</a:t>
            </a:r>
          </a:p>
        </p:txBody>
      </p:sp>
    </p:spTree>
    <p:extLst>
      <p:ext uri="{BB962C8B-B14F-4D97-AF65-F5344CB8AC3E}">
        <p14:creationId xmlns:p14="http://schemas.microsoft.com/office/powerpoint/2010/main" val="6838363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845ADD-1FCA-4BF9-8AC7-4518E43BB6CC}"/>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A changing graph can close the growth opportunity</a:t>
            </a:r>
          </a:p>
        </p:txBody>
      </p:sp>
      <p:sp>
        <p:nvSpPr>
          <p:cNvPr id="2" name="">
            <a:extLst xmlns:a="http://schemas.openxmlformats.org/drawingml/2006/main">
              <a:ext uri="{FF2B5EF4-FFF2-40B4-BE49-F238E27FC236}">
                <a16:creationId xmlns:a16="http://schemas.microsoft.com/office/drawing/2014/main" id="{FE85DF32-7B14-4F4A-853D-02F75158030B}"/>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Directional tension makes the uniform-state growth rate become negative earlier in history 9.</a:t>
            </a:r>
          </a:p>
        </p:txBody>
      </p:sp>
      <p:sp>
        <p:nvSpPr>
          <p:cNvPr id="3" name="">
            <a:extLst xmlns:a="http://schemas.openxmlformats.org/drawingml/2006/main">
              <a:ext uri="{FF2B5EF4-FFF2-40B4-BE49-F238E27FC236}">
                <a16:creationId xmlns:a16="http://schemas.microsoft.com/office/drawing/2014/main" id="{9FD5523C-F311-48B3-8D6F-473FBF5D7718}"/>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C5E8BED2-42BA-4814-B560-B06905FC6543}"/>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14</a:t>
            </a:r>
          </a:p>
        </p:txBody>
      </p:sp>
      <p:graphicFrame>
        <p:nvGraphicFramePr>
          <p:cNvPr id="11" name="Chart"/>
          <p:cNvGraphicFramePr/>
          <p:nvPr/>
        </p:nvGraphicFramePr>
        <p:xfrm>
          <a:off xmlns:a="http://schemas.openxmlformats.org/drawingml/2006/main" x="609600" y="1943100"/>
          <a:ext xmlns:a="http://schemas.openxmlformats.org/drawingml/2006/main" cx="10972800" cy="3743325"/>
        </p:xfrm>
        <a:graphic xmlns:a="http://schemas.openxmlformats.org/drawingml/2006/main">
          <a:graphicData uri="http://schemas.openxmlformats.org/drawingml/2006/chart">
            <c:chart xmlns:r="http://schemas.openxmlformats.org/officeDocument/2006/relationships" xmlns:c="http://schemas.openxmlformats.org/drawingml/2006/chart" r:id="Rbd6370c0b0574790"/>
          </a:graphicData>
        </a:graphic>
      </p:graphicFrame>
      <p:sp>
        <p:nvSpPr>
          <p:cNvPr id="6" name="">
            <a:extLst xmlns:a="http://schemas.openxmlformats.org/drawingml/2006/main">
              <a:ext uri="{FF2B5EF4-FFF2-40B4-BE49-F238E27FC236}">
                <a16:creationId xmlns:a16="http://schemas.microsoft.com/office/drawing/2014/main" id="{DF227D29-8C6B-46A2-B103-D22B7D732E9E}"/>
              </a:ext>
            </a:extLst>
          </p:cNvPr>
          <p:cNvSpPr>
            <a:spLocks xmlns:a="http://schemas.openxmlformats.org/drawingml/2006/main" noGrp="1"/>
          </p:cNvSpPr>
          <p:nvPr/>
        </p:nvSpPr>
        <p:spPr>
          <a:xfrm xmlns:a="http://schemas.openxmlformats.org/drawingml/2006/main">
            <a:off x="609600" y="58388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36978"/>
                </a:solidFill>
                <a:latin typeface="DejaVu Sans"/>
                <a:ea typeface="DejaVu Sans"/>
                <a:cs typeface="DejaVu Sans"/>
              </a:defRPr>
            </a:pPr>
            <a:r>
              <a:rPr sz="1875" b="0">
                <a:solidFill>
                  <a:srgbClr val="536978"/>
                </a:solidFill>
                <a:latin typeface="DejaVu Sans"/>
                <a:ea typeface="DejaVu Sans"/>
                <a:cs typeface="DejaVu Sans"/>
              </a:rPr>
              <a:t>The fixed-network branch retains growing modes. These are frozen snapshots of a moving system.</a:t>
            </a:r>
          </a:p>
        </p:txBody>
      </p:sp>
    </p:spTree>
    <p:extLst>
      <p:ext uri="{BB962C8B-B14F-4D97-AF65-F5344CB8AC3E}">
        <p14:creationId xmlns:p14="http://schemas.microsoft.com/office/powerpoint/2010/main" val="12381106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8C0C4D-B817-4CFD-8D61-D54627FFB677}"/>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Developed patterns survive moving mechanics</a:t>
            </a:r>
          </a:p>
        </p:txBody>
      </p:sp>
      <p:sp>
        <p:nvSpPr>
          <p:cNvPr id="2" name="">
            <a:extLst xmlns:a="http://schemas.openxmlformats.org/drawingml/2006/main">
              <a:ext uri="{FF2B5EF4-FFF2-40B4-BE49-F238E27FC236}">
                <a16:creationId xmlns:a16="http://schemas.microsoft.com/office/drawing/2014/main" id="{00A9F1E9-2811-45B7-A047-9A01ADB43B20}"/>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Matched χ = 0.35 continuations retain contrast in histories 7 and 9 at both tested timesteps.</a:t>
            </a:r>
          </a:p>
        </p:txBody>
      </p:sp>
      <p:sp>
        <p:nvSpPr>
          <p:cNvPr id="3" name="">
            <a:extLst xmlns:a="http://schemas.openxmlformats.org/drawingml/2006/main">
              <a:ext uri="{FF2B5EF4-FFF2-40B4-BE49-F238E27FC236}">
                <a16:creationId xmlns:a16="http://schemas.microsoft.com/office/drawing/2014/main" id="{37FD9396-CB84-4EBD-91AA-79DA21FA50C1}"/>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1644BF68-5E46-461B-98F6-6E8E3055B68A}"/>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15</a:t>
            </a:r>
          </a:p>
        </p:txBody>
      </p:sp>
      <p:graphicFrame>
        <p:nvGraphicFramePr>
          <p:cNvPr id="11" name="Chart"/>
          <p:cNvGraphicFramePr/>
          <p:nvPr/>
        </p:nvGraphicFramePr>
        <p:xfrm>
          <a:off xmlns:a="http://schemas.openxmlformats.org/drawingml/2006/main" x="609600" y="19431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9f54aa2de94543da"/>
          </a:graphicData>
        </a:graphic>
      </p:graphicFrame>
      <p:sp>
        <p:nvSpPr>
          <p:cNvPr id="6" name="">
            <a:extLst xmlns:a="http://schemas.openxmlformats.org/drawingml/2006/main">
              <a:ext uri="{FF2B5EF4-FFF2-40B4-BE49-F238E27FC236}">
                <a16:creationId xmlns:a16="http://schemas.microsoft.com/office/drawing/2014/main" id="{E6A57CC5-A55F-43A1-A269-E0955126C44C}"/>
              </a:ext>
            </a:extLst>
          </p:cNvPr>
          <p:cNvSpPr>
            <a:spLocks xmlns:a="http://schemas.openxmlformats.org/drawingml/2006/main" noGrp="1"/>
          </p:cNvSpPr>
          <p:nvPr/>
        </p:nvSpPr>
        <p:spPr>
          <a:xfrm xmlns:a="http://schemas.openxmlformats.org/drawingml/2006/main">
            <a:off x="609600" y="58102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36978"/>
                </a:solidFill>
                <a:latin typeface="DejaVu Sans"/>
                <a:ea typeface="DejaVu Sans"/>
                <a:cs typeface="DejaVu Sans"/>
              </a:defRPr>
            </a:pPr>
            <a:r>
              <a:rPr sz="1875" b="0">
                <a:solidFill>
                  <a:srgbClr val="536978"/>
                </a:solidFill>
                <a:latin typeface="DejaVu Sans"/>
                <a:ea typeface="DejaVu Sans"/>
                <a:cs typeface="DejaVu Sans"/>
              </a:rPr>
              <a:t>Interim: 10/12 paths complete, 5/6 full pairs pass. History 8 at χ = 0.35 remains pending.</a:t>
            </a:r>
          </a:p>
        </p:txBody>
      </p:sp>
    </p:spTree>
    <p:extLst>
      <p:ext uri="{BB962C8B-B14F-4D97-AF65-F5344CB8AC3E}">
        <p14:creationId xmlns:p14="http://schemas.microsoft.com/office/powerpoint/2010/main" val="16200819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EBEDD0-387A-4C03-ADD9-FC7D933692F6}"/>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The starting chemical state changes the outcome</a:t>
            </a:r>
          </a:p>
        </p:txBody>
      </p:sp>
      <p:sp>
        <p:nvSpPr>
          <p:cNvPr id="2" name="">
            <a:extLst xmlns:a="http://schemas.openxmlformats.org/drawingml/2006/main">
              <a:ext uri="{FF2B5EF4-FFF2-40B4-BE49-F238E27FC236}">
                <a16:creationId xmlns:a16="http://schemas.microsoft.com/office/drawing/2014/main" id="{5DD6D93C-9087-45C5-8769-B3D006264906}"/>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History 9 at the same positive polarity contrast illustrates initiation versus maintenance.</a:t>
            </a:r>
          </a:p>
        </p:txBody>
      </p:sp>
      <p:sp>
        <p:nvSpPr>
          <p:cNvPr id="3" name="">
            <a:extLst xmlns:a="http://schemas.openxmlformats.org/drawingml/2006/main">
              <a:ext uri="{FF2B5EF4-FFF2-40B4-BE49-F238E27FC236}">
                <a16:creationId xmlns:a16="http://schemas.microsoft.com/office/drawing/2014/main" id="{0614B30A-21FA-4BD6-8AA0-BE56FBAC45B1}"/>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A5BD9BC0-818B-4A60-994D-F4CF8961A2A1}"/>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16</a:t>
            </a:r>
          </a:p>
        </p:txBody>
      </p:sp>
      <p:graphicFrame>
        <p:nvGraphicFramePr>
          <p:cNvPr id="11" name="Chart"/>
          <p:cNvGraphicFramePr/>
          <p:nvPr/>
        </p:nvGraphicFramePr>
        <p:xfrm>
          <a:off xmlns:a="http://schemas.openxmlformats.org/drawingml/2006/main" x="609600" y="19431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8f4dc1cfed1e46cd"/>
          </a:graphicData>
        </a:graphic>
      </p:graphicFrame>
      <p:sp>
        <p:nvSpPr>
          <p:cNvPr id="6" name="">
            <a:extLst xmlns:a="http://schemas.openxmlformats.org/drawingml/2006/main">
              <a:ext uri="{FF2B5EF4-FFF2-40B4-BE49-F238E27FC236}">
                <a16:creationId xmlns:a16="http://schemas.microsoft.com/office/drawing/2014/main" id="{4E8B9BA6-4957-492D-B690-1AB88B21DE9F}"/>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7F86"/>
                </a:solidFill>
                <a:latin typeface="DejaVu Sans"/>
                <a:ea typeface="DejaVu Sans"/>
                <a:cs typeface="DejaVu Sans"/>
              </a:defRPr>
            </a:pPr>
            <a:r>
              <a:rPr sz="1950" b="1">
                <a:solidFill>
                  <a:srgbClr val="007F86"/>
                </a:solidFill>
                <a:latin typeface="DejaVu Sans"/>
                <a:ea typeface="DejaVu Sans"/>
                <a:cs typeface="DejaVu Sans"/>
              </a:rPr>
              <a:t>Final S = 1.5645 from the developed start. The near-uniform start stays near zero.</a:t>
            </a:r>
          </a:p>
        </p:txBody>
      </p:sp>
    </p:spTree>
    <p:extLst>
      <p:ext uri="{BB962C8B-B14F-4D97-AF65-F5344CB8AC3E}">
        <p14:creationId xmlns:p14="http://schemas.microsoft.com/office/powerpoint/2010/main" val="1134976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03BA22-90C7-4054-BDAC-BEC77D977440}"/>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Frozen endpoints support local coexistence</a:t>
            </a:r>
          </a:p>
        </p:txBody>
      </p:sp>
      <p:sp>
        <p:nvSpPr>
          <p:cNvPr id="2" name="">
            <a:extLst xmlns:a="http://schemas.openxmlformats.org/drawingml/2006/main">
              <a:ext uri="{FF2B5EF4-FFF2-40B4-BE49-F238E27FC236}">
                <a16:creationId xmlns:a16="http://schemas.microsoft.com/office/drawing/2014/main" id="{E189F10B-3C9A-4310-ACEE-100805DD6984}"/>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On the same endpoint operator, small perturbations can return to either uniform or patterned chemistry.</a:t>
            </a:r>
          </a:p>
        </p:txBody>
      </p:sp>
      <p:sp>
        <p:nvSpPr>
          <p:cNvPr id="3" name="">
            <a:extLst xmlns:a="http://schemas.openxmlformats.org/drawingml/2006/main">
              <a:ext uri="{FF2B5EF4-FFF2-40B4-BE49-F238E27FC236}">
                <a16:creationId xmlns:a16="http://schemas.microsoft.com/office/drawing/2014/main" id="{5C2E33E3-75EF-43F3-8752-6CB15C0BD86C}"/>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8454029E-6D2F-411B-A1F1-ACED7878CEB3}"/>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17</a:t>
            </a:r>
          </a:p>
        </p:txBody>
      </p:sp>
      <p:graphicFrame>
        <p:nvGraphicFramePr>
          <p:cNvPr id="12" name=""/>
          <p:cNvGraphicFramePr/>
          <p:nvPr/>
        </p:nvGraphicFramePr>
        <p:xfrm>
          <a:off xmlns:a="http://schemas.openxmlformats.org/drawingml/2006/main" x="609600" y="2038350"/>
          <a:ext xmlns:a="http://schemas.openxmlformats.org/drawingml/2006/main" cx="10972800" cy="2714625"/>
        </p:xfrm>
        <a:graphic xmlns:a="http://schemas.openxmlformats.org/drawingml/2006/main">
          <a:graphicData uri="http://schemas.openxmlformats.org/drawingml/2006/table">
            <a:tbl>
              <a:tblPr/>
              <a:tblGrid>
                <a:gridCol w="3981450"/>
                <a:gridCol w="4038600"/>
                <a:gridCol w="2952750"/>
              </a:tblGrid>
              <a:tr h="628650">
                <a:tc>
                  <a:txBody>
                    <a:bodyPr/>
                    <a:lstStyle/>
                    <a:p>
                      <a:r>
                        <a:rPr sz="1875" b="1">
                          <a:solidFill>
                            <a:srgbClr val="FFFFFF"/>
                          </a:solidFill>
                          <a:latin typeface="DejaVu Sans"/>
                          <a:ea typeface="DejaVu Sans"/>
                          <a:cs typeface="DejaVu Sans"/>
                        </a:rPr>
                        <a:t>Endpoint preparation</a:t>
                      </a:r>
                    </a:p>
                  </a:txBody>
                  <a:tcPr marL="152400" marR="152400" marT="133350" marB="114300" anchor="ctr">
                    <a:solidFill>
                      <a:srgbClr val="172D3C"/>
                    </a:solidFill>
                  </a:tcPr>
                </a:tc>
                <a:tc>
                  <a:txBody>
                    <a:bodyPr/>
                    <a:lstStyle/>
                    <a:p>
                      <a:r>
                        <a:rPr sz="1875" b="1">
                          <a:solidFill>
                            <a:srgbClr val="FFFFFF"/>
                          </a:solidFill>
                          <a:latin typeface="DejaVu Sans"/>
                          <a:ea typeface="DejaVu Sans"/>
                          <a:cs typeface="DejaVu Sans"/>
                        </a:rPr>
                        <a:t>Settled chemical state</a:t>
                      </a:r>
                    </a:p>
                  </a:txBody>
                  <a:tcPr marL="152400" marR="152400" marT="133350" marB="114300" anchor="ctr">
                    <a:solidFill>
                      <a:srgbClr val="172D3C"/>
                    </a:solidFill>
                  </a:tcPr>
                </a:tc>
                <a:tc>
                  <a:txBody>
                    <a:bodyPr/>
                    <a:lstStyle/>
                    <a:p>
                      <a:r>
                        <a:rPr sz="1875" b="1">
                          <a:solidFill>
                            <a:srgbClr val="FFFFFF"/>
                          </a:solidFill>
                          <a:latin typeface="DejaVu Sans"/>
                          <a:ea typeface="DejaVu Sans"/>
                          <a:cs typeface="DejaVu Sans"/>
                        </a:rPr>
                        <a:t>Largest Jacobian growth</a:t>
                      </a:r>
                    </a:p>
                  </a:txBody>
                  <a:tcPr marL="152400" marR="152400" marT="133350" marB="114300" anchor="ctr">
                    <a:solidFill>
                      <a:srgbClr val="172D3C"/>
                    </a:solidFill>
                  </a:tcPr>
                </a:tc>
              </a:tr>
              <a:tr h="1042988">
                <a:tc>
                  <a:txBody>
                    <a:bodyPr/>
                    <a:lstStyle/>
                    <a:p>
                      <a:r>
                        <a:rPr sz="1875" b="0">
                          <a:solidFill>
                            <a:srgbClr val="172D3C"/>
                          </a:solidFill>
                          <a:latin typeface="DejaVu Sans"/>
                          <a:ea typeface="DejaVu Sans"/>
                          <a:cs typeface="DejaVu Sans"/>
                        </a:rPr>
                        <a:t>Developed state + small perturbations</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Patterned</a:t>
                      </a:r>
                    </a:p>
                    <a:p>
                      <a:r>
                        <a:rPr sz="1875" b="0">
                          <a:solidFill>
                            <a:srgbClr val="172D3C"/>
                          </a:solidFill>
                          <a:latin typeface="DejaVu Sans"/>
                          <a:ea typeface="DejaVu Sans"/>
                          <a:cs typeface="DejaVu Sans"/>
                        </a:rPr>
                        <a:t>S ≈ 1.5654</a:t>
                      </a:r>
                    </a:p>
                  </a:txBody>
                  <a:tcPr marL="152400" marR="152400" marT="133350" marB="114300" anchor="ctr">
                    <a:solidFill>
                      <a:srgbClr val="FFFFFF"/>
                    </a:solidFill>
                  </a:tcPr>
                </a:tc>
                <a:tc>
                  <a:txBody>
                    <a:bodyPr/>
                    <a:lstStyle/>
                    <a:p>
                      <a:r>
                        <a:rPr sz="1875" b="0">
                          <a:solidFill>
                            <a:srgbClr val="172D3C"/>
                          </a:solidFill>
                          <a:latin typeface="DejaVu Sans"/>
                          <a:ea typeface="DejaVu Sans"/>
                          <a:cs typeface="DejaVu Sans"/>
                        </a:rPr>
                        <a:t>-0.588</a:t>
                      </a:r>
                    </a:p>
                  </a:txBody>
                  <a:tcPr marL="152400" marR="152400" marT="133350" marB="114300" anchor="ctr">
                    <a:solidFill>
                      <a:srgbClr val="FFFFFF"/>
                    </a:solidFill>
                  </a:tcPr>
                </a:tc>
              </a:tr>
              <a:tr h="1042988">
                <a:tc>
                  <a:txBody>
                    <a:bodyPr/>
                    <a:lstStyle/>
                    <a:p>
                      <a:r>
                        <a:rPr sz="1875" b="0">
                          <a:solidFill>
                            <a:srgbClr val="172D3C"/>
                          </a:solidFill>
                          <a:latin typeface="DejaVu Sans"/>
                          <a:ea typeface="DejaVu Sans"/>
                          <a:cs typeface="DejaVu Sans"/>
                        </a:rPr>
                        <a:t>Near-uniform + small perturbations</a:t>
                      </a:r>
                    </a:p>
                  </a:txBody>
                  <a:tcPr marL="152400" marR="152400" marT="133350" marB="114300" anchor="ctr">
                    <a:solidFill>
                      <a:srgbClr val="F3F7F9"/>
                    </a:solidFill>
                  </a:tcPr>
                </a:tc>
                <a:tc>
                  <a:txBody>
                    <a:bodyPr/>
                    <a:lstStyle/>
                    <a:p>
                      <a:r>
                        <a:rPr sz="1875" b="0">
                          <a:solidFill>
                            <a:srgbClr val="172D3C"/>
                          </a:solidFill>
                          <a:latin typeface="DejaVu Sans"/>
                          <a:ea typeface="DejaVu Sans"/>
                          <a:cs typeface="DejaVu Sans"/>
                        </a:rPr>
                        <a:t>Uniform</a:t>
                      </a:r>
                    </a:p>
                    <a:p>
                      <a:r>
                        <a:rPr sz="1875" b="0">
                          <a:solidFill>
                            <a:srgbClr val="172D3C"/>
                          </a:solidFill>
                          <a:latin typeface="DejaVu Sans"/>
                          <a:ea typeface="DejaVu Sans"/>
                          <a:cs typeface="DejaVu Sans"/>
                        </a:rPr>
                        <a:t>S ≈ 0</a:t>
                      </a:r>
                    </a:p>
                  </a:txBody>
                  <a:tcPr marL="152400" marR="152400" marT="133350" marB="114300" anchor="ctr">
                    <a:solidFill>
                      <a:srgbClr val="F3F7F9"/>
                    </a:solidFill>
                  </a:tcPr>
                </a:tc>
                <a:tc>
                  <a:txBody>
                    <a:bodyPr/>
                    <a:lstStyle/>
                    <a:p>
                      <a:r>
                        <a:rPr sz="1875" b="0">
                          <a:solidFill>
                            <a:srgbClr val="172D3C"/>
                          </a:solidFill>
                          <a:latin typeface="DejaVu Sans"/>
                          <a:ea typeface="DejaVu Sans"/>
                          <a:cs typeface="DejaVu Sans"/>
                        </a:rPr>
                        <a:t>-0.241</a:t>
                      </a:r>
                    </a:p>
                  </a:txBody>
                  <a:tcPr marL="152400" marR="152400" marT="133350" marB="114300" anchor="ctr">
                    <a:solidFill>
                      <a:srgbClr val="F3F7F9"/>
                    </a:solidFill>
                  </a:tcPr>
                </a:tc>
              </a:tr>
            </a:tbl>
          </a:graphicData>
        </a:graphic>
      </p:graphicFrame>
      <p:sp>
        <p:nvSpPr>
          <p:cNvPr id="6" name="">
            <a:extLst xmlns:a="http://schemas.openxmlformats.org/drawingml/2006/main">
              <a:ext uri="{FF2B5EF4-FFF2-40B4-BE49-F238E27FC236}">
                <a16:creationId xmlns:a16="http://schemas.microsoft.com/office/drawing/2014/main" id="{10BAA50C-8790-44E2-825A-3B1958BE4596}"/>
              </a:ext>
            </a:extLst>
          </p:cNvPr>
          <p:cNvSpPr>
            <a:spLocks xmlns:a="http://schemas.openxmlformats.org/drawingml/2006/main" noGrp="1"/>
          </p:cNvSpPr>
          <p:nvPr/>
        </p:nvSpPr>
        <p:spPr>
          <a:xfrm xmlns:a="http://schemas.openxmlformats.org/drawingml/2006/main">
            <a:off x="609600" y="5143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7F86"/>
                </a:solidFill>
                <a:latin typeface="DejaVu Sans"/>
                <a:ea typeface="DejaVu Sans"/>
                <a:cs typeface="DejaVu Sans"/>
              </a:defRPr>
            </a:pPr>
            <a:r>
              <a:rPr sz="2100" b="1">
                <a:solidFill>
                  <a:srgbClr val="007F86"/>
                </a:solidFill>
                <a:latin typeface="DejaVu Sans"/>
                <a:ea typeface="DejaVu Sans"/>
                <a:cs typeface="DejaVu Sans"/>
              </a:rPr>
              <a:t>Example: history 9, χ = 0.35. Both local growth rates are negative.</a:t>
            </a:r>
          </a:p>
        </p:txBody>
      </p:sp>
      <p:sp>
        <p:nvSpPr>
          <p:cNvPr id="7" name="">
            <a:extLst xmlns:a="http://schemas.openxmlformats.org/drawingml/2006/main">
              <a:ext uri="{FF2B5EF4-FFF2-40B4-BE49-F238E27FC236}">
                <a16:creationId xmlns:a16="http://schemas.microsoft.com/office/drawing/2014/main" id="{02AC31BD-C3E4-4A12-8E7C-071B34287595}"/>
              </a:ext>
            </a:extLst>
          </p:cNvPr>
          <p:cNvSpPr>
            <a:spLocks xmlns:a="http://schemas.openxmlformats.org/drawingml/2006/main" noGrp="1"/>
          </p:cNvSpPr>
          <p:nvPr/>
        </p:nvSpPr>
        <p:spPr>
          <a:xfrm xmlns:a="http://schemas.openxmlformats.org/drawingml/2006/main">
            <a:off x="609600" y="56578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36978"/>
                </a:solidFill>
                <a:latin typeface="DejaVu Sans"/>
                <a:ea typeface="DejaVu Sans"/>
                <a:cs typeface="DejaVu Sans"/>
              </a:defRPr>
            </a:pPr>
            <a:r>
              <a:rPr sz="1875" b="0">
                <a:solidFill>
                  <a:srgbClr val="536978"/>
                </a:solidFill>
                <a:latin typeface="DejaVu Sans"/>
                <a:ea typeface="DejaVu Sans"/>
                <a:cs typeface="DejaVu Sans"/>
              </a:rPr>
              <a:t>This chemical-only endpoint test separates a finite-amplitude pattern from uniform-state instability.</a:t>
            </a:r>
          </a:p>
        </p:txBody>
      </p:sp>
    </p:spTree>
    <p:extLst>
      <p:ext uri="{BB962C8B-B14F-4D97-AF65-F5344CB8AC3E}">
        <p14:creationId xmlns:p14="http://schemas.microsoft.com/office/powerpoint/2010/main" val="18859712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5A5664-C24B-4BDE-917C-90CE98634894}"/>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Numerical qualification protects the interpretation</a:t>
            </a:r>
          </a:p>
        </p:txBody>
      </p:sp>
      <p:sp>
        <p:nvSpPr>
          <p:cNvPr id="2" name="">
            <a:extLst xmlns:a="http://schemas.openxmlformats.org/drawingml/2006/main">
              <a:ext uri="{FF2B5EF4-FFF2-40B4-BE49-F238E27FC236}">
                <a16:creationId xmlns:a16="http://schemas.microsoft.com/office/drawing/2014/main" id="{94D49523-0F51-4DC1-A3D5-7B6484561722}"/>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Small phase-field updates must accumulate rather than disappear in float32 rounding.</a:t>
            </a:r>
          </a:p>
        </p:txBody>
      </p:sp>
      <p:sp>
        <p:nvSpPr>
          <p:cNvPr id="3" name="">
            <a:extLst xmlns:a="http://schemas.openxmlformats.org/drawingml/2006/main">
              <a:ext uri="{FF2B5EF4-FFF2-40B4-BE49-F238E27FC236}">
                <a16:creationId xmlns:a16="http://schemas.microsoft.com/office/drawing/2014/main" id="{1F415319-E4EC-4FBB-8497-88907823E03D}"/>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1E80075E-C51F-4CC3-8D9F-8638D0F9366A}"/>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18</a:t>
            </a:r>
          </a:p>
        </p:txBody>
      </p:sp>
      <p:graphicFrame>
        <p:nvGraphicFramePr>
          <p:cNvPr id="10" name=""/>
          <p:cNvGraphicFramePr/>
          <p:nvPr/>
        </p:nvGraphicFramePr>
        <p:xfrm>
          <a:off xmlns:a="http://schemas.openxmlformats.org/drawingml/2006/main" x="609600" y="2038350"/>
          <a:ext xmlns:a="http://schemas.openxmlformats.org/drawingml/2006/main" cx="10972800" cy="3676650"/>
        </p:xfrm>
        <a:graphic xmlns:a="http://schemas.openxmlformats.org/drawingml/2006/main">
          <a:graphicData uri="http://schemas.openxmlformats.org/drawingml/2006/table">
            <a:tbl>
              <a:tblPr/>
              <a:tblGrid>
                <a:gridCol w="3371850"/>
                <a:gridCol w="7600950"/>
              </a:tblGrid>
              <a:tr h="628650">
                <a:tc>
                  <a:txBody>
                    <a:bodyPr/>
                    <a:lstStyle/>
                    <a:p>
                      <a:r>
                        <a:rPr sz="1800" b="1">
                          <a:solidFill>
                            <a:srgbClr val="FFFFFF"/>
                          </a:solidFill>
                          <a:latin typeface="DejaVu Sans"/>
                          <a:ea typeface="DejaVu Sans"/>
                          <a:cs typeface="DejaVu Sans"/>
                        </a:rPr>
                        <a:t>Check</a:t>
                      </a:r>
                    </a:p>
                  </a:txBody>
                  <a:tcPr marL="152400" marR="152400" marT="133350" marB="114300" anchor="ctr">
                    <a:solidFill>
                      <a:srgbClr val="172D3C"/>
                    </a:solidFill>
                  </a:tcPr>
                </a:tc>
                <a:tc>
                  <a:txBody>
                    <a:bodyPr/>
                    <a:lstStyle/>
                    <a:p>
                      <a:r>
                        <a:rPr sz="1800" b="1">
                          <a:solidFill>
                            <a:srgbClr val="FFFFFF"/>
                          </a:solidFill>
                          <a:latin typeface="DejaVu Sans"/>
                          <a:ea typeface="DejaVu Sans"/>
                          <a:cs typeface="DejaVu Sans"/>
                        </a:rPr>
                        <a:t>Evidence at this snapshot</a:t>
                      </a:r>
                    </a:p>
                  </a:txBody>
                  <a:tcPr marL="152400" marR="152400" marT="133350" marB="114300" anchor="ctr">
                    <a:solidFill>
                      <a:srgbClr val="172D3C"/>
                    </a:solidFill>
                  </a:tcPr>
                </a:tc>
              </a:tr>
              <a:tr h="762000">
                <a:tc>
                  <a:txBody>
                    <a:bodyPr/>
                    <a:lstStyle/>
                    <a:p>
                      <a:r>
                        <a:rPr sz="1800" b="0">
                          <a:solidFill>
                            <a:srgbClr val="172D3C"/>
                          </a:solidFill>
                          <a:latin typeface="DejaVu Sans"/>
                          <a:ea typeface="DejaVu Sans"/>
                          <a:cs typeface="DejaVu Sans"/>
                        </a:rPr>
                        <a:t>Phase-field accumulation</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Float64 residual carries small updates beneath float32 fields</a:t>
                      </a:r>
                    </a:p>
                  </a:txBody>
                  <a:tcPr marL="152400" marR="152400" marT="133350" marB="114300" anchor="ctr">
                    <a:solidFill>
                      <a:srgbClr val="FFFFFF"/>
                    </a:solidFill>
                  </a:tcPr>
                </a:tc>
              </a:tr>
              <a:tr h="762000">
                <a:tc>
                  <a:txBody>
                    <a:bodyPr/>
                    <a:lstStyle/>
                    <a:p>
                      <a:r>
                        <a:rPr sz="1800" b="0">
                          <a:solidFill>
                            <a:srgbClr val="172D3C"/>
                          </a:solidFill>
                          <a:latin typeface="DejaVu Sans"/>
                          <a:ea typeface="DejaVu Sans"/>
                          <a:cs typeface="DejaVu Sans"/>
                        </a:rPr>
                        <a:t>Raw timestep agreement</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5/5 completed maintenance pairs pass</a:t>
                      </a:r>
                    </a:p>
                    <a:p>
                      <a:r>
                        <a:rPr sz="1800" b="0">
                          <a:solidFill>
                            <a:srgbClr val="172D3C"/>
                          </a:solidFill>
                          <a:latin typeface="DejaVu Sans"/>
                          <a:ea typeface="DejaVu Sans"/>
                          <a:cs typeface="DejaVu Sans"/>
                        </a:rPr>
                        <a:t>Max log-concentration error = 1.44 × 10⁻⁵, gate = 0.01</a:t>
                      </a:r>
                    </a:p>
                  </a:txBody>
                  <a:tcPr marL="152400" marR="152400" marT="133350" marB="114300" anchor="ctr">
                    <a:solidFill>
                      <a:srgbClr val="F3F7F9"/>
                    </a:solidFill>
                  </a:tcPr>
                </a:tc>
              </a:tr>
              <a:tr h="762000">
                <a:tc>
                  <a:txBody>
                    <a:bodyPr/>
                    <a:lstStyle/>
                    <a:p>
                      <a:r>
                        <a:rPr sz="1800" b="0">
                          <a:solidFill>
                            <a:srgbClr val="172D3C"/>
                          </a:solidFill>
                          <a:latin typeface="DejaVu Sans"/>
                          <a:ea typeface="DejaVu Sans"/>
                          <a:cs typeface="DejaVu Sans"/>
                        </a:rPr>
                        <a:t>Physical and endpoint checks</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Volumes, boundary clearance and amount accounting pass</a:t>
                      </a:r>
                    </a:p>
                    <a:p>
                      <a:r>
                        <a:rPr sz="1800" b="0">
                          <a:solidFill>
                            <a:srgbClr val="172D3C"/>
                          </a:solidFill>
                          <a:latin typeface="DejaVu Sans"/>
                          <a:ea typeface="DejaVu Sans"/>
                          <a:cs typeface="DejaVu Sans"/>
                        </a:rPr>
                        <a:t>10/10 completed endpoint assays pass</a:t>
                      </a:r>
                    </a:p>
                  </a:txBody>
                  <a:tcPr marL="152400" marR="152400" marT="133350" marB="114300" anchor="ctr">
                    <a:solidFill>
                      <a:srgbClr val="FFFFFF"/>
                    </a:solidFill>
                  </a:tcPr>
                </a:tc>
              </a:tr>
              <a:tr h="762000">
                <a:tc>
                  <a:txBody>
                    <a:bodyPr/>
                    <a:lstStyle/>
                    <a:p>
                      <a:r>
                        <a:rPr sz="1800" b="0">
                          <a:solidFill>
                            <a:srgbClr val="172D3C"/>
                          </a:solidFill>
                          <a:latin typeface="DejaVu Sans"/>
                          <a:ea typeface="DejaVu Sans"/>
                          <a:cs typeface="DejaVu Sans"/>
                        </a:rPr>
                        <a:t>Scope still open</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Fresh zygote development and full spatial convergence</a:t>
                      </a:r>
                    </a:p>
                    <a:p>
                      <a:r>
                        <a:rPr sz="1800" b="0">
                          <a:solidFill>
                            <a:srgbClr val="172D3C"/>
                          </a:solidFill>
                          <a:latin typeface="DejaVu Sans"/>
                          <a:ea typeface="DejaVu Sans"/>
                          <a:cs typeface="DejaVu Sans"/>
                        </a:rPr>
                        <a:t>General geometric conductance accuracy</a:t>
                      </a:r>
                    </a:p>
                  </a:txBody>
                  <a:tcPr marL="152400" marR="152400" marT="133350" marB="114300" anchor="ctr">
                    <a:solidFill>
                      <a:srgbClr val="F3F7F9"/>
                    </a:solidFill>
                  </a:tcPr>
                </a:tc>
              </a:tr>
            </a:tbl>
          </a:graphicData>
        </a:graphic>
      </p:graphicFrame>
    </p:spTree>
    <p:extLst>
      <p:ext uri="{BB962C8B-B14F-4D97-AF65-F5344CB8AC3E}">
        <p14:creationId xmlns:p14="http://schemas.microsoft.com/office/powerpoint/2010/main" val="1511242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3C464F-1625-40A5-8CF9-2DF67985F157}"/>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Identity tests ask whether behavior follows context</a:t>
            </a:r>
          </a:p>
        </p:txBody>
      </p:sp>
      <p:sp>
        <p:nvSpPr>
          <p:cNvPr id="2" name="">
            <a:extLst xmlns:a="http://schemas.openxmlformats.org/drawingml/2006/main">
              <a:ext uri="{FF2B5EF4-FFF2-40B4-BE49-F238E27FC236}">
                <a16:creationId xmlns:a16="http://schemas.microsoft.com/office/drawing/2014/main" id="{595EFE02-8A63-426D-91C0-81A954B4266C}"/>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Earlier exchange and challenge assays suggest the network supports distinct cell behaviors.</a:t>
            </a:r>
          </a:p>
        </p:txBody>
      </p:sp>
      <p:sp>
        <p:nvSpPr>
          <p:cNvPr id="3" name="">
            <a:extLst xmlns:a="http://schemas.openxmlformats.org/drawingml/2006/main">
              <a:ext uri="{FF2B5EF4-FFF2-40B4-BE49-F238E27FC236}">
                <a16:creationId xmlns:a16="http://schemas.microsoft.com/office/drawing/2014/main" id="{1771E58E-1A8E-4530-BE91-3DE5EE4B7AE8}"/>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71037226-3D1C-43F4-A31C-5491E785D2CD}"/>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19</a:t>
            </a:r>
          </a:p>
        </p:txBody>
      </p:sp>
      <p:graphicFrame>
        <p:nvGraphicFramePr>
          <p:cNvPr id="11" name=""/>
          <p:cNvGraphicFramePr/>
          <p:nvPr/>
        </p:nvGraphicFramePr>
        <p:xfrm>
          <a:off xmlns:a="http://schemas.openxmlformats.org/drawingml/2006/main" x="609600" y="2038350"/>
          <a:ext xmlns:a="http://schemas.openxmlformats.org/drawingml/2006/main" cx="10972800" cy="3276600"/>
        </p:xfrm>
        <a:graphic xmlns:a="http://schemas.openxmlformats.org/drawingml/2006/main">
          <a:graphicData uri="http://schemas.openxmlformats.org/drawingml/2006/table">
            <a:tbl>
              <a:tblPr/>
              <a:tblGrid>
                <a:gridCol w="2505075"/>
                <a:gridCol w="4295775"/>
                <a:gridCol w="4171950"/>
              </a:tblGrid>
              <a:tr h="628650">
                <a:tc>
                  <a:txBody>
                    <a:bodyPr/>
                    <a:lstStyle/>
                    <a:p>
                      <a:r>
                        <a:rPr sz="1800" b="1">
                          <a:solidFill>
                            <a:srgbClr val="FFFFFF"/>
                          </a:solidFill>
                          <a:latin typeface="DejaVu Sans"/>
                          <a:ea typeface="DejaVu Sans"/>
                          <a:cs typeface="DejaVu Sans"/>
                        </a:rPr>
                        <a:t>Assay</a:t>
                      </a:r>
                    </a:p>
                  </a:txBody>
                  <a:tcPr marL="152400" marR="152400" marT="133350" marB="114300" anchor="ctr">
                    <a:solidFill>
                      <a:srgbClr val="172D3C"/>
                    </a:solidFill>
                  </a:tcPr>
                </a:tc>
                <a:tc>
                  <a:txBody>
                    <a:bodyPr/>
                    <a:lstStyle/>
                    <a:p>
                      <a:r>
                        <a:rPr sz="1800" b="1">
                          <a:solidFill>
                            <a:srgbClr val="FFFFFF"/>
                          </a:solidFill>
                          <a:latin typeface="DejaVu Sans"/>
                          <a:ea typeface="DejaVu Sans"/>
                          <a:cs typeface="DejaVu Sans"/>
                        </a:rPr>
                        <a:t>Original-method observation</a:t>
                      </a:r>
                    </a:p>
                  </a:txBody>
                  <a:tcPr marL="152400" marR="152400" marT="133350" marB="114300" anchor="ctr">
                    <a:solidFill>
                      <a:srgbClr val="172D3C"/>
                    </a:solidFill>
                  </a:tcPr>
                </a:tc>
                <a:tc>
                  <a:txBody>
                    <a:bodyPr/>
                    <a:lstStyle/>
                    <a:p>
                      <a:r>
                        <a:rPr sz="1800" b="1">
                          <a:solidFill>
                            <a:srgbClr val="FFFFFF"/>
                          </a:solidFill>
                          <a:latin typeface="DejaVu Sans"/>
                          <a:ea typeface="DejaVu Sans"/>
                          <a:cs typeface="DejaVu Sans"/>
                        </a:rPr>
                        <a:t>What it asks</a:t>
                      </a:r>
                    </a:p>
                  </a:txBody>
                  <a:tcPr marL="152400" marR="152400" marT="133350" marB="114300" anchor="ctr">
                    <a:solidFill>
                      <a:srgbClr val="172D3C"/>
                    </a:solidFill>
                  </a:tcPr>
                </a:tc>
              </a:tr>
              <a:tr h="882650">
                <a:tc>
                  <a:txBody>
                    <a:bodyPr/>
                    <a:lstStyle/>
                    <a:p>
                      <a:r>
                        <a:rPr sz="1800" b="0">
                          <a:solidFill>
                            <a:srgbClr val="172D3C"/>
                          </a:solidFill>
                          <a:latin typeface="DejaVu Sans"/>
                          <a:ea typeface="DejaVu Sans"/>
                          <a:cs typeface="DejaVu Sans"/>
                        </a:rPr>
                        <a:t>State exchange</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Chemical responses reorganize</a:t>
                      </a:r>
                    </a:p>
                    <a:p>
                      <a:r>
                        <a:rPr sz="1800" b="0">
                          <a:solidFill>
                            <a:srgbClr val="172D3C"/>
                          </a:solidFill>
                          <a:latin typeface="DejaVu Sans"/>
                          <a:ea typeface="DejaVu Sans"/>
                          <a:cs typeface="DejaVu Sans"/>
                        </a:rPr>
                        <a:t>after changing context</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Does behavior follow the cell</a:t>
                      </a:r>
                    </a:p>
                    <a:p>
                      <a:r>
                        <a:rPr sz="1800" b="0">
                          <a:solidFill>
                            <a:srgbClr val="172D3C"/>
                          </a:solidFill>
                          <a:latin typeface="DejaVu Sans"/>
                          <a:ea typeface="DejaVu Sans"/>
                          <a:cs typeface="DejaVu Sans"/>
                        </a:rPr>
                        <a:t>or its surroundings?</a:t>
                      </a:r>
                    </a:p>
                  </a:txBody>
                  <a:tcPr marL="152400" marR="152400" marT="133350" marB="114300" anchor="ctr">
                    <a:solidFill>
                      <a:srgbClr val="FFFFFF"/>
                    </a:solidFill>
                  </a:tcPr>
                </a:tc>
              </a:tr>
              <a:tr h="882650">
                <a:tc>
                  <a:txBody>
                    <a:bodyPr/>
                    <a:lstStyle/>
                    <a:p>
                      <a:r>
                        <a:rPr sz="1800" b="0">
                          <a:solidFill>
                            <a:srgbClr val="172D3C"/>
                          </a:solidFill>
                          <a:latin typeface="DejaVu Sans"/>
                          <a:ea typeface="DejaVu Sans"/>
                          <a:cs typeface="DejaVu Sans"/>
                        </a:rPr>
                        <a:t>Neighbor challenge</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Changing nearby states alters</a:t>
                      </a:r>
                    </a:p>
                    <a:p>
                      <a:r>
                        <a:rPr sz="1800" b="0">
                          <a:solidFill>
                            <a:srgbClr val="172D3C"/>
                          </a:solidFill>
                          <a:latin typeface="DejaVu Sans"/>
                          <a:ea typeface="DejaVu Sans"/>
                          <a:cs typeface="DejaVu Sans"/>
                        </a:rPr>
                        <a:t>responses</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Does communication help</a:t>
                      </a:r>
                    </a:p>
                    <a:p>
                      <a:r>
                        <a:rPr sz="1800" b="0">
                          <a:solidFill>
                            <a:srgbClr val="172D3C"/>
                          </a:solidFill>
                          <a:latin typeface="DejaVu Sans"/>
                          <a:ea typeface="DejaVu Sans"/>
                          <a:cs typeface="DejaVu Sans"/>
                        </a:rPr>
                        <a:t>maintain differences?</a:t>
                      </a:r>
                    </a:p>
                  </a:txBody>
                  <a:tcPr marL="152400" marR="152400" marT="133350" marB="114300" anchor="ctr">
                    <a:solidFill>
                      <a:srgbClr val="F3F7F9"/>
                    </a:solidFill>
                  </a:tcPr>
                </a:tc>
              </a:tr>
              <a:tr h="882650">
                <a:tc>
                  <a:txBody>
                    <a:bodyPr/>
                    <a:lstStyle/>
                    <a:p>
                      <a:r>
                        <a:rPr sz="1800" b="0">
                          <a:solidFill>
                            <a:srgbClr val="172D3C"/>
                          </a:solidFill>
                          <a:latin typeface="DejaVu Sans"/>
                          <a:ea typeface="DejaVu Sans"/>
                          <a:cs typeface="DejaVu Sans"/>
                        </a:rPr>
                        <a:t>Isolation</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Differences decay without</a:t>
                      </a:r>
                    </a:p>
                    <a:p>
                      <a:r>
                        <a:rPr sz="1800" b="0">
                          <a:solidFill>
                            <a:srgbClr val="172D3C"/>
                          </a:solidFill>
                          <a:latin typeface="DejaVu Sans"/>
                          <a:ea typeface="DejaVu Sans"/>
                          <a:cs typeface="DejaVu Sans"/>
                        </a:rPr>
                        <a:t>the original network</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Are states autonomous</a:t>
                      </a:r>
                    </a:p>
                    <a:p>
                      <a:r>
                        <a:rPr sz="1800" b="0">
                          <a:solidFill>
                            <a:srgbClr val="172D3C"/>
                          </a:solidFill>
                          <a:latin typeface="DejaVu Sans"/>
                          <a:ea typeface="DejaVu Sans"/>
                          <a:cs typeface="DejaVu Sans"/>
                        </a:rPr>
                        <a:t>or collectively supported?</a:t>
                      </a:r>
                    </a:p>
                  </a:txBody>
                  <a:tcPr marL="152400" marR="152400" marT="133350" marB="1143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521E597-2628-45E5-9FA3-3471E87F25EF}"/>
              </a:ext>
            </a:extLst>
          </p:cNvPr>
          <p:cNvSpPr>
            <a:spLocks xmlns:a="http://schemas.openxmlformats.org/drawingml/2006/main" noGrp="1"/>
          </p:cNvSpPr>
          <p:nvPr/>
        </p:nvSpPr>
        <p:spPr>
          <a:xfrm xmlns:a="http://schemas.openxmlformats.org/drawingml/2006/main">
            <a:off x="609600" y="56864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C45D24"/>
                </a:solidFill>
                <a:latin typeface="DejaVu Sans"/>
                <a:ea typeface="DejaVu Sans"/>
                <a:cs typeface="DejaVu Sans"/>
              </a:defRPr>
            </a:pPr>
            <a:r>
              <a:rPr sz="1875" b="1">
                <a:solidFill>
                  <a:srgbClr val="C45D24"/>
                </a:solidFill>
                <a:latin typeface="DejaVu Sans"/>
                <a:ea typeface="DejaVu Sans"/>
                <a:cs typeface="DejaVu Sans"/>
              </a:rPr>
              <a:t>Evidence label: original method or inherited state. Carry revalidation remains required.</a:t>
            </a:r>
          </a:p>
        </p:txBody>
      </p:sp>
    </p:spTree>
    <p:extLst>
      <p:ext uri="{BB962C8B-B14F-4D97-AF65-F5344CB8AC3E}">
        <p14:creationId xmlns:p14="http://schemas.microsoft.com/office/powerpoint/2010/main" val="32954133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50E616-C821-47DD-9936-E0C289A19B4C}"/>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The model explains a conditional route to organization</a:t>
            </a:r>
          </a:p>
        </p:txBody>
      </p:sp>
      <p:sp>
        <p:nvSpPr>
          <p:cNvPr id="2" name="">
            <a:extLst xmlns:a="http://schemas.openxmlformats.org/drawingml/2006/main">
              <a:ext uri="{FF2B5EF4-FFF2-40B4-BE49-F238E27FC236}">
                <a16:creationId xmlns:a16="http://schemas.microsoft.com/office/drawing/2014/main" id="{797F73C0-9E26-4312-A0F5-AE2409C255B0}"/>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It connects contact remodeling to the opportunity for chemical differentiation.</a:t>
            </a:r>
          </a:p>
        </p:txBody>
      </p:sp>
      <p:sp>
        <p:nvSpPr>
          <p:cNvPr id="3" name="">
            <a:extLst xmlns:a="http://schemas.openxmlformats.org/drawingml/2006/main">
              <a:ext uri="{FF2B5EF4-FFF2-40B4-BE49-F238E27FC236}">
                <a16:creationId xmlns:a16="http://schemas.microsoft.com/office/drawing/2014/main" id="{4A75C052-691B-4FD2-9076-DD91F6992307}"/>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A1D101AA-02AB-4F42-B077-889AC767A465}"/>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20</a:t>
            </a:r>
          </a:p>
        </p:txBody>
      </p:sp>
      <p:sp>
        <p:nvSpPr>
          <p:cNvPr id="5" name="">
            <a:extLst xmlns:a="http://schemas.openxmlformats.org/drawingml/2006/main">
              <a:ext uri="{FF2B5EF4-FFF2-40B4-BE49-F238E27FC236}">
                <a16:creationId xmlns:a16="http://schemas.microsoft.com/office/drawing/2014/main" id="{6948F8B6-B903-4268-BEC9-4A6209C027C1}"/>
              </a:ext>
            </a:extLst>
          </p:cNvPr>
          <p:cNvSpPr>
            <a:spLocks xmlns:a="http://schemas.openxmlformats.org/drawingml/2006/main" noGrp="1"/>
          </p:cNvSpPr>
          <p:nvPr/>
        </p:nvSpPr>
        <p:spPr>
          <a:xfrm xmlns:a="http://schemas.openxmlformats.org/drawingml/2006/main">
            <a:off x="609600" y="201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Supported within the tested model</a:t>
            </a:r>
          </a:p>
        </p:txBody>
      </p:sp>
      <p:sp>
        <p:nvSpPr>
          <p:cNvPr id="6" name="">
            <a:extLst xmlns:a="http://schemas.openxmlformats.org/drawingml/2006/main">
              <a:ext uri="{FF2B5EF4-FFF2-40B4-BE49-F238E27FC236}">
                <a16:creationId xmlns:a16="http://schemas.microsoft.com/office/drawing/2014/main" id="{27E21CE6-4649-4CB0-97F7-9242874DF19B}"/>
              </a:ext>
            </a:extLst>
          </p:cNvPr>
          <p:cNvSpPr>
            <a:spLocks xmlns:a="http://schemas.openxmlformats.org/drawingml/2006/main" noGrp="1"/>
          </p:cNvSpPr>
          <p:nvPr/>
        </p:nvSpPr>
        <p:spPr>
          <a:xfrm xmlns:a="http://schemas.openxmlformats.org/drawingml/2006/main">
            <a:off x="609600" y="24669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Preserving communication capacity rescues formation. Developed chemical differences can persist after the graph no longer destabilizes uniform chemistry.</a:t>
            </a:r>
          </a:p>
        </p:txBody>
      </p:sp>
      <p:sp>
        <p:nvSpPr>
          <p:cNvPr id="7" name="">
            <a:extLst xmlns:a="http://schemas.openxmlformats.org/drawingml/2006/main">
              <a:ext uri="{FF2B5EF4-FFF2-40B4-BE49-F238E27FC236}">
                <a16:creationId xmlns:a16="http://schemas.microsoft.com/office/drawing/2014/main" id="{E64B8072-49BD-488F-821F-FDE04D783ECF}"/>
              </a:ext>
            </a:extLst>
          </p:cNvPr>
          <p:cNvSpPr>
            <a:spLocks xmlns:a="http://schemas.openxmlformats.org/drawingml/2006/main" noGrp="1"/>
          </p:cNvSpPr>
          <p:nvPr/>
        </p:nvSpPr>
        <p:spPr>
          <a:xfrm xmlns:a="http://schemas.openxmlformats.org/drawingml/2006/main">
            <a:off x="609600" y="3686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Still missing from the biological explanation</a:t>
            </a:r>
          </a:p>
        </p:txBody>
      </p:sp>
      <p:sp>
        <p:nvSpPr>
          <p:cNvPr id="8" name="">
            <a:extLst xmlns:a="http://schemas.openxmlformats.org/drawingml/2006/main">
              <a:ext uri="{FF2B5EF4-FFF2-40B4-BE49-F238E27FC236}">
                <a16:creationId xmlns:a16="http://schemas.microsoft.com/office/drawing/2014/main" id="{26707FEF-ABF6-442E-AC0C-6020FE7F5215}"/>
              </a:ext>
            </a:extLst>
          </p:cNvPr>
          <p:cNvSpPr>
            <a:spLocks xmlns:a="http://schemas.openxmlformats.org/drawingml/2006/main" noGrp="1"/>
          </p:cNvSpPr>
          <p:nvPr/>
        </p:nvSpPr>
        <p:spPr>
          <a:xfrm xmlns:a="http://schemas.openxmlformats.org/drawingml/2006/main">
            <a:off x="609600" y="41338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Inherited cell identity, a validated path from fresh zygote development, and chemically caused large-scale shape symmetry breaking remain unproven.</a:t>
            </a:r>
          </a:p>
        </p:txBody>
      </p:sp>
      <p:sp>
        <p:nvSpPr>
          <p:cNvPr id="9" name="">
            <a:extLst xmlns:a="http://schemas.openxmlformats.org/drawingml/2006/main">
              <a:ext uri="{FF2B5EF4-FFF2-40B4-BE49-F238E27FC236}">
                <a16:creationId xmlns:a16="http://schemas.microsoft.com/office/drawing/2014/main" id="{7707DE42-771A-461A-A210-12B3BE567878}"/>
              </a:ext>
            </a:extLst>
          </p:cNvPr>
          <p:cNvSpPr>
            <a:spLocks xmlns:a="http://schemas.openxmlformats.org/drawingml/2006/main" noGrp="1"/>
          </p:cNvSpPr>
          <p:nvPr/>
        </p:nvSpPr>
        <p:spPr>
          <a:xfrm xmlns:a="http://schemas.openxmlformats.org/drawingml/2006/main">
            <a:off x="609600" y="55340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36978"/>
                </a:solidFill>
                <a:latin typeface="DejaVu Sans"/>
                <a:ea typeface="DejaVu Sans"/>
                <a:cs typeface="DejaVu Sans"/>
              </a:defRPr>
            </a:pPr>
            <a:r>
              <a:rPr sz="1875" b="0">
                <a:solidFill>
                  <a:srgbClr val="536978"/>
                </a:solidFill>
                <a:latin typeface="DejaVu Sans"/>
                <a:ea typeface="DejaVu Sans"/>
                <a:cs typeface="DejaVu Sans"/>
              </a:rPr>
              <a:t>Assumption: nutrients and oxygen are sufficient. The model has no resource-limited growth or metabolism.</a:t>
            </a:r>
          </a:p>
        </p:txBody>
      </p:sp>
    </p:spTree>
    <p:extLst>
      <p:ext uri="{BB962C8B-B14F-4D97-AF65-F5344CB8AC3E}">
        <p14:creationId xmlns:p14="http://schemas.microsoft.com/office/powerpoint/2010/main" val="17445744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1A3085-6297-4B2A-BE18-528FF31F2684}"/>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The next tests sharpen the identity question</a:t>
            </a:r>
          </a:p>
        </p:txBody>
      </p:sp>
      <p:sp>
        <p:nvSpPr>
          <p:cNvPr id="2" name="">
            <a:extLst xmlns:a="http://schemas.openxmlformats.org/drawingml/2006/main">
              <a:ext uri="{FF2B5EF4-FFF2-40B4-BE49-F238E27FC236}">
                <a16:creationId xmlns:a16="http://schemas.microsoft.com/office/drawing/2014/main" id="{D84B7BD9-A63B-439A-BB46-215C18136DAC}"/>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Priority follows the strength and limits of the current evidence.</a:t>
            </a:r>
          </a:p>
        </p:txBody>
      </p:sp>
      <p:sp>
        <p:nvSpPr>
          <p:cNvPr id="3" name="">
            <a:extLst xmlns:a="http://schemas.openxmlformats.org/drawingml/2006/main">
              <a:ext uri="{FF2B5EF4-FFF2-40B4-BE49-F238E27FC236}">
                <a16:creationId xmlns:a16="http://schemas.microsoft.com/office/drawing/2014/main" id="{742C6E98-E601-4091-9449-6A5909C28512}"/>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AB067BC6-E812-40CD-AA14-88EDC0E8721E}"/>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21</a:t>
            </a:r>
          </a:p>
        </p:txBody>
      </p:sp>
      <p:sp>
        <p:nvSpPr>
          <p:cNvPr id="5" name="">
            <a:extLst xmlns:a="http://schemas.openxmlformats.org/drawingml/2006/main">
              <a:ext uri="{FF2B5EF4-FFF2-40B4-BE49-F238E27FC236}">
                <a16:creationId xmlns:a16="http://schemas.microsoft.com/office/drawing/2014/main" id="{64D22A9B-325F-4984-8AD8-E0FA8585B7C0}"/>
              </a:ext>
            </a:extLst>
          </p:cNvPr>
          <p:cNvSpPr>
            <a:spLocks xmlns:a="http://schemas.openxmlformats.org/drawingml/2006/main" noGrp="1"/>
          </p:cNvSpPr>
          <p:nvPr/>
        </p:nvSpPr>
        <p:spPr>
          <a:xfrm xmlns:a="http://schemas.openxmlformats.org/drawingml/2006/main">
            <a:off x="609600" y="202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Close the current maintenance experiment</a:t>
            </a:r>
          </a:p>
        </p:txBody>
      </p:sp>
      <p:sp>
        <p:nvSpPr>
          <p:cNvPr id="6" name="">
            <a:extLst xmlns:a="http://schemas.openxmlformats.org/drawingml/2006/main">
              <a:ext uri="{FF2B5EF4-FFF2-40B4-BE49-F238E27FC236}">
                <a16:creationId xmlns:a16="http://schemas.microsoft.com/office/drawing/2014/main" id="{47B7EB8D-911D-473E-8139-319D1D45102C}"/>
              </a:ext>
            </a:extLst>
          </p:cNvPr>
          <p:cNvSpPr>
            <a:spLocks xmlns:a="http://schemas.openxmlformats.org/drawingml/2006/main" noGrp="1"/>
          </p:cNvSpPr>
          <p:nvPr/>
        </p:nvSpPr>
        <p:spPr>
          <a:xfrm xmlns:a="http://schemas.openxmlformats.org/drawingml/2006/main">
            <a:off x="609600" y="24765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Complete history 8 at χ = 0.35 and review its timestep and endpoint checks.</a:t>
            </a:r>
          </a:p>
        </p:txBody>
      </p:sp>
      <p:sp>
        <p:nvSpPr>
          <p:cNvPr id="7" name="">
            <a:extLst xmlns:a="http://schemas.openxmlformats.org/drawingml/2006/main">
              <a:ext uri="{FF2B5EF4-FFF2-40B4-BE49-F238E27FC236}">
                <a16:creationId xmlns:a16="http://schemas.microsoft.com/office/drawing/2014/main" id="{4855BDF6-92AC-43A4-9656-8DBDE958BCF2}"/>
              </a:ext>
            </a:extLst>
          </p:cNvPr>
          <p:cNvSpPr>
            <a:spLocks xmlns:a="http://schemas.openxmlformats.org/drawingml/2006/main" noGrp="1"/>
          </p:cNvSpPr>
          <p:nvPr/>
        </p:nvSpPr>
        <p:spPr>
          <a:xfrm xmlns:a="http://schemas.openxmlformats.org/drawingml/2006/main">
            <a:off x="609600" y="3514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Revalidate the behavior tests with carry</a:t>
            </a:r>
          </a:p>
        </p:txBody>
      </p:sp>
      <p:sp>
        <p:nvSpPr>
          <p:cNvPr id="8" name="">
            <a:extLst xmlns:a="http://schemas.openxmlformats.org/drawingml/2006/main">
              <a:ext uri="{FF2B5EF4-FFF2-40B4-BE49-F238E27FC236}">
                <a16:creationId xmlns:a16="http://schemas.microsoft.com/office/drawing/2014/main" id="{47B09D2B-6BDD-4B40-AEB6-4067D73A8F5A}"/>
              </a:ext>
            </a:extLst>
          </p:cNvPr>
          <p:cNvSpPr>
            <a:spLocks xmlns:a="http://schemas.openxmlformats.org/drawingml/2006/main" noGrp="1"/>
          </p:cNvSpPr>
          <p:nvPr/>
        </p:nvSpPr>
        <p:spPr>
          <a:xfrm xmlns:a="http://schemas.openxmlformats.org/drawingml/2006/main">
            <a:off x="609600" y="39624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Exchange chemical states between contexts, then challenge neighbors on qualified moving geometries.</a:t>
            </a:r>
          </a:p>
        </p:txBody>
      </p:sp>
      <p:sp>
        <p:nvSpPr>
          <p:cNvPr id="9" name="">
            <a:extLst xmlns:a="http://schemas.openxmlformats.org/drawingml/2006/main">
              <a:ext uri="{FF2B5EF4-FFF2-40B4-BE49-F238E27FC236}">
                <a16:creationId xmlns:a16="http://schemas.microsoft.com/office/drawing/2014/main" id="{39EEF843-25AA-4F33-B4B1-C46DE2CAF561}"/>
              </a:ext>
            </a:extLst>
          </p:cNvPr>
          <p:cNvSpPr>
            <a:spLocks xmlns:a="http://schemas.openxmlformats.org/drawingml/2006/main" noGrp="1"/>
          </p:cNvSpPr>
          <p:nvPr/>
        </p:nvSpPr>
        <p:spPr>
          <a:xfrm xmlns:a="http://schemas.openxmlformats.org/drawingml/2006/main">
            <a:off x="609600" y="50006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Test inheritance and developmental formation</a:t>
            </a:r>
          </a:p>
        </p:txBody>
      </p:sp>
      <p:sp>
        <p:nvSpPr>
          <p:cNvPr id="10" name="">
            <a:extLst xmlns:a="http://schemas.openxmlformats.org/drawingml/2006/main">
              <a:ext uri="{FF2B5EF4-FFF2-40B4-BE49-F238E27FC236}">
                <a16:creationId xmlns:a16="http://schemas.microsoft.com/office/drawing/2014/main" id="{3F445BCF-EFCF-49D6-A13F-FFE1D278B6AE}"/>
              </a:ext>
            </a:extLst>
          </p:cNvPr>
          <p:cNvSpPr>
            <a:spLocks xmlns:a="http://schemas.openxmlformats.org/drawingml/2006/main" noGrp="1"/>
          </p:cNvSpPr>
          <p:nvPr/>
        </p:nvSpPr>
        <p:spPr>
          <a:xfrm xmlns:a="http://schemas.openxmlformats.org/drawingml/2006/main">
            <a:off x="609600" y="54483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Follow daughter states through division and qualify the full trajectory from a fresh zygote.</a:t>
            </a:r>
          </a:p>
        </p:txBody>
      </p:sp>
    </p:spTree>
    <p:extLst>
      <p:ext uri="{BB962C8B-B14F-4D97-AF65-F5344CB8AC3E}">
        <p14:creationId xmlns:p14="http://schemas.microsoft.com/office/powerpoint/2010/main" val="188708711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927A74-0756-4C3C-8DBE-74AC8F8644EC}"/>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Communication history matters for cell differences</a:t>
            </a:r>
          </a:p>
        </p:txBody>
      </p:sp>
      <p:sp>
        <p:nvSpPr>
          <p:cNvPr id="2" name="">
            <a:extLst xmlns:a="http://schemas.openxmlformats.org/drawingml/2006/main">
              <a:ext uri="{FF2B5EF4-FFF2-40B4-BE49-F238E27FC236}">
                <a16:creationId xmlns:a16="http://schemas.microsoft.com/office/drawing/2014/main" id="{20B9FB25-43A2-4A65-935B-CC21E18213CD}"/>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The most useful result is a distinction between starting order and sustaining it.</a:t>
            </a:r>
          </a:p>
        </p:txBody>
      </p:sp>
      <p:sp>
        <p:nvSpPr>
          <p:cNvPr id="3" name="">
            <a:extLst xmlns:a="http://schemas.openxmlformats.org/drawingml/2006/main">
              <a:ext uri="{FF2B5EF4-FFF2-40B4-BE49-F238E27FC236}">
                <a16:creationId xmlns:a16="http://schemas.microsoft.com/office/drawing/2014/main" id="{C06FCC34-AF0C-4C5C-8687-C34F3F663451}"/>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B097754A-68AF-492D-ABEB-CB9CDF272CB0}"/>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22</a:t>
            </a:r>
          </a:p>
        </p:txBody>
      </p:sp>
      <p:sp>
        <p:nvSpPr>
          <p:cNvPr id="5" name="">
            <a:extLst xmlns:a="http://schemas.openxmlformats.org/drawingml/2006/main">
              <a:ext uri="{FF2B5EF4-FFF2-40B4-BE49-F238E27FC236}">
                <a16:creationId xmlns:a16="http://schemas.microsoft.com/office/drawing/2014/main" id="{FC46D3DC-FAF8-4993-8C1A-DFC8C43EF88C}"/>
              </a:ext>
            </a:extLst>
          </p:cNvPr>
          <p:cNvSpPr>
            <a:spLocks xmlns:a="http://schemas.openxmlformats.org/drawingml/2006/main" noGrp="1"/>
          </p:cNvSpPr>
          <p:nvPr/>
        </p:nvSpPr>
        <p:spPr>
          <a:xfrm xmlns:a="http://schemas.openxmlformats.org/drawingml/2006/main">
            <a:off x="609600" y="22288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72D3C"/>
                </a:solidFill>
                <a:latin typeface="DejaVu Sans"/>
                <a:ea typeface="DejaVu Sans"/>
                <a:cs typeface="DejaVu Sans"/>
              </a:defRPr>
            </a:pPr>
            <a:r>
              <a:rPr sz="3225" b="1">
                <a:solidFill>
                  <a:srgbClr val="172D3C"/>
                </a:solidFill>
                <a:latin typeface="DejaVu Sans"/>
                <a:ea typeface="DejaVu Sans"/>
                <a:cs typeface="DejaVu Sans"/>
              </a:rPr>
              <a:t>A changing cell network can close</a:t>
            </a:r>
          </a:p>
          <a:p xmlns:a="http://schemas.openxmlformats.org/drawingml/2006/main">
            <a:pPr algn="l">
              <a:defRPr sz="3225" b="1">
                <a:solidFill>
                  <a:srgbClr val="172D3C"/>
                </a:solidFill>
                <a:latin typeface="DejaVu Sans"/>
                <a:ea typeface="DejaVu Sans"/>
                <a:cs typeface="DejaVu Sans"/>
              </a:defRPr>
            </a:pPr>
            <a:r>
              <a:rPr sz="3225" b="1">
                <a:solidFill>
                  <a:srgbClr val="172D3C"/>
                </a:solidFill>
                <a:latin typeface="DejaVu Sans"/>
                <a:ea typeface="DejaVu Sans"/>
                <a:cs typeface="DejaVu Sans"/>
              </a:rPr>
              <a:t>the opportunity to form a pattern.</a:t>
            </a:r>
          </a:p>
        </p:txBody>
      </p:sp>
      <p:sp>
        <p:nvSpPr>
          <p:cNvPr id="6" name="">
            <a:extLst xmlns:a="http://schemas.openxmlformats.org/drawingml/2006/main">
              <a:ext uri="{FF2B5EF4-FFF2-40B4-BE49-F238E27FC236}">
                <a16:creationId xmlns:a16="http://schemas.microsoft.com/office/drawing/2014/main" id="{67295C8B-F120-429C-BF16-D7D6E186569B}"/>
              </a:ext>
            </a:extLst>
          </p:cNvPr>
          <p:cNvSpPr>
            <a:spLocks xmlns:a="http://schemas.openxmlformats.org/drawingml/2006/main" noGrp="1"/>
          </p:cNvSpPr>
          <p:nvPr/>
        </p:nvSpPr>
        <p:spPr>
          <a:xfrm xmlns:a="http://schemas.openxmlformats.org/drawingml/2006/main">
            <a:off x="609600" y="38290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007F86"/>
                </a:solidFill>
                <a:latin typeface="DejaVu Sans"/>
                <a:ea typeface="DejaVu Sans"/>
                <a:cs typeface="DejaVu Sans"/>
              </a:defRPr>
            </a:pPr>
            <a:r>
              <a:rPr sz="3225" b="1">
                <a:solidFill>
                  <a:srgbClr val="007F86"/>
                </a:solidFill>
                <a:latin typeface="DejaVu Sans"/>
                <a:ea typeface="DejaVu Sans"/>
                <a:cs typeface="DejaVu Sans"/>
              </a:rPr>
              <a:t>An established pattern can survive</a:t>
            </a:r>
          </a:p>
          <a:p xmlns:a="http://schemas.openxmlformats.org/drawingml/2006/main">
            <a:pPr algn="l">
              <a:defRPr sz="3225" b="1">
                <a:solidFill>
                  <a:srgbClr val="007F86"/>
                </a:solidFill>
                <a:latin typeface="DejaVu Sans"/>
                <a:ea typeface="DejaVu Sans"/>
                <a:cs typeface="DejaVu Sans"/>
              </a:defRPr>
            </a:pPr>
            <a:r>
              <a:rPr sz="3225" b="1">
                <a:solidFill>
                  <a:srgbClr val="007F86"/>
                </a:solidFill>
                <a:latin typeface="DejaVu Sans"/>
                <a:ea typeface="DejaVu Sans"/>
                <a:cs typeface="DejaVu Sans"/>
              </a:rPr>
              <a:t>after that opportunity has closed.</a:t>
            </a:r>
          </a:p>
        </p:txBody>
      </p:sp>
      <p:sp>
        <p:nvSpPr>
          <p:cNvPr id="7" name="">
            <a:extLst xmlns:a="http://schemas.openxmlformats.org/drawingml/2006/main">
              <a:ext uri="{FF2B5EF4-FFF2-40B4-BE49-F238E27FC236}">
                <a16:creationId xmlns:a16="http://schemas.microsoft.com/office/drawing/2014/main" id="{3690748E-6FE4-4BBF-9F94-8EF52E43E257}"/>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36978"/>
                </a:solidFill>
                <a:latin typeface="DejaVu Sans"/>
                <a:ea typeface="DejaVu Sans"/>
                <a:cs typeface="DejaVu Sans"/>
              </a:defRPr>
            </a:pPr>
            <a:r>
              <a:rPr sz="2100" b="0">
                <a:solidFill>
                  <a:srgbClr val="536978"/>
                </a:solidFill>
                <a:latin typeface="DejaVu Sans"/>
                <a:ea typeface="DejaVu Sans"/>
                <a:cs typeface="DejaVu Sans"/>
              </a:rPr>
              <a:t>A testable model of chemical differentiation and its mechanical context.</a:t>
            </a:r>
          </a:p>
        </p:txBody>
      </p:sp>
    </p:spTree>
    <p:extLst>
      <p:ext uri="{BB962C8B-B14F-4D97-AF65-F5344CB8AC3E}">
        <p14:creationId xmlns:p14="http://schemas.microsoft.com/office/powerpoint/2010/main" val="15729903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03B918-1B42-4E1C-BE4F-C0386CF72E2F}"/>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Appendix: the baseline mechanical energy</a:t>
            </a:r>
          </a:p>
        </p:txBody>
      </p:sp>
      <p:sp>
        <p:nvSpPr>
          <p:cNvPr id="2" name="">
            <a:extLst xmlns:a="http://schemas.openxmlformats.org/drawingml/2006/main">
              <a:ext uri="{FF2B5EF4-FFF2-40B4-BE49-F238E27FC236}">
                <a16:creationId xmlns:a16="http://schemas.microsoft.com/office/drawing/2014/main" id="{32B5BCD2-2DAF-4D35-B841-763568687EF8}"/>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Each term has a distinct physical role. Active coefficients change during development.</a:t>
            </a:r>
          </a:p>
        </p:txBody>
      </p:sp>
      <p:sp>
        <p:nvSpPr>
          <p:cNvPr id="3" name="">
            <a:extLst xmlns:a="http://schemas.openxmlformats.org/drawingml/2006/main">
              <a:ext uri="{FF2B5EF4-FFF2-40B4-BE49-F238E27FC236}">
                <a16:creationId xmlns:a16="http://schemas.microsoft.com/office/drawing/2014/main" id="{A26E2C25-F90B-4829-ABE4-9D1B3077D3B8}"/>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F8E4C9E3-58E7-4768-B67D-FF5309A2667A}"/>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23</a:t>
            </a:r>
          </a:p>
        </p:txBody>
      </p:sp>
      <p:sp>
        <p:nvSpPr>
          <p:cNvPr id="5" name="">
            <a:extLst xmlns:a="http://schemas.openxmlformats.org/drawingml/2006/main">
              <a:ext uri="{FF2B5EF4-FFF2-40B4-BE49-F238E27FC236}">
                <a16:creationId xmlns:a16="http://schemas.microsoft.com/office/drawing/2014/main" id="{A91D1488-92B9-4B57-8AC8-B4A161C5D2A9}"/>
              </a:ext>
            </a:extLst>
          </p:cNvPr>
          <p:cNvSpPr>
            <a:spLocks xmlns:a="http://schemas.openxmlformats.org/drawingml/2006/main" noGrp="1"/>
          </p:cNvSpPr>
          <p:nvPr/>
        </p:nvSpPr>
        <p:spPr>
          <a:xfrm xmlns:a="http://schemas.openxmlformats.org/drawingml/2006/main">
            <a:off x="609600" y="20859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2D3C"/>
                </a:solidFill>
                <a:latin typeface="DejaVu Sans"/>
                <a:ea typeface="DejaVu Sans"/>
                <a:cs typeface="DejaVu Sans"/>
              </a:defRPr>
            </a:pPr>
            <a:r>
              <a:rPr sz="2550" b="1">
                <a:solidFill>
                  <a:srgbClr val="172D3C"/>
                </a:solidFill>
                <a:latin typeface="DejaVu Sans"/>
                <a:ea typeface="DejaVu Sans"/>
                <a:cs typeface="DejaVu Sans"/>
              </a:rPr>
              <a:t>E = Σᵢ ∫ γᵢ(x) [ε²|∇φᵢ|²/2 + q(φᵢ)] dx</a:t>
            </a:r>
          </a:p>
        </p:txBody>
      </p:sp>
      <p:sp>
        <p:nvSpPr>
          <p:cNvPr id="6" name="">
            <a:extLst xmlns:a="http://schemas.openxmlformats.org/drawingml/2006/main">
              <a:ext uri="{FF2B5EF4-FFF2-40B4-BE49-F238E27FC236}">
                <a16:creationId xmlns:a16="http://schemas.microsoft.com/office/drawing/2014/main" id="{D378CEDE-B6EF-40EB-AB47-9F6C272F9846}"/>
              </a:ext>
            </a:extLst>
          </p:cNvPr>
          <p:cNvSpPr>
            <a:spLocks xmlns:a="http://schemas.openxmlformats.org/drawingml/2006/main" noGrp="1"/>
          </p:cNvSpPr>
          <p:nvPr/>
        </p:nvSpPr>
        <p:spPr>
          <a:xfrm xmlns:a="http://schemas.openxmlformats.org/drawingml/2006/main">
            <a:off x="609600" y="2828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2D3C"/>
                </a:solidFill>
                <a:latin typeface="DejaVu Sans"/>
                <a:ea typeface="DejaVu Sans"/>
                <a:cs typeface="DejaVu Sans"/>
              </a:defRPr>
            </a:pPr>
            <a:r>
              <a:rPr sz="2550" b="1">
                <a:solidFill>
                  <a:srgbClr val="172D3C"/>
                </a:solidFill>
                <a:latin typeface="DejaVu Sans"/>
                <a:ea typeface="DejaVu Sans"/>
                <a:cs typeface="DejaVu Sans"/>
              </a:rPr>
              <a:t>     + Σᵢ Kᵥ (Vᵢ − Vᵢᵗᵃʳᵍᵉᵗ)² / (2Vᵢᵗᵃʳᵍᵉᵗ)</a:t>
            </a:r>
          </a:p>
        </p:txBody>
      </p:sp>
      <p:sp>
        <p:nvSpPr>
          <p:cNvPr id="7" name="">
            <a:extLst xmlns:a="http://schemas.openxmlformats.org/drawingml/2006/main">
              <a:ext uri="{FF2B5EF4-FFF2-40B4-BE49-F238E27FC236}">
                <a16:creationId xmlns:a16="http://schemas.microsoft.com/office/drawing/2014/main" id="{5B2C6727-CCDA-4F97-A82D-52375EAEA447}"/>
              </a:ext>
            </a:extLst>
          </p:cNvPr>
          <p:cNvSpPr>
            <a:spLocks xmlns:a="http://schemas.openxmlformats.org/drawingml/2006/main" noGrp="1"/>
          </p:cNvSpPr>
          <p:nvPr/>
        </p:nvSpPr>
        <p:spPr>
          <a:xfrm xmlns:a="http://schemas.openxmlformats.org/drawingml/2006/main">
            <a:off x="609600" y="35718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2D3C"/>
                </a:solidFill>
                <a:latin typeface="DejaVu Sans"/>
                <a:ea typeface="DejaVu Sans"/>
                <a:cs typeface="DejaVu Sans"/>
              </a:defRPr>
            </a:pPr>
            <a:r>
              <a:rPr sz="2550" b="1">
                <a:solidFill>
                  <a:srgbClr val="172D3C"/>
                </a:solidFill>
                <a:latin typeface="DejaVu Sans"/>
                <a:ea typeface="DejaVu Sans"/>
                <a:cs typeface="DejaVu Sans"/>
              </a:rPr>
              <a:t>     + (R/2) Σᵢ&lt;ⱼ ∫ φᵢ²φⱼ² dx</a:t>
            </a:r>
          </a:p>
        </p:txBody>
      </p:sp>
      <p:sp>
        <p:nvSpPr>
          <p:cNvPr id="8" name="">
            <a:extLst xmlns:a="http://schemas.openxmlformats.org/drawingml/2006/main">
              <a:ext uri="{FF2B5EF4-FFF2-40B4-BE49-F238E27FC236}">
                <a16:creationId xmlns:a16="http://schemas.microsoft.com/office/drawing/2014/main" id="{D03996B5-37A0-419E-83FC-70B9B277459E}"/>
              </a:ext>
            </a:extLst>
          </p:cNvPr>
          <p:cNvSpPr>
            <a:spLocks xmlns:a="http://schemas.openxmlformats.org/drawingml/2006/main" noGrp="1"/>
          </p:cNvSpPr>
          <p:nvPr/>
        </p:nvSpPr>
        <p:spPr>
          <a:xfrm xmlns:a="http://schemas.openxmlformats.org/drawingml/2006/main">
            <a:off x="609600" y="43148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2D3C"/>
                </a:solidFill>
                <a:latin typeface="DejaVu Sans"/>
                <a:ea typeface="DejaVu Sans"/>
                <a:cs typeface="DejaVu Sans"/>
              </a:defRPr>
            </a:pPr>
            <a:r>
              <a:rPr sz="2550" b="1">
                <a:solidFill>
                  <a:srgbClr val="172D3C"/>
                </a:solidFill>
                <a:latin typeface="DejaVu Sans"/>
                <a:ea typeface="DejaVu Sans"/>
                <a:cs typeface="DejaVu Sans"/>
              </a:rPr>
              <a:t>     − Σᵢ&lt;ⱼ Aᵢⱼ ∫ q(φᵢ)q(φⱼ) dx</a:t>
            </a:r>
          </a:p>
        </p:txBody>
      </p:sp>
      <p:sp>
        <p:nvSpPr>
          <p:cNvPr id="9" name="">
            <a:extLst xmlns:a="http://schemas.openxmlformats.org/drawingml/2006/main">
              <a:ext uri="{FF2B5EF4-FFF2-40B4-BE49-F238E27FC236}">
                <a16:creationId xmlns:a16="http://schemas.microsoft.com/office/drawing/2014/main" id="{FCE7FB59-2EBB-4716-AD77-731B1BC7ACC5}"/>
              </a:ext>
            </a:extLst>
          </p:cNvPr>
          <p:cNvSpPr>
            <a:spLocks xmlns:a="http://schemas.openxmlformats.org/drawingml/2006/main" noGrp="1"/>
          </p:cNvSpPr>
          <p:nvPr/>
        </p:nvSpPr>
        <p:spPr>
          <a:xfrm xmlns:a="http://schemas.openxmlformats.org/drawingml/2006/main">
            <a:off x="609600" y="537210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36978"/>
                </a:solidFill>
                <a:latin typeface="DejaVu Sans"/>
                <a:ea typeface="DejaVu Sans"/>
                <a:cs typeface="DejaVu Sans"/>
              </a:defRPr>
            </a:pPr>
            <a:r>
              <a:rPr sz="1950" b="0">
                <a:solidFill>
                  <a:srgbClr val="536978"/>
                </a:solidFill>
                <a:latin typeface="DejaVu Sans"/>
                <a:ea typeface="DejaVu Sans"/>
                <a:cs typeface="DejaVu Sans"/>
              </a:rPr>
              <a:t>ε: boundary width     Kᵥ: volume stiffness     R: overlap repulsion</a:t>
            </a:r>
          </a:p>
          <a:p xmlns:a="http://schemas.openxmlformats.org/drawingml/2006/main">
            <a:pPr algn="l">
              <a:defRPr sz="1950" b="0">
                <a:solidFill>
                  <a:srgbClr val="536978"/>
                </a:solidFill>
                <a:latin typeface="DejaVu Sans"/>
                <a:ea typeface="DejaVu Sans"/>
                <a:cs typeface="DejaVu Sans"/>
              </a:defRPr>
            </a:pPr>
            <a:r>
              <a:rPr sz="1950" b="0">
                <a:solidFill>
                  <a:srgbClr val="536978"/>
                </a:solidFill>
                <a:latin typeface="DejaVu Sans"/>
                <a:ea typeface="DejaVu Sans"/>
                <a:cs typeface="DejaVu Sans"/>
              </a:rPr>
              <a:t>γᵢ: surface tension     Aᵢⱼ: contact adhesion     Vᵢᵗᵃʳᵍᵉᵗ: preferred cell volume</a:t>
            </a:r>
          </a:p>
        </p:txBody>
      </p:sp>
    </p:spTree>
    <p:extLst>
      <p:ext uri="{BB962C8B-B14F-4D97-AF65-F5344CB8AC3E}">
        <p14:creationId xmlns:p14="http://schemas.microsoft.com/office/powerpoint/2010/main" val="12128101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BE6735-A139-4434-9853-790CB9DBD5DB}"/>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Appendix: instability is a finite-graph question</a:t>
            </a:r>
          </a:p>
        </p:txBody>
      </p:sp>
      <p:sp>
        <p:nvSpPr>
          <p:cNvPr id="2" name="">
            <a:extLst xmlns:a="http://schemas.openxmlformats.org/drawingml/2006/main">
              <a:ext uri="{FF2B5EF4-FFF2-40B4-BE49-F238E27FC236}">
                <a16:creationId xmlns:a16="http://schemas.microsoft.com/office/drawing/2014/main" id="{F33AC479-77BF-4D44-9B00-7C919FC60411}"/>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A continuum instability band only matters when the contact graph has modes inside it.</a:t>
            </a:r>
          </a:p>
        </p:txBody>
      </p:sp>
      <p:sp>
        <p:nvSpPr>
          <p:cNvPr id="3" name="">
            <a:extLst xmlns:a="http://schemas.openxmlformats.org/drawingml/2006/main">
              <a:ext uri="{FF2B5EF4-FFF2-40B4-BE49-F238E27FC236}">
                <a16:creationId xmlns:a16="http://schemas.microsoft.com/office/drawing/2014/main" id="{4C106A78-5109-4942-A26B-110F66E63DA3}"/>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ABAF4748-37F8-4C20-8F50-B5F7CEAF447F}"/>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24</a:t>
            </a:r>
          </a:p>
        </p:txBody>
      </p:sp>
      <p:sp>
        <p:nvSpPr>
          <p:cNvPr id="5" name="">
            <a:extLst xmlns:a="http://schemas.openxmlformats.org/drawingml/2006/main">
              <a:ext uri="{FF2B5EF4-FFF2-40B4-BE49-F238E27FC236}">
                <a16:creationId xmlns:a16="http://schemas.microsoft.com/office/drawing/2014/main" id="{CBAEE767-3FD9-415A-8609-BE89475C3644}"/>
              </a:ext>
            </a:extLst>
          </p:cNvPr>
          <p:cNvSpPr>
            <a:spLocks xmlns:a="http://schemas.openxmlformats.org/drawingml/2006/main" noGrp="1"/>
          </p:cNvSpPr>
          <p:nvPr/>
        </p:nvSpPr>
        <p:spPr>
          <a:xfrm xmlns:a="http://schemas.openxmlformats.org/drawingml/2006/main">
            <a:off x="609600" y="2266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72D3C"/>
                </a:solidFill>
                <a:latin typeface="DejaVu Sans"/>
                <a:ea typeface="DejaVu Sans"/>
                <a:cs typeface="DejaVu Sans"/>
              </a:defRPr>
            </a:pPr>
            <a:r>
              <a:rPr sz="3000" b="1">
                <a:solidFill>
                  <a:srgbClr val="172D3C"/>
                </a:solidFill>
                <a:latin typeface="DejaVu Sans"/>
                <a:ea typeface="DejaVu Sans"/>
                <a:cs typeface="DejaVu Sans"/>
              </a:rPr>
              <a:t>M⁻¹ᐟ² K M⁻¹ᐟ² u = λu</a:t>
            </a:r>
          </a:p>
        </p:txBody>
      </p:sp>
      <p:sp>
        <p:nvSpPr>
          <p:cNvPr id="6" name="">
            <a:extLst xmlns:a="http://schemas.openxmlformats.org/drawingml/2006/main">
              <a:ext uri="{FF2B5EF4-FFF2-40B4-BE49-F238E27FC236}">
                <a16:creationId xmlns:a16="http://schemas.microsoft.com/office/drawing/2014/main" id="{51404761-8274-44C1-B909-6382634F5E86}"/>
              </a:ext>
            </a:extLst>
          </p:cNvPr>
          <p:cNvSpPr>
            <a:spLocks xmlns:a="http://schemas.openxmlformats.org/drawingml/2006/main" noGrp="1"/>
          </p:cNvSpPr>
          <p:nvPr/>
        </p:nvSpPr>
        <p:spPr>
          <a:xfrm xmlns:a="http://schemas.openxmlformats.org/drawingml/2006/main">
            <a:off x="609600" y="32099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2D3C"/>
                </a:solidFill>
                <a:latin typeface="DejaVu Sans"/>
                <a:ea typeface="DejaVu Sans"/>
                <a:cs typeface="DejaVu Sans"/>
              </a:defRPr>
            </a:pPr>
            <a:r>
              <a:rPr sz="2325" b="1">
                <a:solidFill>
                  <a:srgbClr val="172D3C"/>
                </a:solidFill>
                <a:latin typeface="DejaVu Sans"/>
                <a:ea typeface="DejaVu Sans"/>
                <a:cs typeface="DejaVu Sans"/>
              </a:rPr>
              <a:t>J = [ 1   −1 ]       modal growth from J − λ diag(Dₐ, Dᵦ)</a:t>
            </a:r>
          </a:p>
          <a:p xmlns:a="http://schemas.openxmlformats.org/drawingml/2006/main">
            <a:pPr algn="l">
              <a:defRPr sz="2325" b="1">
                <a:solidFill>
                  <a:srgbClr val="172D3C"/>
                </a:solidFill>
                <a:latin typeface="DejaVu Sans"/>
                <a:ea typeface="DejaVu Sans"/>
                <a:cs typeface="DejaVu Sans"/>
              </a:defRPr>
            </a:pPr>
            <a:r>
              <a:rPr sz="2325" b="1">
                <a:solidFill>
                  <a:srgbClr val="172D3C"/>
                </a:solidFill>
                <a:latin typeface="DejaVu Sans"/>
                <a:ea typeface="DejaVu Sans"/>
                <a:cs typeface="DejaVu Sans"/>
              </a:rPr>
              <a:t>      [ 2β  −β ]</a:t>
            </a:r>
          </a:p>
        </p:txBody>
      </p:sp>
      <p:sp>
        <p:nvSpPr>
          <p:cNvPr id="7" name="">
            <a:extLst xmlns:a="http://schemas.openxmlformats.org/drawingml/2006/main">
              <a:ext uri="{FF2B5EF4-FFF2-40B4-BE49-F238E27FC236}">
                <a16:creationId xmlns:a16="http://schemas.microsoft.com/office/drawing/2014/main" id="{69616CC0-9F13-4533-8604-543322919CF4}"/>
              </a:ext>
            </a:extLst>
          </p:cNvPr>
          <p:cNvSpPr>
            <a:spLocks xmlns:a="http://schemas.openxmlformats.org/drawingml/2006/main" noGrp="1"/>
          </p:cNvSpPr>
          <p:nvPr/>
        </p:nvSpPr>
        <p:spPr>
          <a:xfrm xmlns:a="http://schemas.openxmlformats.org/drawingml/2006/main">
            <a:off x="609600" y="449580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007F86"/>
                </a:solidFill>
                <a:latin typeface="DejaVu Sans"/>
                <a:ea typeface="DejaVu Sans"/>
                <a:cs typeface="DejaVu Sans"/>
              </a:defRPr>
            </a:pPr>
            <a:r>
              <a:rPr sz="2625" b="1">
                <a:solidFill>
                  <a:srgbClr val="007F86"/>
                </a:solidFill>
                <a:latin typeface="DejaVu Sans"/>
                <a:ea typeface="DejaVu Sans"/>
                <a:cs typeface="DejaVu Sans"/>
              </a:rPr>
              <a:t>At the tested parameters:  4.3250 &lt; λ &lt; 42.0386</a:t>
            </a:r>
          </a:p>
        </p:txBody>
      </p:sp>
      <p:sp>
        <p:nvSpPr>
          <p:cNvPr id="8" name="">
            <a:extLst xmlns:a="http://schemas.openxmlformats.org/drawingml/2006/main">
              <a:ext uri="{FF2B5EF4-FFF2-40B4-BE49-F238E27FC236}">
                <a16:creationId xmlns:a16="http://schemas.microsoft.com/office/drawing/2014/main" id="{0F87E9DD-E5AB-42BD-A01C-A9160F152EAB}"/>
              </a:ext>
            </a:extLst>
          </p:cNvPr>
          <p:cNvSpPr>
            <a:spLocks xmlns:a="http://schemas.openxmlformats.org/drawingml/2006/main" noGrp="1"/>
          </p:cNvSpPr>
          <p:nvPr/>
        </p:nvSpPr>
        <p:spPr>
          <a:xfrm xmlns:a="http://schemas.openxmlformats.org/drawingml/2006/main">
            <a:off x="609600" y="542925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36978"/>
                </a:solidFill>
                <a:latin typeface="DejaVu Sans"/>
                <a:ea typeface="DejaVu Sans"/>
                <a:cs typeface="DejaVu Sans"/>
              </a:defRPr>
            </a:pPr>
            <a:r>
              <a:rPr sz="1950" b="0">
                <a:solidFill>
                  <a:srgbClr val="536978"/>
                </a:solidFill>
                <a:latin typeface="DejaVu Sans"/>
                <a:ea typeface="DejaVu Sans"/>
                <a:cs typeface="DejaVu Sans"/>
              </a:rPr>
              <a:t>If every discrete spatial mode lies outside this band, small differences decay.</a:t>
            </a:r>
          </a:p>
          <a:p xmlns:a="http://schemas.openxmlformats.org/drawingml/2006/main">
            <a:pPr algn="l">
              <a:defRPr sz="1950" b="0">
                <a:solidFill>
                  <a:srgbClr val="536978"/>
                </a:solidFill>
                <a:latin typeface="DejaVu Sans"/>
                <a:ea typeface="DejaVu Sans"/>
                <a:cs typeface="DejaVu Sans"/>
              </a:defRPr>
            </a:pPr>
            <a:r>
              <a:rPr sz="1950" b="0">
                <a:solidFill>
                  <a:srgbClr val="536978"/>
                </a:solidFill>
                <a:latin typeface="DejaVu Sans"/>
                <a:ea typeface="DejaVu Sans"/>
                <a:cs typeface="DejaVu Sans"/>
              </a:rPr>
              <a:t>A developed finite-amplitude state can still occupy a different stable basin.</a:t>
            </a:r>
          </a:p>
        </p:txBody>
      </p:sp>
    </p:spTree>
    <p:extLst>
      <p:ext uri="{BB962C8B-B14F-4D97-AF65-F5344CB8AC3E}">
        <p14:creationId xmlns:p14="http://schemas.microsoft.com/office/powerpoint/2010/main" val="18548694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3CC2D3-89E6-4116-A8B9-77EF748B6104}"/>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Appendix: development and computing</a:t>
            </a:r>
          </a:p>
        </p:txBody>
      </p:sp>
      <p:sp>
        <p:nvSpPr>
          <p:cNvPr id="2" name="">
            <a:extLst xmlns:a="http://schemas.openxmlformats.org/drawingml/2006/main">
              <a:ext uri="{FF2B5EF4-FFF2-40B4-BE49-F238E27FC236}">
                <a16:creationId xmlns:a16="http://schemas.microsoft.com/office/drawing/2014/main" id="{2FB35905-4C4A-4FE9-B31D-DB83EC3A3547}"/>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The mature GPU backend and the developmental CPU model have separate validation scopes.</a:t>
            </a:r>
          </a:p>
        </p:txBody>
      </p:sp>
      <p:sp>
        <p:nvSpPr>
          <p:cNvPr id="3" name="">
            <a:extLst xmlns:a="http://schemas.openxmlformats.org/drawingml/2006/main">
              <a:ext uri="{FF2B5EF4-FFF2-40B4-BE49-F238E27FC236}">
                <a16:creationId xmlns:a16="http://schemas.microsoft.com/office/drawing/2014/main" id="{D6DE5815-12FA-4323-8D27-F4B683FDEB13}"/>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0BB67369-7A36-412A-A242-C6A6D7DB9DB1}"/>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25</a:t>
            </a:r>
          </a:p>
        </p:txBody>
      </p:sp>
      <p:graphicFrame>
        <p:nvGraphicFramePr>
          <p:cNvPr id="11" name=""/>
          <p:cNvGraphicFramePr/>
          <p:nvPr/>
        </p:nvGraphicFramePr>
        <p:xfrm>
          <a:off xmlns:a="http://schemas.openxmlformats.org/drawingml/2006/main" x="609600" y="2038350"/>
          <a:ext xmlns:a="http://schemas.openxmlformats.org/drawingml/2006/main" cx="10972800" cy="3286125"/>
        </p:xfrm>
        <a:graphic xmlns:a="http://schemas.openxmlformats.org/drawingml/2006/main">
          <a:graphicData uri="http://schemas.openxmlformats.org/drawingml/2006/table">
            <a:tbl>
              <a:tblPr/>
              <a:tblGrid>
                <a:gridCol w="3038475"/>
                <a:gridCol w="7934325"/>
              </a:tblGrid>
              <a:tr h="628650">
                <a:tc>
                  <a:txBody>
                    <a:bodyPr/>
                    <a:lstStyle/>
                    <a:p>
                      <a:r>
                        <a:rPr sz="1800" b="1">
                          <a:solidFill>
                            <a:srgbClr val="FFFFFF"/>
                          </a:solidFill>
                          <a:latin typeface="DejaVu Sans"/>
                          <a:ea typeface="DejaVu Sans"/>
                          <a:cs typeface="DejaVu Sans"/>
                        </a:rPr>
                        <a:t>Component</a:t>
                      </a:r>
                    </a:p>
                  </a:txBody>
                  <a:tcPr marL="152400" marR="152400" marT="133350" marB="114300" anchor="ctr">
                    <a:solidFill>
                      <a:srgbClr val="172D3C"/>
                    </a:solidFill>
                  </a:tcPr>
                </a:tc>
                <a:tc>
                  <a:txBody>
                    <a:bodyPr/>
                    <a:lstStyle/>
                    <a:p>
                      <a:r>
                        <a:rPr sz="1800" b="1">
                          <a:solidFill>
                            <a:srgbClr val="FFFFFF"/>
                          </a:solidFill>
                          <a:latin typeface="DejaVu Sans"/>
                          <a:ea typeface="DejaVu Sans"/>
                          <a:cs typeface="DejaVu Sans"/>
                        </a:rPr>
                        <a:t>Implementation and scope</a:t>
                      </a:r>
                    </a:p>
                  </a:txBody>
                  <a:tcPr marL="152400" marR="152400" marT="133350" marB="114300" anchor="ctr">
                    <a:solidFill>
                      <a:srgbClr val="172D3C"/>
                    </a:solidFill>
                  </a:tcPr>
                </a:tc>
              </a:tr>
              <a:tr h="885825">
                <a:tc>
                  <a:txBody>
                    <a:bodyPr/>
                    <a:lstStyle/>
                    <a:p>
                      <a:r>
                        <a:rPr sz="1800" b="0">
                          <a:solidFill>
                            <a:srgbClr val="172D3C"/>
                          </a:solidFill>
                          <a:latin typeface="DejaVu Sans"/>
                          <a:ea typeface="DejaVu Sans"/>
                          <a:cs typeface="DejaVu Sans"/>
                        </a:rPr>
                        <a:t>Developmental cleavage</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Longest-axis orientation and progressive constriction</a:t>
                      </a:r>
                    </a:p>
                    <a:p>
                      <a:r>
                        <a:rPr sz="1800" b="0">
                          <a:solidFill>
                            <a:srgbClr val="172D3C"/>
                          </a:solidFill>
                          <a:latin typeface="DejaVu Sans"/>
                          <a:ea typeface="DejaVu Sans"/>
                          <a:cs typeface="DejaVu Sans"/>
                        </a:rPr>
                        <a:t>Conservative daughter occupancy and chemical amounts</a:t>
                      </a:r>
                    </a:p>
                  </a:txBody>
                  <a:tcPr marL="152400" marR="152400" marT="133350" marB="114300" anchor="ctr">
                    <a:solidFill>
                      <a:srgbClr val="FFFFFF"/>
                    </a:solidFill>
                  </a:tcPr>
                </a:tc>
              </a:tr>
              <a:tr h="885825">
                <a:tc>
                  <a:txBody>
                    <a:bodyPr/>
                    <a:lstStyle/>
                    <a:p>
                      <a:r>
                        <a:rPr sz="1800" b="0">
                          <a:solidFill>
                            <a:srgbClr val="172D3C"/>
                          </a:solidFill>
                          <a:latin typeface="DejaVu Sans"/>
                          <a:ea typeface="DejaVu Sans"/>
                          <a:cs typeface="DejaVu Sans"/>
                        </a:rPr>
                        <a:t>Mature moving runs</a:t>
                      </a:r>
                    </a:p>
                  </a:txBody>
                  <a:tcPr marL="152400" marR="152400" marT="133350" marB="114300" anchor="ctr">
                    <a:solidFill>
                      <a:srgbClr val="F3F7F9"/>
                    </a:solidFill>
                  </a:tcPr>
                </a:tc>
                <a:tc>
                  <a:txBody>
                    <a:bodyPr/>
                    <a:lstStyle/>
                    <a:p>
                      <a:r>
                        <a:rPr sz="1800" b="0">
                          <a:solidFill>
                            <a:srgbClr val="172D3C"/>
                          </a:solidFill>
                          <a:latin typeface="DejaVu Sans"/>
                          <a:ea typeface="DejaVu Sans"/>
                          <a:cs typeface="DejaVu Sans"/>
                        </a:rPr>
                        <a:t>Resident PyTorch arrays and chemical matrix operations</a:t>
                      </a:r>
                    </a:p>
                    <a:p>
                      <a:r>
                        <a:rPr sz="1800" b="0">
                          <a:solidFill>
                            <a:srgbClr val="172D3C"/>
                          </a:solidFill>
                          <a:latin typeface="DejaVu Sans"/>
                          <a:ea typeface="DejaVu Sans"/>
                          <a:cs typeface="DejaVu Sans"/>
                        </a:rPr>
                        <a:t>Custom CUDA mechanics, geometry and polarity</a:t>
                      </a:r>
                    </a:p>
                  </a:txBody>
                  <a:tcPr marL="152400" marR="152400" marT="133350" marB="114300" anchor="ctr">
                    <a:solidFill>
                      <a:srgbClr val="F3F7F9"/>
                    </a:solidFill>
                  </a:tcPr>
                </a:tc>
              </a:tr>
              <a:tr h="885825">
                <a:tc>
                  <a:txBody>
                    <a:bodyPr/>
                    <a:lstStyle/>
                    <a:p>
                      <a:r>
                        <a:rPr sz="1800" b="0">
                          <a:solidFill>
                            <a:srgbClr val="172D3C"/>
                          </a:solidFill>
                          <a:latin typeface="DejaVu Sans"/>
                          <a:ea typeface="DejaVu Sans"/>
                          <a:cs typeface="DejaVu Sans"/>
                        </a:rPr>
                        <a:t>Time integration</a:t>
                      </a:r>
                    </a:p>
                  </a:txBody>
                  <a:tcPr marL="152400" marR="152400" marT="133350" marB="114300" anchor="ctr">
                    <a:solidFill>
                      <a:srgbClr val="FFFFFF"/>
                    </a:solidFill>
                  </a:tcPr>
                </a:tc>
                <a:tc>
                  <a:txBody>
                    <a:bodyPr/>
                    <a:lstStyle/>
                    <a:p>
                      <a:r>
                        <a:rPr sz="1800" b="0">
                          <a:solidFill>
                            <a:srgbClr val="172D3C"/>
                          </a:solidFill>
                          <a:latin typeface="DejaVu Sans"/>
                          <a:ea typeface="DejaVu Sans"/>
                          <a:cs typeface="DejaVu Sans"/>
                        </a:rPr>
                        <a:t>SSPRK2 chemical substeps on each frozen graph</a:t>
                      </a:r>
                    </a:p>
                    <a:p>
                      <a:r>
                        <a:rPr sz="1800" b="0">
                          <a:solidFill>
                            <a:srgbClr val="172D3C"/>
                          </a:solidFill>
                          <a:latin typeface="DejaVu Sans"/>
                          <a:ea typeface="DejaVu Sans"/>
                          <a:cs typeface="DejaVu Sans"/>
                        </a:rPr>
                        <a:t>First-order mechanics–chemistry splitting</a:t>
                      </a:r>
                    </a:p>
                  </a:txBody>
                  <a:tcPr marL="152400" marR="152400" marT="133350" marB="1143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28F96EC-E14B-4A6E-9809-002A23BC94C6}"/>
              </a:ext>
            </a:extLst>
          </p:cNvPr>
          <p:cNvSpPr>
            <a:spLocks xmlns:a="http://schemas.openxmlformats.org/drawingml/2006/main" noGrp="1"/>
          </p:cNvSpPr>
          <p:nvPr/>
        </p:nvSpPr>
        <p:spPr>
          <a:xfrm xmlns:a="http://schemas.openxmlformats.org/drawingml/2006/main">
            <a:off x="609600" y="56864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36978"/>
                </a:solidFill>
                <a:latin typeface="DejaVu Sans"/>
                <a:ea typeface="DejaVu Sans"/>
                <a:cs typeface="DejaVu Sans"/>
              </a:defRPr>
            </a:pPr>
            <a:r>
              <a:rPr sz="1875" b="0">
                <a:solidFill>
                  <a:srgbClr val="536978"/>
                </a:solidFill>
                <a:latin typeface="DejaVu Sans"/>
                <a:ea typeface="DejaVu Sans"/>
                <a:cs typeface="DejaVu Sans"/>
              </a:rPr>
              <a:t>GPU qualification covers mature nondividing cells. Fresh zygote development needs its own tests.</a:t>
            </a:r>
          </a:p>
        </p:txBody>
      </p:sp>
    </p:spTree>
    <p:extLst>
      <p:ext uri="{BB962C8B-B14F-4D97-AF65-F5344CB8AC3E}">
        <p14:creationId xmlns:p14="http://schemas.microsoft.com/office/powerpoint/2010/main" val="3123666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728552-8130-4DAE-B6C4-0B8221C8A9FB}"/>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Selected references</a:t>
            </a:r>
          </a:p>
        </p:txBody>
      </p:sp>
      <p:sp>
        <p:nvSpPr>
          <p:cNvPr id="2" name="">
            <a:extLst xmlns:a="http://schemas.openxmlformats.org/drawingml/2006/main">
              <a:ext uri="{FF2B5EF4-FFF2-40B4-BE49-F238E27FC236}">
                <a16:creationId xmlns:a16="http://schemas.microsoft.com/office/drawing/2014/main" id="{E53A7BB1-3692-45FE-AA90-B8745D0823B9}"/>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Primary papers motivate the model and its biological questions.</a:t>
            </a:r>
          </a:p>
        </p:txBody>
      </p:sp>
      <p:sp>
        <p:nvSpPr>
          <p:cNvPr id="3" name="">
            <a:extLst xmlns:a="http://schemas.openxmlformats.org/drawingml/2006/main">
              <a:ext uri="{FF2B5EF4-FFF2-40B4-BE49-F238E27FC236}">
                <a16:creationId xmlns:a16="http://schemas.microsoft.com/office/drawing/2014/main" id="{6A9A0849-C38A-4DA4-AE44-61A657630197}"/>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66084B98-DCCC-4ED2-8E21-FBAC319B4DAF}"/>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26</a:t>
            </a:r>
          </a:p>
        </p:txBody>
      </p:sp>
      <p:sp>
        <p:nvSpPr>
          <p:cNvPr id="5" name="">
            <a:extLst xmlns:a="http://schemas.openxmlformats.org/drawingml/2006/main">
              <a:ext uri="{FF2B5EF4-FFF2-40B4-BE49-F238E27FC236}">
                <a16:creationId xmlns:a16="http://schemas.microsoft.com/office/drawing/2014/main" id="{E19F5E3E-9592-43ED-9A36-6D1C17DDF9D9}"/>
              </a:ext>
            </a:extLst>
          </p:cNvPr>
          <p:cNvSpPr>
            <a:spLocks xmlns:a="http://schemas.openxmlformats.org/drawingml/2006/main" noGrp="1"/>
          </p:cNvSpPr>
          <p:nvPr/>
        </p:nvSpPr>
        <p:spPr>
          <a:xfrm xmlns:a="http://schemas.openxmlformats.org/drawingml/2006/main">
            <a:off x="609600" y="20097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72D3C"/>
                </a:solidFill>
                <a:latin typeface="DejaVu Sans"/>
                <a:ea typeface="DejaVu Sans"/>
                <a:cs typeface="DejaVu Sans"/>
              </a:defRPr>
            </a:pPr>
            <a:r>
              <a:rPr sz="1800" b="0">
                <a:solidFill>
                  <a:srgbClr val="172D3C"/>
                </a:solidFill>
                <a:latin typeface="DejaVu Sans"/>
                <a:ea typeface="DejaVu Sans"/>
                <a:cs typeface="DejaVu Sans"/>
              </a:rPr>
              <a:t>[1] Sekine et al. (2018). Synthetic Nodal–Lefty pattern formation.</a:t>
            </a:r>
          </a:p>
          <a:p xmlns:a="http://schemas.openxmlformats.org/drawingml/2006/main">
            <a:pPr algn="l">
              <a:defRPr sz="1800" b="0">
                <a:solidFill>
                  <a:srgbClr val="172D3C"/>
                </a:solidFill>
                <a:latin typeface="DejaVu Sans"/>
                <a:ea typeface="DejaVu Sans"/>
                <a:cs typeface="DejaVu Sans"/>
              </a:defRPr>
            </a:pPr>
            <a:r>
              <a:rPr sz="1800" b="0">
                <a:solidFill>
                  <a:srgbClr val="172D3C"/>
                </a:solidFill>
                <a:latin typeface="DejaVu Sans"/>
                <a:ea typeface="DejaVu Sans"/>
                <a:cs typeface="DejaVu Sans"/>
              </a:rPr>
              <a:t>Nature Communications. doi:10.1038/s41467-018-07847-x</a:t>
            </a:r>
          </a:p>
        </p:txBody>
      </p:sp>
      <p:sp>
        <p:nvSpPr>
          <p:cNvPr id="6" name="">
            <a:extLst xmlns:a="http://schemas.openxmlformats.org/drawingml/2006/main">
              <a:ext uri="{FF2B5EF4-FFF2-40B4-BE49-F238E27FC236}">
                <a16:creationId xmlns:a16="http://schemas.microsoft.com/office/drawing/2014/main" id="{89D38933-2F7D-4F7A-9C1F-58B29B56F4AA}"/>
              </a:ext>
            </a:extLst>
          </p:cNvPr>
          <p:cNvSpPr>
            <a:spLocks xmlns:a="http://schemas.openxmlformats.org/drawingml/2006/main" noGrp="1"/>
          </p:cNvSpPr>
          <p:nvPr/>
        </p:nvSpPr>
        <p:spPr>
          <a:xfrm xmlns:a="http://schemas.openxmlformats.org/drawingml/2006/main">
            <a:off x="609600" y="28289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72D3C"/>
                </a:solidFill>
                <a:latin typeface="DejaVu Sans"/>
                <a:ea typeface="DejaVu Sans"/>
                <a:cs typeface="DejaVu Sans"/>
              </a:defRPr>
            </a:pPr>
            <a:r>
              <a:rPr sz="1800" b="0">
                <a:solidFill>
                  <a:srgbClr val="172D3C"/>
                </a:solidFill>
                <a:latin typeface="DejaVu Sans"/>
                <a:ea typeface="DejaVu Sans"/>
                <a:cs typeface="DejaVu Sans"/>
              </a:rPr>
              <a:t>[2] Maître et al. (2016). Contractile domains, positioning and fate.</a:t>
            </a:r>
          </a:p>
          <a:p xmlns:a="http://schemas.openxmlformats.org/drawingml/2006/main">
            <a:pPr algn="l">
              <a:defRPr sz="1800" b="0">
                <a:solidFill>
                  <a:srgbClr val="172D3C"/>
                </a:solidFill>
                <a:latin typeface="DejaVu Sans"/>
                <a:ea typeface="DejaVu Sans"/>
                <a:cs typeface="DejaVu Sans"/>
              </a:defRPr>
            </a:pPr>
            <a:r>
              <a:rPr sz="1800" b="0">
                <a:solidFill>
                  <a:srgbClr val="172D3C"/>
                </a:solidFill>
                <a:latin typeface="DejaVu Sans"/>
                <a:ea typeface="DejaVu Sans"/>
                <a:cs typeface="DejaVu Sans"/>
              </a:rPr>
              <a:t>Nature. doi:10.1038/nature18958</a:t>
            </a:r>
          </a:p>
        </p:txBody>
      </p:sp>
      <p:sp>
        <p:nvSpPr>
          <p:cNvPr id="7" name="">
            <a:extLst xmlns:a="http://schemas.openxmlformats.org/drawingml/2006/main">
              <a:ext uri="{FF2B5EF4-FFF2-40B4-BE49-F238E27FC236}">
                <a16:creationId xmlns:a16="http://schemas.microsoft.com/office/drawing/2014/main" id="{38FEEFE5-41C6-4221-A677-5555554E6FD4}"/>
              </a:ext>
            </a:extLst>
          </p:cNvPr>
          <p:cNvSpPr>
            <a:spLocks xmlns:a="http://schemas.openxmlformats.org/drawingml/2006/main" noGrp="1"/>
          </p:cNvSpPr>
          <p:nvPr/>
        </p:nvSpPr>
        <p:spPr>
          <a:xfrm xmlns:a="http://schemas.openxmlformats.org/drawingml/2006/main">
            <a:off x="609600" y="36480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72D3C"/>
                </a:solidFill>
                <a:latin typeface="DejaVu Sans"/>
                <a:ea typeface="DejaVu Sans"/>
                <a:cs typeface="DejaVu Sans"/>
              </a:defRPr>
            </a:pPr>
            <a:r>
              <a:rPr sz="1800" b="0">
                <a:solidFill>
                  <a:srgbClr val="172D3C"/>
                </a:solidFill>
                <a:latin typeface="DejaVu Sans"/>
                <a:ea typeface="DejaVu Sans"/>
                <a:cs typeface="DejaVu Sans"/>
              </a:rPr>
              <a:t>[3] Korotkevich et al. (2017). Apical domain and first lineage segregation.</a:t>
            </a:r>
          </a:p>
          <a:p xmlns:a="http://schemas.openxmlformats.org/drawingml/2006/main">
            <a:pPr algn="l">
              <a:defRPr sz="1800" b="0">
                <a:solidFill>
                  <a:srgbClr val="172D3C"/>
                </a:solidFill>
                <a:latin typeface="DejaVu Sans"/>
                <a:ea typeface="DejaVu Sans"/>
                <a:cs typeface="DejaVu Sans"/>
              </a:defRPr>
            </a:pPr>
            <a:r>
              <a:rPr sz="1800" b="0">
                <a:solidFill>
                  <a:srgbClr val="172D3C"/>
                </a:solidFill>
                <a:latin typeface="DejaVu Sans"/>
                <a:ea typeface="DejaVu Sans"/>
                <a:cs typeface="DejaVu Sans"/>
              </a:rPr>
              <a:t>Developmental Cell. doi:10.1016/j.devcel.2017.01.006</a:t>
            </a:r>
          </a:p>
        </p:txBody>
      </p:sp>
      <p:sp>
        <p:nvSpPr>
          <p:cNvPr id="8" name="">
            <a:extLst xmlns:a="http://schemas.openxmlformats.org/drawingml/2006/main">
              <a:ext uri="{FF2B5EF4-FFF2-40B4-BE49-F238E27FC236}">
                <a16:creationId xmlns:a16="http://schemas.microsoft.com/office/drawing/2014/main" id="{C798F8F1-60F8-4DB4-996A-7A29AA1F543F}"/>
              </a:ext>
            </a:extLst>
          </p:cNvPr>
          <p:cNvSpPr>
            <a:spLocks xmlns:a="http://schemas.openxmlformats.org/drawingml/2006/main" noGrp="1"/>
          </p:cNvSpPr>
          <p:nvPr/>
        </p:nvSpPr>
        <p:spPr>
          <a:xfrm xmlns:a="http://schemas.openxmlformats.org/drawingml/2006/main">
            <a:off x="609600" y="44672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Gierer &amp; Meinhardt (1972). A theory of biological pattern formation.</a:t>
            </a:r>
          </a:p>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Kybernetik. doi:10.1007/BF00289234</a:t>
            </a:r>
          </a:p>
        </p:txBody>
      </p:sp>
      <p:sp>
        <p:nvSpPr>
          <p:cNvPr id="9" name="">
            <a:extLst xmlns:a="http://schemas.openxmlformats.org/drawingml/2006/main">
              <a:ext uri="{FF2B5EF4-FFF2-40B4-BE49-F238E27FC236}">
                <a16:creationId xmlns:a16="http://schemas.microsoft.com/office/drawing/2014/main" id="{6DA18313-9A50-4EBC-A7EC-CFA17CA3F687}"/>
              </a:ext>
            </a:extLst>
          </p:cNvPr>
          <p:cNvSpPr>
            <a:spLocks xmlns:a="http://schemas.openxmlformats.org/drawingml/2006/main" noGrp="1"/>
          </p:cNvSpPr>
          <p:nvPr/>
        </p:nvSpPr>
        <p:spPr>
          <a:xfrm xmlns:a="http://schemas.openxmlformats.org/drawingml/2006/main">
            <a:off x="609600" y="52863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Nakao &amp; Mikhailov (2010). Turing patterns on networks.</a:t>
            </a:r>
          </a:p>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Nature Physics. doi:10.1038/nphys1651</a:t>
            </a:r>
          </a:p>
        </p:txBody>
      </p:sp>
    </p:spTree>
    <p:extLst>
      <p:ext uri="{BB962C8B-B14F-4D97-AF65-F5344CB8AC3E}">
        <p14:creationId xmlns:p14="http://schemas.microsoft.com/office/powerpoint/2010/main" val="80260599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B20A4D-359C-4444-A236-7105C77E005D}"/>
              </a:ext>
            </a:extLst>
          </p:cNvPr>
          <p:cNvSpPr>
            <a:spLocks xmlns:a="http://schemas.openxmlformats.org/drawingml/2006/main" noGrp="1"/>
          </p:cNvSpPr>
          <p:nvPr/>
        </p:nvSpPr>
        <p:spPr>
          <a:xfrm xmlns:a="http://schemas.openxmlformats.org/drawingml/2006/main">
            <a:off x="609600" y="4000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C"/>
                </a:solidFill>
                <a:latin typeface="DejaVu Sans"/>
                <a:ea typeface="DejaVu Sans"/>
                <a:cs typeface="DejaVu Sans"/>
              </a:defRPr>
            </a:pPr>
            <a:r>
              <a:rPr sz="3300" b="1">
                <a:solidFill>
                  <a:srgbClr val="172D3C"/>
                </a:solidFill>
                <a:latin typeface="DejaVu Sans"/>
                <a:ea typeface="DejaVu Sans"/>
                <a:cs typeface="DejaVu Sans"/>
              </a:rPr>
              <a:t>Study evidence and reproducibility</a:t>
            </a:r>
          </a:p>
        </p:txBody>
      </p:sp>
      <p:sp>
        <p:nvSpPr>
          <p:cNvPr id="2" name="">
            <a:extLst xmlns:a="http://schemas.openxmlformats.org/drawingml/2006/main">
              <a:ext uri="{FF2B5EF4-FFF2-40B4-BE49-F238E27FC236}">
                <a16:creationId xmlns:a16="http://schemas.microsoft.com/office/drawing/2014/main" id="{A804F07E-712F-417A-B902-770D44F9A3DC}"/>
              </a:ext>
            </a:extLst>
          </p:cNvPr>
          <p:cNvSpPr>
            <a:spLocks xmlns:a="http://schemas.openxmlformats.org/drawingml/2006/main" noGrp="1"/>
          </p:cNvSpPr>
          <p:nvPr/>
        </p:nvSpPr>
        <p:spPr>
          <a:xfrm xmlns:a="http://schemas.openxmlformats.org/drawingml/2006/main">
            <a:off x="609600" y="13811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36978"/>
                </a:solidFill>
                <a:latin typeface="DejaVu Sans"/>
                <a:ea typeface="DejaVu Sans"/>
                <a:cs typeface="DejaVu Sans"/>
              </a:defRPr>
            </a:pPr>
            <a:r>
              <a:rPr sz="1800" b="0">
                <a:solidFill>
                  <a:srgbClr val="536978"/>
                </a:solidFill>
                <a:latin typeface="DejaVu Sans"/>
                <a:ea typeface="DejaVu Sans"/>
                <a:cs typeface="DejaVu Sans"/>
              </a:rPr>
              <a:t>Protocol-backed local results accompany the code and manuscript.</a:t>
            </a:r>
          </a:p>
        </p:txBody>
      </p:sp>
      <p:sp>
        <p:nvSpPr>
          <p:cNvPr id="3" name="">
            <a:extLst xmlns:a="http://schemas.openxmlformats.org/drawingml/2006/main">
              <a:ext uri="{FF2B5EF4-FFF2-40B4-BE49-F238E27FC236}">
                <a16:creationId xmlns:a16="http://schemas.microsoft.com/office/drawing/2014/main" id="{FB4EFB16-DE02-4D57-826D-5101256473F7}"/>
              </a:ext>
            </a:extLst>
          </p:cNvPr>
          <p:cNvSpPr>
            <a:spLocks xmlns:a="http://schemas.openxmlformats.org/drawingml/2006/main" noGrp="1"/>
          </p:cNvSpPr>
          <p:nvPr/>
        </p:nvSpPr>
        <p:spPr>
          <a:xfrm xmlns:a="http://schemas.openxmlformats.org/drawingml/2006/main">
            <a:off x="609600" y="641985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36978"/>
                </a:solidFill>
                <a:latin typeface="DejaVu Sans"/>
                <a:ea typeface="DejaVu Sans"/>
                <a:cs typeface="DejaVu Sans"/>
              </a:defRPr>
            </a:pPr>
            <a:r>
              <a:rPr sz="1200" b="0">
                <a:solidFill>
                  <a:srgbClr val="536978"/>
                </a:solidFill>
                <a:latin typeface="DejaVu Sans"/>
                <a:ea typeface="DejaVu Sans"/>
                <a:cs typeface="DejaVu Sans"/>
              </a:rPr>
              <a:t>Embryogenesis simulation</a:t>
            </a:r>
          </a:p>
        </p:txBody>
      </p:sp>
      <p:sp>
        <p:nvSpPr>
          <p:cNvPr id="4" name="">
            <a:extLst xmlns:a="http://schemas.openxmlformats.org/drawingml/2006/main">
              <a:ext uri="{FF2B5EF4-FFF2-40B4-BE49-F238E27FC236}">
                <a16:creationId xmlns:a16="http://schemas.microsoft.com/office/drawing/2014/main" id="{1718AAD9-DD7B-431E-9742-357CFAAAD49A}"/>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36978"/>
                </a:solidFill>
                <a:latin typeface="DejaVu Sans"/>
                <a:ea typeface="DejaVu Sans"/>
                <a:cs typeface="DejaVu Sans"/>
              </a:defRPr>
            </a:pPr>
            <a:r>
              <a:rPr sz="1275" b="0">
                <a:solidFill>
                  <a:srgbClr val="536978"/>
                </a:solidFill>
                <a:latin typeface="DejaVu Sans"/>
                <a:ea typeface="DejaVu Sans"/>
                <a:cs typeface="DejaVu Sans"/>
              </a:rPr>
              <a:t>27</a:t>
            </a:r>
          </a:p>
        </p:txBody>
      </p:sp>
      <p:sp>
        <p:nvSpPr>
          <p:cNvPr id="5" name="">
            <a:extLst xmlns:a="http://schemas.openxmlformats.org/drawingml/2006/main">
              <a:ext uri="{FF2B5EF4-FFF2-40B4-BE49-F238E27FC236}">
                <a16:creationId xmlns:a16="http://schemas.microsoft.com/office/drawing/2014/main" id="{F088418D-51FE-475C-AF2B-57064D1074A5}"/>
              </a:ext>
            </a:extLst>
          </p:cNvPr>
          <p:cNvSpPr>
            <a:spLocks xmlns:a="http://schemas.openxmlformats.org/drawingml/2006/main" noGrp="1"/>
          </p:cNvSpPr>
          <p:nvPr/>
        </p:nvSpPr>
        <p:spPr>
          <a:xfrm xmlns:a="http://schemas.openxmlformats.org/drawingml/2006/main">
            <a:off x="609600" y="2047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Methods and claims</a:t>
            </a:r>
          </a:p>
        </p:txBody>
      </p:sp>
      <p:sp>
        <p:nvSpPr>
          <p:cNvPr id="6" name="">
            <a:extLst xmlns:a="http://schemas.openxmlformats.org/drawingml/2006/main">
              <a:ext uri="{FF2B5EF4-FFF2-40B4-BE49-F238E27FC236}">
                <a16:creationId xmlns:a16="http://schemas.microsoft.com/office/drawing/2014/main" id="{CE178573-6BB2-4864-9574-F88CFD3779B0}"/>
              </a:ext>
            </a:extLst>
          </p:cNvPr>
          <p:cNvSpPr>
            <a:spLocks xmlns:a="http://schemas.openxmlformats.org/drawingml/2006/main" noGrp="1"/>
          </p:cNvSpPr>
          <p:nvPr/>
        </p:nvSpPr>
        <p:spPr>
          <a:xfrm xmlns:a="http://schemas.openxmlformats.org/drawingml/2006/main">
            <a:off x="609600" y="24955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README and results ledger define the model, evidence levels and unresolved claims.</a:t>
            </a:r>
          </a:p>
        </p:txBody>
      </p:sp>
      <p:sp>
        <p:nvSpPr>
          <p:cNvPr id="7" name="">
            <a:extLst xmlns:a="http://schemas.openxmlformats.org/drawingml/2006/main">
              <a:ext uri="{FF2B5EF4-FFF2-40B4-BE49-F238E27FC236}">
                <a16:creationId xmlns:a16="http://schemas.microsoft.com/office/drawing/2014/main" id="{9D9E2CFE-7ABD-49CA-A43F-2955D0666D72}"/>
              </a:ext>
            </a:extLst>
          </p:cNvPr>
          <p:cNvSpPr>
            <a:spLocks xmlns:a="http://schemas.openxmlformats.org/drawingml/2006/main" noGrp="1"/>
          </p:cNvSpPr>
          <p:nvPr/>
        </p:nvSpPr>
        <p:spPr>
          <a:xfrm xmlns:a="http://schemas.openxmlformats.org/drawingml/2006/main">
            <a:off x="609600" y="3571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Current completed mechanism controls</a:t>
            </a:r>
          </a:p>
        </p:txBody>
      </p:sp>
      <p:sp>
        <p:nvSpPr>
          <p:cNvPr id="8" name="">
            <a:extLst xmlns:a="http://schemas.openxmlformats.org/drawingml/2006/main">
              <a:ext uri="{FF2B5EF4-FFF2-40B4-BE49-F238E27FC236}">
                <a16:creationId xmlns:a16="http://schemas.microsoft.com/office/drawing/2014/main" id="{392EE219-5DB1-4CF0-AAC3-48286BCBDB74}"/>
              </a:ext>
            </a:extLst>
          </p:cNvPr>
          <p:cNvSpPr>
            <a:spLocks xmlns:a="http://schemas.openxmlformats.org/drawingml/2006/main" noGrp="1"/>
          </p:cNvSpPr>
          <p:nvPr/>
        </p:nvSpPr>
        <p:spPr>
          <a:xfrm xmlns:a="http://schemas.openxmlformats.org/drawingml/2006/main">
            <a:off x="609600" y="40195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The polarity–conductance assessment reports all controls, numerical gates and frozen endpoints.</a:t>
            </a:r>
          </a:p>
        </p:txBody>
      </p:sp>
      <p:sp>
        <p:nvSpPr>
          <p:cNvPr id="9" name="">
            <a:extLst xmlns:a="http://schemas.openxmlformats.org/drawingml/2006/main">
              <a:ext uri="{FF2B5EF4-FFF2-40B4-BE49-F238E27FC236}">
                <a16:creationId xmlns:a16="http://schemas.microsoft.com/office/drawing/2014/main" id="{1FC1023A-FA42-41DE-8C24-0F7D254B320D}"/>
              </a:ext>
            </a:extLst>
          </p:cNvPr>
          <p:cNvSpPr>
            <a:spLocks xmlns:a="http://schemas.openxmlformats.org/drawingml/2006/main" noGrp="1"/>
          </p:cNvSpPr>
          <p:nvPr/>
        </p:nvSpPr>
        <p:spPr>
          <a:xfrm xmlns:a="http://schemas.openxmlformats.org/drawingml/2006/main">
            <a:off x="609600" y="5095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DejaVu Sans"/>
                <a:ea typeface="DejaVu Sans"/>
                <a:cs typeface="DejaVu Sans"/>
              </a:defRPr>
            </a:pPr>
            <a:r>
              <a:rPr sz="2250" b="1">
                <a:solidFill>
                  <a:srgbClr val="007F86"/>
                </a:solidFill>
                <a:latin typeface="DejaVu Sans"/>
                <a:ea typeface="DejaVu Sans"/>
                <a:cs typeface="DejaVu Sans"/>
              </a:rPr>
              <a:t>Latest maintenance evidence</a:t>
            </a:r>
          </a:p>
        </p:txBody>
      </p:sp>
      <p:sp>
        <p:nvSpPr>
          <p:cNvPr id="10" name="">
            <a:extLst xmlns:a="http://schemas.openxmlformats.org/drawingml/2006/main">
              <a:ext uri="{FF2B5EF4-FFF2-40B4-BE49-F238E27FC236}">
                <a16:creationId xmlns:a16="http://schemas.microsoft.com/office/drawing/2014/main" id="{A0974968-8097-4784-8BD5-BC450C89EAE1}"/>
              </a:ext>
            </a:extLst>
          </p:cNvPr>
          <p:cNvSpPr>
            <a:spLocks xmlns:a="http://schemas.openxmlformats.org/drawingml/2006/main" noGrp="1"/>
          </p:cNvSpPr>
          <p:nvPr/>
        </p:nvSpPr>
        <p:spPr>
          <a:xfrm xmlns:a="http://schemas.openxmlformats.org/drawingml/2006/main">
            <a:off x="609600" y="55435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C"/>
                </a:solidFill>
                <a:latin typeface="DejaVu Sans"/>
                <a:ea typeface="DejaVu Sans"/>
                <a:cs typeface="DejaVu Sans"/>
              </a:defRPr>
            </a:pPr>
            <a:r>
              <a:rPr sz="2025" b="0">
                <a:solidFill>
                  <a:srgbClr val="172D3C"/>
                </a:solidFill>
                <a:latin typeface="DejaVu Sans"/>
                <a:ea typeface="DejaVu Sans"/>
                <a:cs typeface="DejaVu Sans"/>
              </a:rPr>
              <a:t>This presentation freezes the 10 completed paths at 21:33 EDT, 5 October 2026. The remaining history-8 positive-contrast pair is pending.</a:t>
            </a:r>
          </a:p>
        </p:txBody>
      </p:sp>
    </p:spTree>
    <p:extLst>
      <p:ext uri="{BB962C8B-B14F-4D97-AF65-F5344CB8AC3E}">
        <p14:creationId xmlns:p14="http://schemas.microsoft.com/office/powerpoint/2010/main" val="7112886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2026-10-06T01:43:54.4320000Z</dcterms:created>
  <dcterms:modified xsi:type="dcterms:W3CDTF">2026-10-06T01:43:54.4320000Z</dcterms:modified>
</coreProperties>
</file>